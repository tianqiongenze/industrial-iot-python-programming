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80" r:id="rId32"/>
    <p:sldId id="310" r:id="rId62"/>
    <p:sldId id="368" r:id="rId15"/>
    <p:sldId id="369" r:id="rId16"/>
    <p:sldId id="370" r:id="rId17"/>
    <p:sldId id="339" r:id="rId91"/>
    <p:sldId id="341" r:id="rId93"/>
    <p:sldId id="366" r:id="rId118"/>
    <p:sldId id="367" r:id="rId119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32" Type="http://schemas.openxmlformats.org/officeDocument/2006/relationships/slide" Target="slides/slide2.xml"/><Relationship Id="rId62" Type="http://schemas.openxmlformats.org/officeDocument/2006/relationships/slide" Target="slides/slide3.xml"/><Relationship Id="rId91" Type="http://schemas.openxmlformats.org/officeDocument/2006/relationships/slide" Target="slides/slide4.xml"/><Relationship Id="rId93" Type="http://schemas.openxmlformats.org/officeDocument/2006/relationships/slide" Target="slides/slide5.xml"/><Relationship Id="rId118" Type="http://schemas.openxmlformats.org/officeDocument/2006/relationships/slide" Target="slides/slide6.xml"/><Relationship Id="rId119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7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8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10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10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开场30秒：本次课《列表与字典：C里没有的武器》，80分钟＝2课时×40分钟。课前已发工单+starter+微课知识卡，资讯·计划线上完成。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情境说书（30秒，口头讲，不必逐字念）：实习第一天，吴工丢来一份《新员工Python能力测评》：'你C语言底子不错，今天把这五道题过了，明天进项目组。'——工单P1.1：五题闯关，完成从C到Python的迁移。</a:t>
            </a:r>
          </a:p>
          <a:p>
            <a:r>
              <a:t>讲完抛出问题：'如果是你，第一步先干什么？'——自然过渡到决策环节。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实施内容清单：本页条目与工单步骤一一对应，逐项过一遍即可，细节留到代码演示。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教材衔接：教材：Python程序设计项目化教程（活页式）（任越美 李垒 李江岱 主编，978-7-313-30507-7）— 项目1 | 预习知识点：Python基础回顾(C→Python迁移)；conda环境创建与激活 | 课中检查知识点：五题闯关全过；能conda activate pp03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提醒：运行截图/实拍照片贴到工单过程记录栏，作为过程性考核证据。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下课提醒：关机→椅归位→带走工单；教师课后24h内完成反馈。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下次课预告：布置课前微课知识卡与导学单，形成学习闭环。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0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9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1.xml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78308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783080"/>
            <a:ext cx="12192000" cy="6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250000"/>
            <a:ext cx="10792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200" b="0">
                <a:solidFill>
                  <a:srgbClr val="FFFFFF"/>
                </a:solidFill>
                <a:latin typeface="微软雅黑"/>
              </a:rPr>
              <a:t>Python程序设计（项目实战）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BBC6E6"/>
                </a:solidFill>
                <a:latin typeface="微软雅黑"/>
              </a:rPr>
              <a:t>◆ 重庆两江智造集团 · 数字化转型办公室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0000" y="2263140"/>
            <a:ext cx="59920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400" b="1">
                <a:solidFill>
                  <a:srgbClr val="010328"/>
                </a:solidFill>
                <a:latin typeface="微软雅黑"/>
              </a:rPr>
              <a:t>列表与字典：C里没有的武器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0000" y="3771900"/>
            <a:ext cx="5992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0545E8"/>
                </a:solidFill>
                <a:latin typeface="微软雅黑"/>
              </a:rPr>
              <a:t>第一周 · 第2次课（2课时 · 80分钟）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双创中心302实训室  ·  理实一体  ·  配套：分层工单+starter  ·  本课主用：PyCharm CE + conda环境(pp03) + Git/GitHub（每周提交）</a:t>
            </a:r>
          </a:p>
        </p:txBody>
      </p:sp>
      <p:pic>
        <p:nvPicPr>
          <p:cNvPr id="7" name="Picture 6" descr="W1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0000" y="2300000"/>
            <a:ext cx="4100000" cy="30750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700000" y="5623560"/>
            <a:ext cx="1500000" cy="8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0000" y="5760720"/>
            <a:ext cx="10792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重庆现代制造职业学院  智能控制学院 · 工业互联网应用专业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任务情境（集团项目案例）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780000"/>
            <a:ext cx="106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80000"/>
            <a:ext cx="102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◆ 重庆两江智造集团 · 数字化转型办公室</a:t>
            </a:r>
          </a:p>
        </p:txBody>
      </p:sp>
      <p:sp>
        <p:nvSpPr>
          <p:cNvPr id="7" name="Rectangle 6"/>
          <p:cNvSpPr/>
          <p:nvPr/>
        </p:nvSpPr>
        <p:spPr>
          <a:xfrm>
            <a:off x="800000" y="2580000"/>
            <a:ext cx="6300000" cy="3600000"/>
          </a:xfrm>
          <a:prstGeom prst="rect">
            <a:avLst/>
          </a:prstGeom>
          <a:solidFill>
            <a:srgbClr val="F7F9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0000" y="2740000"/>
            <a:ext cx="5900000" cy="3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50" b="0">
                <a:solidFill>
                  <a:srgbClr val="010328"/>
                </a:solidFill>
                <a:latin typeface="微软雅黑"/>
              </a:rPr>
              <a:t>实习第一天，吴工丢来一份《新员工Python能力测评》：'你C语言底子不错，今天把这五道题过了，明天进项目组。'——工单P1.1：五题闯关，完成从C到Python的迁移。</a:t>
            </a:r>
          </a:p>
        </p:txBody>
      </p:sp>
      <p:pic>
        <p:nvPicPr>
          <p:cNvPr id="9" name="Picture 8" descr="W1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50000" y="2580000"/>
            <a:ext cx="4150000" cy="360000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 / 10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列表与字典：C里没有的武器（1）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列表与元组：动态数组能力、切片操作；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字典：键值映射、与C结构体的对照；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面向对象基础：类、对象、属性、方法（C结构体+函数指针的升级视角）；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异常处理：try/except/finally；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工单P1.1实操：完成5个渐进式练习题（数据类型⭐/控制流⭐⭐/列表字典⭐⭐/类与对象⭐⭐⭐/异常处理⭐⭐）。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 / 10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总结评价与课后任务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950000"/>
            <a:ext cx="10600000" cy="15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2050000"/>
            <a:ext cx="103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评价（10分钟）：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按D/C/B/A量表当堂评分；工单24小时内反馈评语与改进建议。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000" y="3700000"/>
            <a:ext cx="106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1. </a:t>
            </a:r>
            <a:r>
              <a:rPr sz="1400" b="0">
                <a:solidFill>
                  <a:srgbClr val="010328"/>
                </a:solidFill>
                <a:latin typeface="微软雅黑"/>
              </a:rPr>
              <a:t>1. 完成工单P1.1《Python基础练习五题》：及格标准≥3题正确+PEP 8≥75%；优秀标准5题全对+PEP 8≥85%+命名有意义；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000" y="4420000"/>
            <a:ext cx="106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2. </a:t>
            </a:r>
            <a:r>
              <a:rPr sz="1400" b="0">
                <a:solidFill>
                  <a:srgbClr val="010328"/>
                </a:solidFill>
                <a:latin typeface="微软雅黑"/>
              </a:rPr>
              <a:t>2. 整理个人《C→Python迁移对照笔记》；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000" y="5140000"/>
            <a:ext cx="106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3. </a:t>
            </a:r>
            <a:r>
              <a:rPr sz="1400" b="0">
                <a:solidFill>
                  <a:srgbClr val="010328"/>
                </a:solidFill>
                <a:latin typeface="微软雅黑"/>
              </a:rPr>
              <a:t>3. 预习PEP 8规范与Git基础操作。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000" y="5960000"/>
            <a:ext cx="10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475B6"/>
                </a:solidFill>
                <a:latin typeface="微软雅黑"/>
              </a:rPr>
              <a:t>下次课预告：</a:t>
            </a:r>
            <a:r>
              <a:rPr sz="1300" b="0">
                <a:solidFill>
                  <a:srgbClr val="44546A"/>
                </a:solidFill>
                <a:latin typeface="微软雅黑"/>
              </a:rPr>
              <a:t>见下次课工单任务书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 / 10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000"/>
              <a:t>P1.2 工程模板生成完成态 · 完成后长这样（真实运行·参考实现）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1900000"/>
            <a:ext cx="4600000" cy="160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00000" y="2520000"/>
            <a:ext cx="4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/>
        </p:txBody>
      </p:sp>
      <p:sp>
        <p:nvSpPr>
          <p:cNvPr id="7" name="Rectangle 6"/>
          <p:cNvSpPr/>
          <p:nvPr/>
        </p:nvSpPr>
        <p:spPr>
          <a:xfrm>
            <a:off x="700000" y="3700000"/>
            <a:ext cx="4600000" cy="160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0000" y="4320000"/>
            <a:ext cx="4600000" cy="5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00" b="0">
                <a:solidFill>
                  <a:srgbClr val="1B2B28"/>
                </a:solidFill>
              </a:rPr>
              <a:t>3. pylint 评分 ≥ 8.5</a:t>
            </a:r>
          </a:p>
        </p:txBody>
      </p:sp>
      <p:sp>
        <p:nvSpPr>
          <p:cNvPr id="9" name="Rectangle 8"/>
          <p:cNvSpPr/>
          <p:nvPr/>
        </p:nvSpPr>
        <p:spPr>
          <a:xfrm>
            <a:off x="5560000" y="1900000"/>
            <a:ext cx="4600000" cy="160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560000" y="2520000"/>
            <a:ext cx="4600000" cy="5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00" b="0">
                <a:solidFill>
                  <a:srgbClr val="1B2B28"/>
                </a:solidFill>
              </a:rPr>
              <a:t>2. git 五步命令逐条执行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560000" y="3700000"/>
            <a:ext cx="4600000" cy="160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560000" y="4320000"/>
            <a:ext cx="4600000" cy="5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00" b="0">
                <a:solidFill>
                  <a:srgbClr val="1B2B28"/>
                </a:solidFill>
              </a:rPr>
              <a:t>4. pytest 测试通过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8 / 10</a:t>
            </a:r>
          </a:p>
        </p:txBody>
      </p:sp>
      <p:pic>
        <p:nvPicPr>
          <p:cNvPr id="16" name="Picture 15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41494" y="1900000"/>
            <a:ext cx="3917012" cy="1600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880360"/>
            <a:ext cx="12192000" cy="5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1645920"/>
            <a:ext cx="12192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5400" b="1">
                <a:solidFill>
                  <a:srgbClr val="FFFFFF"/>
                </a:solidFill>
                <a:latin typeface="微软雅黑"/>
              </a:rPr>
              <a:t>THANKS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3429000"/>
            <a:ext cx="12192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5670F"/>
                </a:solidFill>
                <a:latin typeface="微软雅黑"/>
              </a:rPr>
              <a:t>感谢聆听 · 动手实践出真知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4526280"/>
            <a:ext cx="12192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BBC6E6"/>
                </a:solidFill>
                <a:latin typeface="微软雅黑"/>
              </a:rPr>
              <a:t>以生为本   |   做中学 · 学中做</a:t>
            </a:r>
          </a:p>
        </p:txBody>
      </p:sp>
      <p:sp>
        <p:nvSpPr>
          <p:cNvPr id="7" name="Rectangle 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9 / 10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下次课预告（第2周）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900000"/>
            <a:ext cx="10900000" cy="16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900000"/>
            <a:ext cx="150000" cy="1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0000" y="2050000"/>
            <a:ext cx="105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010328"/>
                </a:solidFill>
                <a:latin typeface="微软雅黑"/>
              </a:rPr>
              <a:t>主题: 生成标准工程模板并推Git——应用：见工单sta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预习快问: requirements.txt的作用？conda环境为什么不必进.gitignore？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0000" y="3900000"/>
            <a:ext cx="109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课前完成：导学单 + 预习自测 + starter环境自检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50" b="0">
                <a:solidFill>
                  <a:srgbClr val="44546A"/>
                </a:solidFill>
                <a:latin typeface="微软雅黑"/>
              </a:rPr>
              <a:t>带着问题来上课——Predict先于Run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64008"/>
          </a:xfrm>
          <a:prstGeom prst="roundRect">
            <a:avLst>
              <a:gd name="adj" fmla="val 50000"/>
            </a:avLst>
          </a:prstGeom>
          <a:solidFill>
            <a:srgbClr val="0B5E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46304"/>
            <a:ext cx="8229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100" b="1">
                <a:solidFill>
                  <a:srgbClr val="0B5E54"/>
                </a:solidFill>
              </a:rPr>
              <a:t>工单实战 · 本次实跑结果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75488" y="475488"/>
            <a:ext cx="1881187" cy="310896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475488"/>
            <a:ext cx="1881187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1050" b="1">
                <a:solidFill>
                  <a:srgbClr val="FFFFFF"/>
                </a:solidFill>
              </a:rPr>
              <a:t>REAL RUN · 四档逐字实测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859536"/>
            <a:ext cx="11237976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2200" b="1">
                <a:solidFill>
                  <a:srgbClr val="1B2B28"/>
                </a:solidFill>
              </a:rPr>
              <a:t>P1.1 p11_exercises：本次 D/C/B/A 四档实测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1389888"/>
            <a:ext cx="1234440" cy="27432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75488" y="6419088"/>
            <a:ext cx="11237976" cy="10972"/>
          </a:xfrm>
          <a:prstGeom prst="roundRect">
            <a:avLst>
              <a:gd name="adj" fmla="val 50000"/>
            </a:avLst>
          </a:prstGeom>
          <a:solidFill>
            <a:srgbClr val="E4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75488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900" b="0">
                <a:solidFill>
                  <a:srgbClr val="5C6E6A"/>
                </a:solidFill>
              </a:rPr>
              <a:t>两江智造集团 · Python程序设计（项目实战）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97896" y="6537960"/>
            <a:ext cx="996696" cy="301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4000"/>
              </a:lnSpc>
            </a:pPr>
            <a:r>
              <a:rPr sz="1000" b="0">
                <a:solidFill>
                  <a:srgbClr val="8A97B5"/>
                </a:solidFill>
              </a:rPr>
              <a:t>4 / 10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75488" y="1554480"/>
            <a:ext cx="11237976" cy="91668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4F1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554480"/>
            <a:ext cx="54864" cy="916686"/>
          </a:xfrm>
          <a:prstGeom prst="roundRect">
            <a:avLst>
              <a:gd name="adj" fmla="val 50000"/>
            </a:avLst>
          </a:prstGeom>
          <a:solidFill>
            <a:srgbClr val="5C6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1792" y="1636776"/>
            <a:ext cx="237744" cy="237744"/>
          </a:xfrm>
          <a:prstGeom prst="roundRect">
            <a:avLst>
              <a:gd name="adj" fmla="val 28000"/>
            </a:avLst>
          </a:prstGeom>
          <a:solidFill>
            <a:srgbClr val="5C6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1792" y="1636776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1000" b="1">
                <a:solidFill>
                  <a:srgbClr val="FFFFFF"/>
                </a:solidFill>
              </a:rPr>
              <a:t>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2688" y="1618488"/>
            <a:ext cx="877824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050" b="1">
                <a:solidFill>
                  <a:srgbClr val="1B2B28"/>
                </a:solidFill>
              </a:rPr>
              <a:t>及格</a:t>
            </a:r>
            <a:r>
              <a:rPr sz="850" b="0">
                <a:solidFill>
                  <a:srgbClr val="5C6E6A"/>
                </a:solidFill>
              </a:rPr>
              <a:t>   验收口径：</a:t>
            </a:r>
            <a:r>
              <a:rPr sz="850" b="0">
                <a:solidFill>
                  <a:srgbClr val="5C6E6A"/>
                </a:solidFill>
              </a:rPr>
              <a:t>≥3题正确运行；PEP 8≥75%；有基础注释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131803" y="1645920"/>
            <a:ext cx="453644" cy="237744"/>
          </a:xfrm>
          <a:prstGeom prst="roundRect">
            <a:avLst>
              <a:gd name="adj" fmla="val 50000"/>
            </a:avLst>
          </a:prstGeom>
          <a:solidFill>
            <a:srgbClr val="0B5E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131803" y="1645920"/>
            <a:ext cx="4536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850" b="1">
                <a:solidFill>
                  <a:srgbClr val="FFFFFF"/>
                </a:solidFill>
              </a:rPr>
              <a:t>达标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2688" y="1901952"/>
            <a:ext cx="10671047" cy="514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950" b="0">
                <a:solidFill>
                  <a:srgbClr val="1B2B28"/>
                </a:solidFill>
              </a:rPr>
              <a:t>正确 5/5 题｜PEP 8 子集达标率 100.0%（检查项通过 4794/4795）≥ 75.0%｜有 docstring 的公开函数 53/53、模块 13/13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75488" y="2535174"/>
            <a:ext cx="11237976" cy="91668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4F1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475488" y="2535174"/>
            <a:ext cx="54864" cy="916686"/>
          </a:xfrm>
          <a:prstGeom prst="roundRect">
            <a:avLst>
              <a:gd name="adj" fmla="val 50000"/>
            </a:avLst>
          </a:prstGeom>
          <a:solidFill>
            <a:srgbClr val="157A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21792" y="2617470"/>
            <a:ext cx="237744" cy="237744"/>
          </a:xfrm>
          <a:prstGeom prst="roundRect">
            <a:avLst>
              <a:gd name="adj" fmla="val 28000"/>
            </a:avLst>
          </a:prstGeom>
          <a:solidFill>
            <a:srgbClr val="157A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1792" y="2617470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1000" b="1">
                <a:solidFill>
                  <a:srgbClr val="FFFFFF"/>
                </a:solidFill>
              </a:rPr>
              <a:t>C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32688" y="2599182"/>
            <a:ext cx="877824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050" b="1">
                <a:solidFill>
                  <a:srgbClr val="1B2B28"/>
                </a:solidFill>
              </a:rPr>
              <a:t>良好</a:t>
            </a:r>
            <a:r>
              <a:rPr sz="850" b="0">
                <a:solidFill>
                  <a:srgbClr val="5C6E6A"/>
                </a:solidFill>
              </a:rPr>
              <a:t>   验收口径：</a:t>
            </a:r>
            <a:r>
              <a:rPr sz="850" b="0">
                <a:solidFill>
                  <a:srgbClr val="5C6E6A"/>
                </a:solidFill>
              </a:rPr>
              <a:t>4题；命名有意义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131803" y="2626614"/>
            <a:ext cx="453644" cy="237744"/>
          </a:xfrm>
          <a:prstGeom prst="roundRect">
            <a:avLst>
              <a:gd name="adj" fmla="val 50000"/>
            </a:avLst>
          </a:prstGeom>
          <a:solidFill>
            <a:srgbClr val="0B5E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131803" y="2626614"/>
            <a:ext cx="4536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850" b="1">
                <a:solidFill>
                  <a:srgbClr val="FFFFFF"/>
                </a:solidFill>
              </a:rPr>
              <a:t>达标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32688" y="2882646"/>
            <a:ext cx="10671047" cy="514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950" b="0">
                <a:solidFill>
                  <a:srgbClr val="1B2B28"/>
                </a:solidFill>
              </a:rPr>
              <a:t>第4题 正确、正确 5/5（线 ≥4）｜命名有意义达标率 100.0%（合格 72/72）≥ 90.0%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75488" y="3515868"/>
            <a:ext cx="11237976" cy="91668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4F1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475488" y="3515868"/>
            <a:ext cx="54864" cy="916686"/>
          </a:xfrm>
          <a:prstGeom prst="roundRect">
            <a:avLst>
              <a:gd name="adj" fmla="val 50000"/>
            </a:avLst>
          </a:prstGeom>
          <a:solidFill>
            <a:srgbClr val="0B5E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621792" y="3598163"/>
            <a:ext cx="237744" cy="237744"/>
          </a:xfrm>
          <a:prstGeom prst="roundRect">
            <a:avLst>
              <a:gd name="adj" fmla="val 28000"/>
            </a:avLst>
          </a:prstGeom>
          <a:solidFill>
            <a:srgbClr val="0B5E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21792" y="3598163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1000" b="1">
                <a:solidFill>
                  <a:srgbClr val="FFFFFF"/>
                </a:solidFill>
              </a:rPr>
              <a:t>B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32688" y="3579875"/>
            <a:ext cx="877824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050" b="1">
                <a:solidFill>
                  <a:srgbClr val="1B2B28"/>
                </a:solidFill>
              </a:rPr>
              <a:t>优秀</a:t>
            </a:r>
            <a:r>
              <a:rPr sz="850" b="0">
                <a:solidFill>
                  <a:srgbClr val="5C6E6A"/>
                </a:solidFill>
              </a:rPr>
              <a:t>   验收口径：</a:t>
            </a:r>
            <a:r>
              <a:rPr sz="850" b="0">
                <a:solidFill>
                  <a:srgbClr val="5C6E6A"/>
                </a:solidFill>
              </a:rPr>
              <a:t>5题全对；PEP 8≥85%；结构清晰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131803" y="3607308"/>
            <a:ext cx="453644" cy="237744"/>
          </a:xfrm>
          <a:prstGeom prst="roundRect">
            <a:avLst>
              <a:gd name="adj" fmla="val 50000"/>
            </a:avLst>
          </a:prstGeom>
          <a:solidFill>
            <a:srgbClr val="0B5E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1131803" y="3607308"/>
            <a:ext cx="4536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850" b="1">
                <a:solidFill>
                  <a:srgbClr val="FFFFFF"/>
                </a:solidFill>
              </a:rPr>
              <a:t>达标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32688" y="3863339"/>
            <a:ext cx="10671047" cy="514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950" b="0">
                <a:solidFill>
                  <a:srgbClr val="1B2B28"/>
                </a:solidFill>
              </a:rPr>
              <a:t>正确 5/5｜PEP 8 子集达标率 100.0%（检查项通过 4794/4795）≥ 85.0%｜结构：四件套 4/4、一题一函数 5/5、src 模块 docstring 12/12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75488" y="4496562"/>
            <a:ext cx="11237976" cy="91668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4F1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475488" y="4496562"/>
            <a:ext cx="54864" cy="916686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621792" y="4578857"/>
            <a:ext cx="237744" cy="237744"/>
          </a:xfrm>
          <a:prstGeom prst="roundRect">
            <a:avLst>
              <a:gd name="adj" fmla="val 28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21792" y="4578857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1000" b="1">
                <a:solidFill>
                  <a:srgbClr val="FFFFFF"/>
                </a:solidFill>
              </a:rPr>
              <a:t>A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32688" y="4560570"/>
            <a:ext cx="877824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050" b="1">
                <a:solidFill>
                  <a:srgbClr val="1B2B28"/>
                </a:solidFill>
              </a:rPr>
              <a:t>超优</a:t>
            </a:r>
            <a:r>
              <a:rPr sz="850" b="0">
                <a:solidFill>
                  <a:srgbClr val="5C6E6A"/>
                </a:solidFill>
              </a:rPr>
              <a:t>   验收口径：</a:t>
            </a:r>
            <a:r>
              <a:rPr sz="850" b="0">
                <a:solidFill>
                  <a:srgbClr val="5C6E6A"/>
                </a:solidFill>
              </a:rPr>
              <a:t>优秀+每题附测试用例与《迁移笔记》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11131803" y="4588001"/>
            <a:ext cx="453644" cy="237744"/>
          </a:xfrm>
          <a:prstGeom prst="roundRect">
            <a:avLst>
              <a:gd name="adj" fmla="val 50000"/>
            </a:avLst>
          </a:prstGeom>
          <a:solidFill>
            <a:srgbClr val="0B5E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1131803" y="4588001"/>
            <a:ext cx="4536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850" b="1">
                <a:solidFill>
                  <a:srgbClr val="FFFFFF"/>
                </a:solidFill>
              </a:rPr>
              <a:t>达标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32688" y="4844033"/>
            <a:ext cx="10671047" cy="514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950" b="0">
                <a:solidFill>
                  <a:srgbClr val="1B2B28"/>
                </a:solidFill>
              </a:rPr>
              <a:t>每题 pytest 用例 题1 24｜题2 17｜题3 26｜题4 19｜题5 18（线 ≥1）｜迁移笔记 存在=是 正文 15 条（≥10）逐题易错点 5/5 必备章节=是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475488" y="5477255"/>
            <a:ext cx="11237976" cy="941832"/>
          </a:xfrm>
          <a:prstGeom prst="roundRect">
            <a:avLst>
              <a:gd name="adj" fmla="val 5000"/>
            </a:avLst>
          </a:prstGeom>
          <a:solidFill>
            <a:srgbClr val="E4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475488" y="5477255"/>
            <a:ext cx="54864" cy="941832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76656" y="5550407"/>
            <a:ext cx="10908792" cy="7955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850" b="0">
                <a:solidFill>
                  <a:srgbClr val="1B2B28"/>
                </a:solidFill>
              </a:rPr>
              <a:t>出处：工程化项目/p11_exercises/output/report.txt 第 54 节「分层达标」——本机 2026-10-28 05:06 实跑落盘，上表数字逐字摘录、未改写。</a:t>
            </a:r>
          </a:p>
          <a:p>
            <a:pPr algn="l">
              <a:lnSpc>
                <a:spcPct val="124000"/>
              </a:lnSpc>
            </a:pPr>
            <a:r>
              <a:rPr sz="850" b="0">
                <a:solidFill>
                  <a:srgbClr val="1B2B28"/>
                </a:solidFill>
              </a:rPr>
              <a:t>复现：cd 工程化项目/p11_exercises &amp;&amp; python run.py &amp;&amp; python -m pytest -q -o addopts=''</a:t>
            </a:r>
          </a:p>
          <a:p>
            <a:pPr algn="l">
              <a:lnSpc>
                <a:spcPct val="124000"/>
              </a:lnSpc>
            </a:pPr>
            <a:r>
              <a:rPr sz="850" b="0">
                <a:solidFill>
                  <a:srgbClr val="1B2B28"/>
                </a:solidFill>
              </a:rPr>
              <a:t>口径：表中「判定」沿用报告原词——绿=达标/通过，黄=仅本节取证项通过（未取证子项在报告里逐条点名），红=未达标。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64008"/>
          </a:xfrm>
          <a:prstGeom prst="roundRect">
            <a:avLst>
              <a:gd name="adj" fmla="val 50000"/>
            </a:avLst>
          </a:prstGeom>
          <a:solidFill>
            <a:srgbClr val="0B5E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46304"/>
            <a:ext cx="8229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100" b="1">
                <a:solidFill>
                  <a:srgbClr val="0B5E54"/>
                </a:solidFill>
              </a:rPr>
              <a:t>工单实战 · 运行留证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75488" y="475488"/>
            <a:ext cx="2027872" cy="310896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475488"/>
            <a:ext cx="2027872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1050" b="1">
                <a:solidFill>
                  <a:srgbClr val="FFFFFF"/>
                </a:solidFill>
              </a:rPr>
              <a:t>SCREENSHOT · 终端逐字截图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859536"/>
            <a:ext cx="11237976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2200" b="1">
                <a:solidFill>
                  <a:srgbClr val="1B2B28"/>
                </a:solidFill>
              </a:rPr>
              <a:t>P1.1 分层达标 · 四档逐字输出截图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1389888"/>
            <a:ext cx="1234440" cy="27432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75488" y="6419088"/>
            <a:ext cx="11237976" cy="10972"/>
          </a:xfrm>
          <a:prstGeom prst="roundRect">
            <a:avLst>
              <a:gd name="adj" fmla="val 50000"/>
            </a:avLst>
          </a:prstGeom>
          <a:solidFill>
            <a:srgbClr val="E4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75488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900" b="0">
                <a:solidFill>
                  <a:srgbClr val="5C6E6A"/>
                </a:solidFill>
              </a:rPr>
              <a:t>两江智造集团 · Python程序设计（项目实战）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97896" y="6537960"/>
            <a:ext cx="996696" cy="301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4000"/>
              </a:lnSpc>
            </a:pPr>
            <a:r>
              <a:rPr sz="1000" b="0">
                <a:solidFill>
                  <a:srgbClr val="8A97B5"/>
                </a:solidFill>
              </a:rPr>
              <a:t>5 / 10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488" y="1517904"/>
            <a:ext cx="1123797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000" b="0">
                <a:solidFill>
                  <a:srgbClr val="5C6E6A"/>
                </a:solidFill>
              </a:rPr>
              <a:t>终端窗口截图：由 report.txt 本节逐字渲染，未手工改写</a:t>
            </a:r>
          </a:p>
        </p:txBody>
      </p:sp>
      <p:pic>
        <p:nvPicPr>
          <p:cNvPr id="12" name="Picture 11" descr="p11_exercises_classroo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2845" y="1792224"/>
            <a:ext cx="10783260" cy="384962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75488" y="5678424"/>
            <a:ext cx="1123797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850" b="0">
                <a:solidFill>
                  <a:srgbClr val="5C6E6A"/>
                </a:solidFill>
              </a:rPr>
              <a:t>▲ p11_exercises：分层达标 第 54 行起的四档逐字原文（绿=达标/通过，黄=仅本节取证项，橙=未实测项）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64008"/>
          </a:xfrm>
          <a:prstGeom prst="roundRect">
            <a:avLst>
              <a:gd name="adj" fmla="val 50000"/>
            </a:avLst>
          </a:prstGeom>
          <a:solidFill>
            <a:srgbClr val="0B5E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46304"/>
            <a:ext cx="8229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100" b="1">
                <a:solidFill>
                  <a:srgbClr val="0B5E54"/>
                </a:solidFill>
              </a:rPr>
              <a:t>工单实战 · 运行留证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75488" y="475488"/>
            <a:ext cx="2027872" cy="310896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475488"/>
            <a:ext cx="2027872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1050" b="1">
                <a:solidFill>
                  <a:srgbClr val="FFFFFF"/>
                </a:solidFill>
              </a:rPr>
              <a:t>SCREENSHOT · 终端逐字截图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859536"/>
            <a:ext cx="11237976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2200" b="1">
                <a:solidFill>
                  <a:srgbClr val="1B2B28"/>
                </a:solidFill>
              </a:rPr>
              <a:t>P1.1 · 测试全绿证据＋pytest 全量实跑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1389888"/>
            <a:ext cx="1234440" cy="27432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75488" y="6419088"/>
            <a:ext cx="11237976" cy="10972"/>
          </a:xfrm>
          <a:prstGeom prst="roundRect">
            <a:avLst>
              <a:gd name="adj" fmla="val 50000"/>
            </a:avLst>
          </a:prstGeom>
          <a:solidFill>
            <a:srgbClr val="E4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75488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900" b="0">
                <a:solidFill>
                  <a:srgbClr val="5C6E6A"/>
                </a:solidFill>
              </a:rPr>
              <a:t>两江智造集团 · Python程序设计（项目实战）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97896" y="6537960"/>
            <a:ext cx="996696" cy="301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4000"/>
              </a:lnSpc>
            </a:pPr>
            <a:r>
              <a:rPr sz="1000" b="0">
                <a:solidFill>
                  <a:srgbClr val="8A97B5"/>
                </a:solidFill>
              </a:rPr>
              <a:t>6 / 10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488" y="1517904"/>
            <a:ext cx="1123797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000" b="0">
                <a:solidFill>
                  <a:srgbClr val="5C6E6A"/>
                </a:solidFill>
              </a:rPr>
              <a:t>pytest 全量实跑：本机真实运行输出，非示例、非节选</a:t>
            </a:r>
          </a:p>
        </p:txBody>
      </p:sp>
      <p:pic>
        <p:nvPicPr>
          <p:cNvPr id="12" name="Picture 11" descr="p11_exercises_pyte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" y="2265275"/>
            <a:ext cx="11237976" cy="198912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75488" y="4290972"/>
            <a:ext cx="1123797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850" b="0">
                <a:solidFill>
                  <a:srgbClr val="5C6E6A"/>
                </a:solidFill>
              </a:rPr>
              <a:t>▲ pytest：190 passed in 12.95s（本机实跑，非示例）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75488" y="4656732"/>
            <a:ext cx="11237976" cy="822960"/>
          </a:xfrm>
          <a:prstGeom prst="roundRect">
            <a:avLst>
              <a:gd name="adj" fmla="val 5000"/>
            </a:avLst>
          </a:prstGeom>
          <a:solidFill>
            <a:srgbClr val="E4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75488" y="4656732"/>
            <a:ext cx="54864" cy="822960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76656" y="4739028"/>
            <a:ext cx="10908792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6000"/>
              </a:lnSpc>
            </a:pPr>
            <a:r>
              <a:rPr sz="850" b="0">
                <a:solidFill>
                  <a:srgbClr val="1B2B28"/>
                </a:solidFill>
              </a:rPr>
              <a:t>本项目四档只有一套阶梯口径（课堂 D/C/B/A 即工单及格/良好/优秀/超优），逐字实测见上一页截图；本页补的是测试全绿证据。</a:t>
            </a:r>
          </a:p>
          <a:p>
            <a:pPr algn="l">
              <a:lnSpc>
                <a:spcPct val="126000"/>
              </a:lnSpc>
            </a:pPr>
            <a:r>
              <a:rPr sz="850" b="0">
                <a:solidFill>
                  <a:srgbClr val="1B2B28"/>
                </a:solidFill>
              </a:rPr>
              <a:t>复现：cd 工程化项目/p11_exercises &amp;&amp; python -m pytest -q -o addopts=''</a:t>
            </a:r>
          </a:p>
          <a:p>
            <a:pPr algn="l">
              <a:lnSpc>
                <a:spcPct val="126000"/>
              </a:lnSpc>
            </a:pPr>
            <a:r>
              <a:rPr sz="850" b="0">
                <a:solidFill>
                  <a:srgbClr val="1B2B28"/>
                </a:solidFill>
              </a:rPr>
              <a:t>工单提交：截图需含终端标题栏的文件名与完整输出，退出码 0 才算全绿。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