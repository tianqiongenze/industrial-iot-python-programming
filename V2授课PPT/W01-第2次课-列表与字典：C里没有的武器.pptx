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18"/>
    <p:sldId id="280" r:id="rId32"/>
    <p:sldId id="310" r:id="rId62"/>
    <p:sldId id="368" r:id="rId15"/>
    <p:sldId id="369" r:id="rId16"/>
    <p:sldId id="370" r:id="rId17"/>
    <p:sldId id="374" r:id="rId21"/>
    <p:sldId id="375" r:id="rId22"/>
    <p:sldId id="376" r:id="rId23"/>
    <p:sldId id="377" r:id="rId24"/>
    <p:sldId id="378" r:id="rId25"/>
    <p:sldId id="339" r:id="rId91"/>
    <p:sldId id="341" r:id="rId93"/>
    <p:sldId id="366" r:id="rId118"/>
    <p:sldId id="367" r:id="rId119"/>
    <p:sldId id="372" r:id="rId19"/>
    <p:sldId id="373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2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32" Type="http://schemas.openxmlformats.org/officeDocument/2006/relationships/slide" Target="slides/slide3.xml"/><Relationship Id="rId62" Type="http://schemas.openxmlformats.org/officeDocument/2006/relationships/slide" Target="slides/slide4.xml"/><Relationship Id="rId91" Type="http://schemas.openxmlformats.org/officeDocument/2006/relationships/slide" Target="slides/slide13.xml"/><Relationship Id="rId93" Type="http://schemas.openxmlformats.org/officeDocument/2006/relationships/slide" Target="slides/slide14.xml"/><Relationship Id="rId118" Type="http://schemas.openxmlformats.org/officeDocument/2006/relationships/slide" Target="slides/slide15.xml"/><Relationship Id="rId119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开场30秒：本次课《列表与字典：C里没有的武器》，80分钟＝2课时×40分钟。课前已发工单+starter+微课知识卡，资讯·计划线上完成。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情境说书（30秒，口头讲，不必逐字念）：实习第一天，吴工丢来一份《新员工Python能力测评》：'你C语言底子不错，今天把这五道题过了，明天进项目组。'——工单P1.1：五题闯关，完成从C到Python的迁移。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| 预习知识点：Python基础回顾(C→Python迁移)；conda环境创建与激活 | 课中检查知识点：五题闯关全过；能conda activate pp03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列表与字典：C里没有的武器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实习第一天，吴工丢来一份《新员工Python能力测评》：'你C语言底子不错，今天把这五道题过了，明天进项目组。'——工单P1.1：五题闯关，完成从C到Python的迁移。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列表与字典：C里没有的武器（1）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列表与元组：动态数组能力、切片操作；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字典：键值映射、与C结构体的对照；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面向对象基础：类、对象、属性、方法（C结构体+函数指针的升级视角）；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异常处理：try/except/finally；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工单P1.1实操：完成5个渐进式练习题（数据类型⭐/控制流⭐⭐/列表字典⭐⭐/类与对象⭐⭐⭐/异常处理⭐⭐）。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p11_exercises：本次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 / 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≥3题正确运行；PEP 8≥75%；有基础注释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 题｜PEP 8 子集达标率 100.0%（检查项通过 4794/4795）≥ 75.0%｜有 docstring 的公开函数 53/53、模块 13/13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4题；命名有意义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第4题 正确、正确 5/5（线 ≥4）｜命名有意义达标率 100.0%（合格 72/72）≥ 90.0%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5题全对；PEP 8≥85%；结构清晰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正确 5/5｜PEP 8 子集达标率 100.0%（检查项通过 4794/4795）≥ 85.0%｜结构：四件套 4/4、一题一函数 5/5、src 模块 docstring 12/12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900" b="0">
                <a:solidFill>
                  <a:srgbClr val="5C6E6A"/>
                </a:solidFill>
              </a:rPr>
              <a:t>   验收口径：</a:t>
            </a:r>
            <a:r>
              <a:rPr sz="900" b="0">
                <a:solidFill>
                  <a:srgbClr val="5C6E6A"/>
                </a:solidFill>
              </a:rPr>
              <a:t>优秀+每题附测试用例与《迁移笔记》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90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每题 pytest 用例 题1 24｜题2 17｜题3 26｜题4 19｜题5 18（线 ≥1）｜迁移笔记 存在=是 正文 15 条（≥10）逐题易错点 5/5 必备章节=是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出处：工程化项目/p11_exercises/output/report.txt 第 54 节「分层达标」——本机 2026-10-28 05:06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复现：cd 工程化项目/p11_exercises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90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6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11_exercises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845" y="1792224"/>
            <a:ext cx="10783260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▲ p11_exercises：分层达标 第 54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P1.1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7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11_exercises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▲ pytest：190 passed in 12.95s（本机实跑，非示例）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90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1B2B28"/>
                </a:solidFill>
              </a:rPr>
              <a:t>复现：cd 工程化项目/p11_exercises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90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本课重难点地图 · 老师划重点（动手前必看）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8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重点 · 必会必考（本课知识点全景）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</a:rPr>
              <a:t>◆ B01 C→Python四映射｜四映射=C户口迁Python：声明→动态/大括号→缩进/指针→引用…</a:t>
            </a:r>
          </a:p>
          <a:p>
            <a:r>
              <a:rPr sz="950" b="0">
                <a:solidFill>
                  <a:srgbClr val="2B2F36"/>
                </a:solidFill>
              </a:rPr>
              <a:t>◆ B02 引用语义｜b=a不复制货只抄门牌号——两人开同一扇门，动b就是动a</a:t>
            </a:r>
          </a:p>
          <a:p>
            <a:r>
              <a:rPr sz="950" b="0">
                <a:solidFill>
                  <a:srgbClr val="2B2F36"/>
                </a:solidFill>
              </a:rPr>
              <a:t>◆ B03 列表扩容与字典｜列表append=货架自动加长；字典O(1)=储物柜直取不开抽屉翻</a:t>
            </a:r>
          </a:p>
          <a:p>
            <a:r>
              <a:rPr sz="950" b="0">
                <a:solidFill>
                  <a:srgbClr val="2B2F36"/>
                </a:solidFill>
              </a:rPr>
              <a:t>◆ B04 try/except替代错误码｜C层层if判错误码=快递每站验货；Python异常=坏件直接退回总站</a:t>
            </a:r>
          </a:p>
          <a:p>
            <a:r>
              <a:rPr sz="950" b="0">
                <a:solidFill>
                  <a:srgbClr val="2B2F36"/>
                </a:solidFill>
              </a:rPr>
              <a:t>◆ B05 类=struct+函数｜C的struct=数据仓库；Python类=仓库+员工——数据行为…</a:t>
            </a:r>
          </a:p>
          <a:p>
            <a:r>
              <a:rPr sz="950" b="0">
                <a:solidFill>
                  <a:srgbClr val="2B2F36"/>
                </a:solidFill>
              </a:rPr>
              <a:t>◆ B06 缩进规范｜缩进即语法块=用磅秤分装不许手掂——4空格统一禁Tab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难点 · 易卡壳（下一页逐个击破）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▲ 误区：Python变量无需声明≠无需理解类型——类型还在，只是贴在值上</a:t>
            </a:r>
          </a:p>
          <a:p>
            <a:r>
              <a:rPr sz="900" b="0">
                <a:solidFill>
                  <a:srgbClr val="2B2F36"/>
                </a:solidFill>
              </a:rPr>
              <a:t>▲ 误区：以为=是复制——嵌套列表必须deepcopy，浅拷贝只拷外壳</a:t>
            </a:r>
          </a:p>
          <a:p>
            <a:r>
              <a:rPr sz="900" b="0">
                <a:solidFill>
                  <a:srgbClr val="2B2F36"/>
                </a:solidFill>
              </a:rPr>
              <a:t>▲ 误区：C的malloc预分配习惯搬来——Python列表自增长已优化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高频易错 · 动手前先记住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✗ b改a也变 → list(a)或a.copy()</a:t>
            </a:r>
          </a:p>
          <a:p>
            <a:r>
              <a:rPr sz="900" b="0">
                <a:solidFill>
                  <a:srgbClr val="2B2F36"/>
                </a:solidFill>
              </a:rPr>
              <a:t>✗ 混用Tab → 统一4空格</a:t>
            </a:r>
          </a:p>
          <a:p>
            <a:r>
              <a:rPr sz="900" b="0">
                <a:solidFill>
                  <a:srgbClr val="2B2F36"/>
                </a:solidFill>
              </a:rPr>
              <a:t>✗ =当== → 比较用==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达标自问 · 学没学会，问自己这四句（当堂评分同口径）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① 及格线我能过吗——≥3题正确+PEP8≥75%</a:t>
            </a:r>
          </a:p>
          <a:p>
            <a:r>
              <a:rPr sz="900" b="0">
                <a:solidFill>
                  <a:srgbClr val="2B2F36"/>
                </a:solidFill>
              </a:rPr>
              <a:t>② 优秀线我够吗——5题全对+PEP8≥85%</a:t>
            </a:r>
          </a:p>
          <a:p>
            <a:r>
              <a:rPr sz="900" b="0">
                <a:solidFill>
                  <a:srgbClr val="2B2F36"/>
                </a:solidFill>
              </a:rPr>
              <a:t>③ 技能点我能独立做出来吗——双栏对照法完成语法迁移；五题渐进练习全通过pytest断言</a:t>
            </a:r>
          </a:p>
          <a:p>
            <a:r>
              <a:rPr sz="900" b="0">
                <a:solidFill>
                  <a:srgbClr val="2B2F36"/>
                </a:solidFill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</a:rPr>
              <a:t>素材来源：同周《第1次课-带着C语言底子学Pyth…》知识卡与避坑清单（逐字摘录）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难点逐个击破 · 零基础照做就能会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难点1：B01 C→Python四映射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误区：Python变量无需声明≠无需理解类型——类型还在，只是贴在值上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四映射=C户口迁Python：声明→动态/大括号→缩进/指针→引用/printf→f-string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C老手最快上手路径——心里有C对照着学少走弯路 int x=5 → x=5；printf("%d",x) → print(f'{x}')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难点2：B02 引用语义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误区：以为=是复制——嵌套列表必须deepcopy，浅拷贝只拷外壳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b=a不复制货只抄门牌号——两人开同一扇门，动b就是动a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函数传参/复制数据时的隐性共享——改b连a一起变 b = a.copy()浅拷贝；copy.deepcopy(a)深拷贝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</a:rPr>
              <a:t>难点3：B03 列表扩容与字典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误区：C的malloc预分配习惯搬来——Python列表自增长已优化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列表append=货架自动加长；字典O(1)=储物柜直取不开抽屉翻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采集缓冲攒够1000条批量入库——工程节奏控制 buffer.append(row)；if len(buffer)&gt;=1000: flush()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承上启下 · 动手前避坑清单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b改a也变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原因：引用语义</a:t>
            </a:r>
          </a:p>
          <a:p>
            <a:r>
              <a:rPr sz="900" b="0">
                <a:solidFill>
                  <a:srgbClr val="2B2F36"/>
                </a:solidFill>
              </a:rPr>
              <a:t>✔ 解决：list(a)或a.copy()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混用Tab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原因：跨编辑器报错</a:t>
            </a:r>
          </a:p>
          <a:p>
            <a:r>
              <a:rPr sz="900" b="0">
                <a:solidFill>
                  <a:srgbClr val="2B2F36"/>
                </a:solidFill>
              </a:rPr>
              <a:t>✔ 解决：统一4空格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</a:rPr>
              <a:t>✗ =当==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原因：条件失效</a:t>
            </a:r>
          </a:p>
          <a:p>
            <a:r>
              <a:rPr sz="900" b="0">
                <a:solidFill>
                  <a:srgbClr val="2B2F36"/>
                </a:solidFill>
              </a:rPr>
              <a:t>✔ 解决：比较用==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</a:rPr>
              <a:t>素材来源：同周《第1次课-带着C语言底子学Pyth…》知识卡与避坑清单（逐字摘录）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本课知识速览卡 · 边做边对照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11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本讲是动手冲刺课：知识点在完整讲解课已细讲——这页把它们浓缩成一张速览卡，边做边对照。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630936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630936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1819656"/>
            <a:ext cx="6089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知识点速览（逐字摘自同周完整讲解课知识卡）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2267712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</a:rPr>
              <a:t>◆ B01 C→Python四映射｜四映射=C户口迁Python：声明→动态/大括号→缩进/指针→引用/print…</a:t>
            </a:r>
          </a:p>
          <a:p>
            <a:r>
              <a:rPr sz="950" b="0">
                <a:solidFill>
                  <a:srgbClr val="2B2F36"/>
                </a:solidFill>
              </a:rPr>
              <a:t>◆ B02 引用语义｜b=a不复制货只抄门牌号——两人开同一扇门，动b就是动a</a:t>
            </a:r>
          </a:p>
          <a:p>
            <a:r>
              <a:rPr sz="950" b="0">
                <a:solidFill>
                  <a:srgbClr val="2B2F36"/>
                </a:solidFill>
              </a:rPr>
              <a:t>◆ B03 列表扩容与字典｜列表append=货架自动加长；字典O(1)=储物柜直取不开抽屉翻</a:t>
            </a:r>
          </a:p>
          <a:p>
            <a:r>
              <a:rPr sz="950" b="0">
                <a:solidFill>
                  <a:srgbClr val="2B2F36"/>
                </a:solidFill>
              </a:rPr>
              <a:t>◆ B04 try/except替代错误码｜C层层if判错误码=快递每站验货；Python异常=坏件直接退回总站</a:t>
            </a:r>
          </a:p>
          <a:p>
            <a:r>
              <a:rPr sz="950" b="0">
                <a:solidFill>
                  <a:srgbClr val="2B2F36"/>
                </a:solidFill>
              </a:rPr>
              <a:t>◆ B05 类=struct+函数｜C的struct=数据仓库；Python类=仓库+员工——数据行为一体</a:t>
            </a:r>
          </a:p>
          <a:p>
            <a:r>
              <a:rPr sz="950" b="0">
                <a:solidFill>
                  <a:srgbClr val="2B2F36"/>
                </a:solidFill>
              </a:rPr>
              <a:t>◆ B06 缩进规范｜缩进即语法块=用磅秤分装不许手掂——4空格统一禁Tab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03720" y="1783080"/>
            <a:ext cx="482803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03720" y="1783080"/>
            <a:ext cx="482803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13448" y="181965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本讲达标线（当堂评分同口径）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2249424"/>
            <a:ext cx="4526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① 及格(D)：≥3题正确+PEP8≥75%</a:t>
            </a:r>
          </a:p>
          <a:p>
            <a:r>
              <a:rPr sz="900" b="0">
                <a:solidFill>
                  <a:srgbClr val="2B2F36"/>
                </a:solidFill>
              </a:rPr>
              <a:t>② 优秀(B+)：5题全对+PEP8≥85%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3886200"/>
            <a:ext cx="4828032" cy="201168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03720" y="3886200"/>
            <a:ext cx="4828032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13448" y="3922776"/>
            <a:ext cx="4608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</a:rPr>
              <a:t>动手前三个提醒（踩坑点摘录）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4352544"/>
            <a:ext cx="4526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</a:rPr>
              <a:t>⚠ list(a)或a.copy()</a:t>
            </a:r>
          </a:p>
          <a:p>
            <a:r>
              <a:rPr sz="900" b="0">
                <a:solidFill>
                  <a:srgbClr val="2B2F36"/>
                </a:solidFill>
              </a:rPr>
              <a:t>⚠ 统一4空格</a:t>
            </a:r>
          </a:p>
          <a:p>
            <a:r>
              <a:rPr sz="900" b="0">
                <a:solidFill>
                  <a:srgbClr val="2B2F36"/>
                </a:solidFill>
              </a:rPr>
              <a:t>⚠ 比较用==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B7280"/>
                </a:solidFill>
              </a:rPr>
              <a:t>素材来源：同周《第1次课-带着C语言底子学Pyth…》知识卡与避坑清单（逐字摘录）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下次课预告 · 带着问题去下一讲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12 /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</a:rPr>
              <a:t>带着问题去下一讲——预习任务与自测问题逐字取自课程安排，课前完成。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20240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920240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84832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主题：生成标准工程模板并推Git——应用：见工单sta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26664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026664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191256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预习快问：requirements.txt的作用？conda环境为什么不必进.gitignore？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33087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33087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97679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课前完成：导学单 + 预习自测 + starter环境自检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239512"/>
            <a:ext cx="11274552" cy="960120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39512"/>
            <a:ext cx="82296" cy="96012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04103"/>
            <a:ext cx="10881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2B2F36"/>
                </a:solidFill>
              </a:rPr>
              <a:t>带着问题：来上课——Predict先于Run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完成工单P1.1《Python基础练习五题》：及格标准≥3题正确+PEP 8≥75%；优秀标准5题全对+PEP 8≥85%+命名有意义；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整理个人《C→Python迁移对照笔记》；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预习PEP 8规范与Git基础操作。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/>
              <a:t>P1.2 工程模板生成完成态 · 完成后长这样（真实运行·参考实现）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520000"/>
            <a:ext cx="4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</p:txBody>
      </p:sp>
      <p:sp>
        <p:nvSpPr>
          <p:cNvPr id="7" name="Rectangle 6"/>
          <p:cNvSpPr/>
          <p:nvPr/>
        </p:nvSpPr>
        <p:spPr>
          <a:xfrm>
            <a:off x="70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3. pylint 评分 ≥ 8.5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60000" y="19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60000" y="25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2. git 五步命令逐条执行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0000" y="3700000"/>
            <a:ext cx="4600000" cy="160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0000" y="4320000"/>
            <a:ext cx="46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1B2B28"/>
                </a:solidFill>
              </a:rPr>
              <a:t>4. pytest 测试通过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94" y="1900000"/>
            <a:ext cx="3917012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生成标准工程模板并推Git——应用：见工单sta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requirements.txt的作用？conda环境为什么不必进.gitignore？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