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7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11" r:id="rId63"/>
    <p:sldId id="368" r:id="rId15"/>
    <p:sldId id="369" r:id="rId16"/>
    <p:sldId id="370" r:id="rId17"/>
    <p:sldId id="319" r:id="rId71"/>
    <p:sldId id="367" r:id="rId119"/>
    <p:sldId id="338" r:id="rId90"/>
    <p:sldId id="365" r:id="rId117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63" Type="http://schemas.openxmlformats.org/officeDocument/2006/relationships/slide" Target="slides/slide2.xml"/><Relationship Id="rId71" Type="http://schemas.openxmlformats.org/officeDocument/2006/relationships/slide" Target="slides/slide3.xml"/><Relationship Id="rId90" Type="http://schemas.openxmlformats.org/officeDocument/2006/relationships/slide" Target="slides/slide5.xml"/><Relationship Id="rId117" Type="http://schemas.openxmlformats.org/officeDocument/2006/relationships/slide" Target="slides/slide6.xml"/><Relationship Id="rId118" Type="http://schemas.openxmlformats.org/officeDocument/2006/relationships/slide" Target="slides/slide7.xml"/><Relationship Id="rId119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开场30秒：本次课《不写SQL也能操作数据库》，80分钟＝2课时×40分钟。课前已发工单+starter+微课知识卡，资讯·计划线上完成。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工单发布话术：'数字化转型办公室发来工单P5《产线数据仓库与ORM》，及格线是4，优秀线看A层标准'——念完发starter。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预习知识点：SQLAlchemy ORM；ER设计；批量写入与索引 | 课中检查知识点：四表仓库可查询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不写SQL也能操作数据库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第七周 · 第14次课（2课时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ProcessOn（ER图设计）+ Git/GitHub（每周提交）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不写SQL也能操作数据库（1）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SQLAlchemy ORM：模型定义、会话管理、关系映射；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ORM查询：filter、join、聚合；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批量写入与事务；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工单P5实操：将P4采集系统数据入库，构建小型产线数据仓库（ORM实现+统计查询+性能对比）。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实施任务：工单P5《产线数据仓库与ORM》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records(device_id,ts)建索引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EXPLAIN QUERY PLAN前后对比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复杂查询(多表JOIN聚合)冲优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4表合理+ORM入库+2条查询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索引有EXPLAIN证据+规避N+1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B2B28"/>
                </a:solidFill>
              </a:rPr>
              <a:t>P5 ORM操作完成态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ORM 声明式建表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关系查询可用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批量插入生效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EXPLAIN 走索引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452297"/>
            <a:ext cx="7863840" cy="1532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完成工单P5《产线数据仓库》：及格标准4表设计合理+ORM入库+基础统计；优秀标准含索引优化+批量写入+复杂查询；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完成ER图与数据字典文档；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预习机器学习基本流程（训练/验证/预测）。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下次课预告（第8周）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诊断模型训练与F1达标——应用：见工单start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过拟合的信号是什么？怎么防？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工程化代码：建表→批量insert→where 查询（零依赖）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# core.py —— 零依赖内存表 + 倒排索引（原理可见）</a:t>
            </a:r>
            <a:endParaRPr sz="12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class Table: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def __init__(self, name, fields):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if not fields: raise ValueError("未定义字段")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self.name = name; self.fields = list(fields)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self.rows = []; self.indexes = {}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def create_index(self, col):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inv = {}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for i, r in enumerate(self.rows):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    inv.setdefault(r[col], set()).add(i)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self.indexes[col] = inv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/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def where(self, **kw):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if len(kw) == 1: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    col, val = next(iter(kw.items()))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    if col in self.indexes: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        return [self.rows[i] for i in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sorted(self.indexes[col].get(val, set()))]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return [r for r in self.rows</a:t>
            </a:r>
          </a:p>
          <a:p>
            <a:r>
              <a:rPr sz="1250" b="0">
                <a:solidFill>
                  <a:srgbClr val="D6DEF6"/>
                </a:solidFill>
                <a:latin typeface="微软雅黑"/>
              </a:rPr>
              <a:t>                if all(r.get(k) == v for k, v in kw.items())]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10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工程化设计：索引抉择 —— 空间换时间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B侧 · 索引与EXPLAIN · 数据访问方式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◆ 为什么加索引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where(device_id=..) 频繁查询列上建倒排索引——等值查询从全表扫描降为索引直取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◆ 什么时候建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高频等值查询列建索引；写多读少、筛选性差的列不建——索引本身占空间与维护成本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test_index_query(tbl):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assert len(tbl.where(device_id="DEV-02")) == 3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def test_no_index(tbl):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assert tbl.explain(temp=3.0) == "FULL SCAN"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◆ 设计要点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对账式验证：有索引结果=无索引结果，机制不同但答案一致——先跑对再谈优化</a:t>
            </a:r>
            <a:endParaRPr sz="1300" b="0">
              <a:solidFill>
                <a:srgbClr val="FF0000"/>
              </a:solidFill>
              <a:latin typeface="微软雅黑" panose="020B0502040204020203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10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工程化测试：单测怎么证可靠（GB/T 15532）</a:t>
            </a:r>
            <a:endParaRPr sz="24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测试计划与报告 · pytest 三层策略</a:t>
            </a:r>
            <a:endParaRPr sz="2000" b="1">
              <a:solidFill>
                <a:srgbClr val="FFFFFF"/>
              </a:solidFill>
              <a:latin typeface="微软雅黑" panose="020B0502040204020203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◆ 纯函数单测</a:t>
            </a:r>
            <a:endParaRPr sz="1400" b="1">
              <a:solidFill>
                <a:srgbClr val="0545E8"/>
              </a:solidFill>
              <a:latin typeface="微软雅黑" panose="020B0502040204020203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复现: python -m pytest -q ｜ 用例≥6 全绿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按 正常/边界/异常 三档覆盖——可靠性是被测出来的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◆ 用例清单</a:t>
            </a:r>
            <a:endParaRPr sz="1400" b="1">
              <a:solidFill>
                <a:srgbClr val="0475B6"/>
              </a:solidFill>
              <a:latin typeface="微软雅黑" panose="020B0502040204020203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TC-01 缺字段 insert → ValueError</a:t>
            </a:r>
            <a:endParaRPr sz="1300" b="0">
              <a:solidFill>
                <a:srgbClr val="010328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TC-02 索引查询正确 | TC-03 无索引→FULL SCAN</a:t>
            </a: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TC-04 空字段表 → ValueError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test_index_query(tbl):</a:t>
            </a:r>
            <a:endParaRPr sz="1150" b="0">
              <a:solidFill>
                <a:srgbClr val="D6DEF6"/>
              </a:solidFill>
              <a:latin typeface="微软雅黑" panose="020B0502040204020203" charset="-122"/>
            </a:endParaRP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assert len(tbl.where(device_id="DEV-02")) == 3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def test_no_index(tbl):</a:t>
            </a:r>
          </a:p>
          <a:p>
            <a:r>
              <a:rPr sz="1150" b="0">
                <a:solidFill>
                  <a:srgbClr val="D6DEF6"/>
                </a:solidFill>
                <a:latin typeface="微软雅黑"/>
              </a:rPr>
              <a:t>    assert tbl.explain(temp=3.0) == "FULL SCAN"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◆ GB/T 15532 三层</a:t>
            </a:r>
            <a:endParaRPr sz="1400" b="1">
              <a:solidFill>
                <a:srgbClr val="F5670F"/>
              </a:solidFill>
              <a:latin typeface="微软雅黑" panose="020B0502040204020203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单元(纯函数) / 集成(pipeline端到端) / 回归(pytest -q)</a:t>
            </a:r>
            <a:endParaRPr sz="1300" b="0">
              <a:solidFill>
                <a:srgbClr val="FF0000"/>
              </a:solidFill>
              <a:latin typeface="微软雅黑" panose="020B0502040204020203" charset="-122"/>
            </a:endParaRPr>
          </a:p>
          <a:p>
            <a:r>
              <a:rPr sz="1300" b="0">
                <a:solidFill>
                  <a:srgbClr val="010328"/>
                </a:solidFill>
                <a:latin typeface="微软雅黑"/>
              </a:rPr>
              <a:t>缺陷记录: 本轮无遗留；退出码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 panose="020B0502040204020203" charset="-122"/>
              </a:rPr>
              <a:t>两江智造集团 · Python程序设计（项目实战）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10</a:t>
            </a:r>
            <a:endParaRPr sz="1000" b="0">
              <a:solidFill>
                <a:srgbClr val="8A97B5"/>
              </a:solidFill>
              <a:latin typeface="微软雅黑" panose="020B0502040204020203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