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6" r:id="rId3"/>
    <p:sldId id="374" r:id="rId73"/>
    <p:sldId id="257" r:id="rId5"/>
    <p:sldId id="259" r:id="rId6"/>
    <p:sldId id="260" r:id="rId7"/>
    <p:sldId id="261" r:id="rId8"/>
    <p:sldId id="263" r:id="rId9"/>
    <p:sldId id="264" r:id="rId10"/>
    <p:sldId id="266" r:id="rId11"/>
    <p:sldId id="267" r:id="rId12"/>
    <p:sldId id="271" r:id="rId13"/>
    <p:sldId id="273" r:id="rId14"/>
    <p:sldId id="274" r:id="rId15"/>
    <p:sldId id="275" r:id="rId16"/>
    <p:sldId id="276" r:id="rId17"/>
    <p:sldId id="277" r:id="rId18"/>
    <p:sldId id="278" r:id="rId19"/>
    <p:sldId id="280" r:id="rId20"/>
    <p:sldId id="281" r:id="rId21"/>
    <p:sldId id="282" r:id="rId22"/>
    <p:sldId id="287" r:id="rId23"/>
    <p:sldId id="289" r:id="rId24"/>
    <p:sldId id="292" r:id="rId25"/>
    <p:sldId id="295" r:id="rId26"/>
    <p:sldId id="298" r:id="rId27"/>
    <p:sldId id="301" r:id="rId28"/>
    <p:sldId id="304" r:id="rId29"/>
    <p:sldId id="305" r:id="rId30"/>
    <p:sldId id="309" r:id="rId31"/>
    <p:sldId id="311" r:id="rId32"/>
    <p:sldId id="312" r:id="rId33"/>
    <p:sldId id="368" r:id="rId34"/>
    <p:sldId id="369" r:id="rId35"/>
    <p:sldId id="370" r:id="rId36"/>
    <p:sldId id="316" r:id="rId37"/>
    <p:sldId id="317" r:id="rId38"/>
    <p:sldId id="318" r:id="rId39"/>
    <p:sldId id="377" r:id="rId76"/>
    <p:sldId id="378" r:id="rId77"/>
    <p:sldId id="319" r:id="rId40"/>
    <p:sldId id="320" r:id="rId41"/>
    <p:sldId id="322" r:id="rId42"/>
    <p:sldId id="324" r:id="rId43"/>
    <p:sldId id="326" r:id="rId44"/>
    <p:sldId id="328" r:id="rId45"/>
    <p:sldId id="329" r:id="rId46"/>
    <p:sldId id="331" r:id="rId47"/>
    <p:sldId id="333" r:id="rId48"/>
    <p:sldId id="367" r:id="rId49"/>
    <p:sldId id="335" r:id="rId50"/>
    <p:sldId id="336" r:id="rId51"/>
    <p:sldId id="371" r:id="rId70"/>
    <p:sldId id="372" r:id="rId71"/>
    <p:sldId id="373" r:id="rId72"/>
    <p:sldId id="337" r:id="rId52"/>
    <p:sldId id="338" r:id="rId53"/>
    <p:sldId id="339" r:id="rId54"/>
    <p:sldId id="341" r:id="rId55"/>
    <p:sldId id="342" r:id="rId56"/>
    <p:sldId id="343" r:id="rId57"/>
    <p:sldId id="345" r:id="rId58"/>
    <p:sldId id="346" r:id="rId59"/>
    <p:sldId id="347" r:id="rId60"/>
    <p:sldId id="354" r:id="rId61"/>
    <p:sldId id="359" r:id="rId62"/>
    <p:sldId id="360" r:id="rId63"/>
    <p:sldId id="361" r:id="rId64"/>
    <p:sldId id="365" r:id="rId65"/>
    <p:sldId id="366" r:id="rId66"/>
    <p:sldId id="375" r:id="rId74"/>
    <p:sldId id="376" r:id="rId75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slide" Target="slides/slide25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slide" Target="slides/slide31.xml"/><Relationship Id="rId34" Type="http://schemas.openxmlformats.org/officeDocument/2006/relationships/slide" Target="slides/slide32.xml"/><Relationship Id="rId35" Type="http://schemas.openxmlformats.org/officeDocument/2006/relationships/slide" Target="slides/slide33.xml"/><Relationship Id="rId36" Type="http://schemas.openxmlformats.org/officeDocument/2006/relationships/slide" Target="slides/slide34.xml"/><Relationship Id="rId37" Type="http://schemas.openxmlformats.org/officeDocument/2006/relationships/slide" Target="slides/slide35.xml"/><Relationship Id="rId38" Type="http://schemas.openxmlformats.org/officeDocument/2006/relationships/slide" Target="slides/slide36.xml"/><Relationship Id="rId39" Type="http://schemas.openxmlformats.org/officeDocument/2006/relationships/slide" Target="slides/slide37.xml"/><Relationship Id="rId40" Type="http://schemas.openxmlformats.org/officeDocument/2006/relationships/slide" Target="slides/slide38.xml"/><Relationship Id="rId41" Type="http://schemas.openxmlformats.org/officeDocument/2006/relationships/slide" Target="slides/slide39.xml"/><Relationship Id="rId42" Type="http://schemas.openxmlformats.org/officeDocument/2006/relationships/slide" Target="slides/slide40.xml"/><Relationship Id="rId43" Type="http://schemas.openxmlformats.org/officeDocument/2006/relationships/slide" Target="slides/slide41.xml"/><Relationship Id="rId44" Type="http://schemas.openxmlformats.org/officeDocument/2006/relationships/slide" Target="slides/slide42.xml"/><Relationship Id="rId45" Type="http://schemas.openxmlformats.org/officeDocument/2006/relationships/slide" Target="slides/slide43.xml"/><Relationship Id="rId46" Type="http://schemas.openxmlformats.org/officeDocument/2006/relationships/slide" Target="slides/slide44.xml"/><Relationship Id="rId47" Type="http://schemas.openxmlformats.org/officeDocument/2006/relationships/slide" Target="slides/slide45.xml"/><Relationship Id="rId48" Type="http://schemas.openxmlformats.org/officeDocument/2006/relationships/slide" Target="slides/slide46.xml"/><Relationship Id="rId49" Type="http://schemas.openxmlformats.org/officeDocument/2006/relationships/slide" Target="slides/slide47.xml"/><Relationship Id="rId50" Type="http://schemas.openxmlformats.org/officeDocument/2006/relationships/slide" Target="slides/slide48.xml"/><Relationship Id="rId51" Type="http://schemas.openxmlformats.org/officeDocument/2006/relationships/slide" Target="slides/slide49.xml"/><Relationship Id="rId52" Type="http://schemas.openxmlformats.org/officeDocument/2006/relationships/slide" Target="slides/slide53.xml"/><Relationship Id="rId53" Type="http://schemas.openxmlformats.org/officeDocument/2006/relationships/slide" Target="slides/slide54.xml"/><Relationship Id="rId54" Type="http://schemas.openxmlformats.org/officeDocument/2006/relationships/slide" Target="slides/slide55.xml"/><Relationship Id="rId55" Type="http://schemas.openxmlformats.org/officeDocument/2006/relationships/slide" Target="slides/slide56.xml"/><Relationship Id="rId56" Type="http://schemas.openxmlformats.org/officeDocument/2006/relationships/slide" Target="slides/slide57.xml"/><Relationship Id="rId57" Type="http://schemas.openxmlformats.org/officeDocument/2006/relationships/slide" Target="slides/slide58.xml"/><Relationship Id="rId58" Type="http://schemas.openxmlformats.org/officeDocument/2006/relationships/slide" Target="slides/slide59.xml"/><Relationship Id="rId59" Type="http://schemas.openxmlformats.org/officeDocument/2006/relationships/slide" Target="slides/slide60.xml"/><Relationship Id="rId60" Type="http://schemas.openxmlformats.org/officeDocument/2006/relationships/slide" Target="slides/slide61.xml"/><Relationship Id="rId61" Type="http://schemas.openxmlformats.org/officeDocument/2006/relationships/slide" Target="slides/slide62.xml"/><Relationship Id="rId62" Type="http://schemas.openxmlformats.org/officeDocument/2006/relationships/slide" Target="slides/slide63.xml"/><Relationship Id="rId63" Type="http://schemas.openxmlformats.org/officeDocument/2006/relationships/slide" Target="slides/slide64.xml"/><Relationship Id="rId64" Type="http://schemas.openxmlformats.org/officeDocument/2006/relationships/slide" Target="slides/slide65.xml"/><Relationship Id="rId65" Type="http://schemas.openxmlformats.org/officeDocument/2006/relationships/slide" Target="slides/slide66.xml"/><Relationship Id="rId66" Type="http://schemas.openxmlformats.org/officeDocument/2006/relationships/slide" Target="slides/slide67.xml"/><Relationship Id="rId67" Type="http://schemas.openxmlformats.org/officeDocument/2006/relationships/presProps" Target="presProps.xml"/><Relationship Id="rId68" Type="http://schemas.openxmlformats.org/officeDocument/2006/relationships/viewProps" Target="viewProps.xml"/><Relationship Id="rId69" Type="http://schemas.openxmlformats.org/officeDocument/2006/relationships/tableStyles" Target="tableStyles.xml"/><Relationship Id="rId70" Type="http://schemas.openxmlformats.org/officeDocument/2006/relationships/slide" Target="slides/slide50.xml"/><Relationship Id="rId71" Type="http://schemas.openxmlformats.org/officeDocument/2006/relationships/slide" Target="slides/slide51.xml"/><Relationship Id="rId72" Type="http://schemas.openxmlformats.org/officeDocument/2006/relationships/slide" Target="slides/slide52.xml"/><Relationship Id="rId73" Type="http://schemas.openxmlformats.org/officeDocument/2006/relationships/slide" Target="slides/slide2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slide" Target="../slides/slide53.xml"/><Relationship Id="rId2" Type="http://schemas.openxmlformats.org/officeDocument/2006/relationships/notesMaster" Target="../notesMasters/notesMaster1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slide" Target="../slides/slide54.xml"/><Relationship Id="rId2" Type="http://schemas.openxmlformats.org/officeDocument/2006/relationships/notesMaster" Target="../notesMasters/notesMaster1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slide" Target="../slides/slide55.xml"/><Relationship Id="rId2" Type="http://schemas.openxmlformats.org/officeDocument/2006/relationships/notesMaster" Target="../notesMasters/notesMaster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slide" Target="../slides/slide56.xml"/><Relationship Id="rId2" Type="http://schemas.openxmlformats.org/officeDocument/2006/relationships/notesMaster" Target="../notesMasters/notesMaster1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slide" Target="../slides/slide57.xml"/><Relationship Id="rId2" Type="http://schemas.openxmlformats.org/officeDocument/2006/relationships/notesMaster" Target="../notesMasters/notesMaster1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slide" Target="../slides/slide58.xml"/><Relationship Id="rId2" Type="http://schemas.openxmlformats.org/officeDocument/2006/relationships/notesMaster" Target="../notesMasters/notesMaster1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slide" Target="../slides/slide59.xml"/><Relationship Id="rId2" Type="http://schemas.openxmlformats.org/officeDocument/2006/relationships/notesMaster" Target="../notesMasters/notesMaster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slide" Target="../slides/slide60.xml"/><Relationship Id="rId2" Type="http://schemas.openxmlformats.org/officeDocument/2006/relationships/notesMaster" Target="../notesMasters/notesMaster1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slide" Target="../slides/slide61.xml"/><Relationship Id="rId2" Type="http://schemas.openxmlformats.org/officeDocument/2006/relationships/notesMaster" Target="../notesMasters/notesMaster1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slide" Target="../slides/slide62.xml"/><Relationship Id="rId2" Type="http://schemas.openxmlformats.org/officeDocument/2006/relationships/notesMaster" Target="../notesMasters/notesMaster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slide" Target="../slides/slide63.xml"/><Relationship Id="rId2" Type="http://schemas.openxmlformats.org/officeDocument/2006/relationships/notesMaster" Target="../notesMasters/notesMaster1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slide" Target="../slides/slide64.xml"/><Relationship Id="rId2" Type="http://schemas.openxmlformats.org/officeDocument/2006/relationships/notesMaster" Target="../notesMasters/notesMaster1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slide" Target="../slides/slide65.xml"/><Relationship Id="rId2" Type="http://schemas.openxmlformats.org/officeDocument/2006/relationships/notesMaster" Target="../notesMasters/notesMaster1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slide" Target="../slides/slide66.xml"/><Relationship Id="rId2" Type="http://schemas.openxmlformats.org/officeDocument/2006/relationships/notesMaster" Target="../notesMasters/notesMaster1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slide" Target="../slides/slide67.xml"/><Relationship Id="rId2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开场30秒：本次课《给产线数据安个家》，80分钟＝2课时×40分钟。课前已发工单+starter+微课知识卡，资讯·计划线上完成。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议程页30秒：指读六个部分的分钟归属，强调'资讯计划课前已完成'；告诉学生'每次课都知道现在在哪一步、还剩多少时间'。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过渡页：一句话点明本部分——先明确这门课'为什么学、学了去哪'。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念'课程性质'一行即可，重点指读'对接证书'与'课程衔接'，让学生知道本课与前后课程的关系（30秒）。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知识地图：先见森林后见树木。指着四条分支预告本课路线，不展开细讲（40秒）。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分支详解二：强调'技能=今天的验收口径'，评价权重即打分表。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课证赛岗对照：说明本课工单在证书/竞赛中的对应考点，30秒。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流程预告：强调'资讯·计划已在课前完成'，课堂从决策直接开始。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决策10→实施30→检查5→实施25→评价10；评价环节不压缩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PRIMM的Predict：先让学生猜，再揭晓。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课前测讲评：随机点2名学生说答案，只追问'为什么'，不展开讲；错得多的题记到'检查'环节再回收。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预习检查页：左栏布置下次课教材预习（下次quiz从中出）；右栏抽查上次课检查知识点——随机2人白板/口述，答对记过程分。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逐题精讲：只讲错得最多的题——其余对答案即可。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情境说书（30秒，口头讲，不必逐字念）：数据落了地却没有家。吴工：'给数据建个仓库吧——设备、测点、记录、告警四张表。'——工单P5：ER设计+ORM开发+索引优化。</a:t>
            </a:r>
          </a:p>
          <a:p>
            <a:r>
              <a:t>讲完抛出问题：'如果是你，第一步先干什么？'——自然过渡到决策环节。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剧情拆解：把情境页的故事拆成三要素，让学生明确'解决什么'。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目标对照页：逐维读目标，指读达标口径=评分表，目标可测可评。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知识精讲开始：每条知识对应一张大卡，讲法'先例后理'。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详解B1·仓库模式：先读定义→场景为什么用它→看代码实例→扩展给A层。C/D层掌握前三格，A层加扩展格。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详解B2·外键与数据字典：先读定义→场景为什么用它→看代码实例→扩展给A层。C/D层掌握前三格，A层加扩展格。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详解B3·ORM声明式：先读定义→场景为什么用它→看代码实例→扩展给A层。C/D层掌握前三格，A层加扩展格。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详解B4·bulk批量插入：先读定义→场景为什么用它→看代码实例→扩展给A层。C/D层掌握前三格，A层加扩展格。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详解B5·N+1陷阱：先读定义→场景为什么用它→看代码实例→扩展给A层。C/D层掌握前三格，A层加扩展格。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详解B6·索引与EXPLAIN：先读定义→场景为什么用它→看代码实例→扩展给A层。C/D层掌握前三格，A层加扩展格。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应用页6：把知识点放回产线场景——先看代码输出，再回看定义，强化'学以致用'。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技能点＝今天'做完你应该会'，逐条对应工单步骤与评分点。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实施内容清单：本页条目与工单步骤一一对应，逐项过一遍即可，细节留到代码演示。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现场演示《ORM模型+查询》：三步走——先整段跑通看结果，再逐行讲关键语句，最后现场改一个参数看输出变化（演10分钟的核心素材）。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进入实施：先决策、再领工单、按层执行。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决策矩阵用法（10分钟）：组内对备选方案打分→选型→把结论和理由写进工单'决策记录'栏；教师抽查2组口头说理由（决策追责）。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方案对比：三问框架通用——以后每个决策环节都用这三问。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工单发布话术：'数字化转型办公室发来工单P5《产线数据仓库与ORM》，及格线是4，优秀线看A层标准'——念完发starter。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D层·学徒：跟做保底。教师或屏幕领做，做完即达标，绝不留白。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C层·操作员：基础完成。按工单步骤独立完成，卡壳先查错误速查表。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B层·组长：标准达成。全部功能+规范，完成后帮带同组D/C层。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A层·师傅：进阶拓展。完成拓展任务并准备2分钟展示；费曼式讲给D层听。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避坑清单：每条问'为什么会踩'，点名学生解释，把'注意'变成'知道为什么注意'。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错误速查：现场演示第一条——制造「N+1慢」，带着学生按'现象→原因→解决'三步排查。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四层总览：一页看全四层目标与达标线——学生选层前先看全局。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最后一查：五项90秒自查——退回率最低的五个点。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收尾5分钟检查+10分钟评价。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三层质检组织：自查明细→同伴互查（签字）→教师抽查2组；查出的缺陷当场修，修不完记入课后任务。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提交强调：文件命名'学号_姓名_工单号.zip'，24小时内教师在平台反馈评分。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教材衔接：教材：Python程序设计项目化教程（活页式）（任越美 李垒 李江岱 主编，978-7-313-30507-7）— 项目4 | 预习知识点：SQLAlchemy ORM；ER设计；批量写入与索引 | 课中检查知识点：四表仓库可查询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素养页：结合本课内容点一个真实案例（如数据脱敏、代码抄袭后果），30秒即可。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评分细则：四级量表逐行读——学生知道自己'到哪条线得多少分'。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FAQ三题：覆盖装包/启动/规范三大高频问题——贴在工单背面。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资源导航：五级求助顺序=工单→starter→指南→notebook→教师。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拓展部分：A层必看，B层选看，C/D层课后看——差异化作业。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产业案例：讲一个真实岗位场景，把课堂技能挂到职业坐标系。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思政页：结合本课内容点一个真实案例，30秒即可，不贴标签。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图谱回顾：回到开课的地图——现在每条分支都走过了。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多解法页：同一工单三种深度——层不同，解法不同，都算对。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自测答案：逐题讲'为什么'——错题定位到知识卡编号。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一图流总结：五句话收束全天——知识/技能/交付/习惯/明日。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下课提醒：关机→椅归位→带走工单；教师课后24h内完成反馈。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下次课预告：布置课前微课知识卡与导学单，形成学习闭环。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70402020209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70402020209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70402020209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70402020209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70402020209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7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7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7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70402020209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78308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783080"/>
            <a:ext cx="12192000" cy="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250000"/>
            <a:ext cx="10792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微软雅黑" panose="020B0502040204020203" charset="-122"/>
              </a:rPr>
              <a:t>Python程序设计（项目实战）</a:t>
            </a:r>
            <a:endParaRPr sz="2200" b="0">
              <a:solidFill>
                <a:srgbClr val="FFFFF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BBC6E6"/>
                </a:solidFill>
                <a:latin typeface="微软雅黑" panose="020B0502040204020203" charset="-122"/>
              </a:rPr>
              <a:t>◆ 重庆两江智造集团 · 数字化转型办公室</a:t>
            </a:r>
            <a:endParaRPr sz="13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700000" y="2263140"/>
            <a:ext cx="59920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400" b="1">
                <a:solidFill>
                  <a:srgbClr val="010328"/>
                </a:solidFill>
                <a:latin typeface="微软雅黑" panose="020B0502040204020203" charset="-122"/>
              </a:rPr>
              <a:t>给产线数据安个家</a:t>
            </a:r>
            <a:endParaRPr sz="34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00000" y="3771900"/>
            <a:ext cx="59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0">
                <a:solidFill>
                  <a:srgbClr val="0545E8"/>
                </a:solidFill>
                <a:latin typeface="微软雅黑" panose="020B0502040204020203" charset="-122"/>
              </a:rPr>
              <a:t>第七周 · 第13次课（2课时 · 80分钟）</a:t>
            </a:r>
            <a:endParaRPr sz="1800" b="0">
              <a:solidFill>
                <a:srgbClr val="0545E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双创中心302实训室  ·  理实一体  ·  配套：分层工单+starter  ·  本课主用：PyCharm CE + ProcessOn（ER图设计）+ Git/GitHub（每周提交）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pic>
        <p:nvPicPr>
          <p:cNvPr id="7" name="Picture 6" descr="W7_场景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00000" y="2300000"/>
            <a:ext cx="4100000" cy="30750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00000" y="5623560"/>
            <a:ext cx="1500000" cy="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0000" y="5760720"/>
            <a:ext cx="10792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44546A"/>
                </a:solidFill>
                <a:latin typeface="微软雅黑" panose="020B0502040204020203" charset="-122"/>
              </a:rPr>
              <a:t>重庆现代制造职业学院  智能控制学院 · 工业互联网应用专业</a:t>
            </a:r>
            <a:endParaRPr sz="12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安全与合规警示（操作前必读）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1. 上机前确认本工位电源开关与急停位置，确认设备处于安全状态。</a:t>
            </a:r>
          </a:p>
          <a:p>
            <a:pPr>
              <a:spcAft>
                <a:spcPts val="1000"/>
              </a:spcAft>
            </a:pPr>
            <a:r>
              <a:rPr sz="1800"/>
              <a:t>2. 涉及接线的操作一律先断电、后验电、再作业，禁止带电插拔。</a:t>
            </a:r>
          </a:p>
          <a:p>
            <a:pPr>
              <a:spcAft>
                <a:spcPts val="1000"/>
              </a:spcAft>
            </a:pPr>
            <a:r>
              <a:rPr sz="1800"/>
              <a:t>3. 身体任何部位不进入设备运动/散热区域，长发束起，不佩戴悬垂饰物。</a:t>
            </a:r>
          </a:p>
          <a:p>
            <a:pPr>
              <a:spcAft>
                <a:spcPts val="1000"/>
              </a:spcAft>
            </a:pPr>
            <a:r>
              <a:rPr sz="1800"/>
              <a:t>4. 调试程序前先静态检查、再低速小样本试运行，确认无异常后放大规模。</a:t>
            </a:r>
          </a:p>
          <a:p>
            <a:pPr>
              <a:spcAft>
                <a:spcPts val="1000"/>
              </a:spcAft>
            </a:pPr>
            <a:r>
              <a:rPr sz="1800"/>
              <a:t>5. 任何不确定或异常情况，立即停止操作并报告指导教师，不擅自处置。</a:t>
            </a:r>
          </a:p>
          <a:p>
            <a:r>
              <a:rPr sz="1400" b="1"/>
              <a:t>以上任一条违反，本次任务按课程标准「安全规范一票否决」条款记 0 分并中止实训。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本次课议程（六部分 · 80分钟）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2040204020203" charset="-122"/>
              </a:rPr>
              <a:t>01</a:t>
            </a:r>
            <a:endParaRPr sz="2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880000" y="200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2040204020203" charset="-122"/>
              </a:rPr>
              <a:t>课程定位</a:t>
            </a:r>
            <a:endParaRPr sz="15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2040204020203" charset="-122"/>
              </a:rPr>
              <a:t>课前已读</a:t>
            </a:r>
            <a:endParaRPr sz="12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88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性质·岗位·证书：为什么学这门课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6270000" y="185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0000" y="185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70000" y="223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2040204020203" charset="-122"/>
              </a:rPr>
              <a:t>02</a:t>
            </a:r>
            <a:endParaRPr sz="2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7390000" y="2000000"/>
            <a:ext cx="3900000" cy="5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2040204020203" charset="-122"/>
              </a:rPr>
              <a:t>课堂流程</a:t>
            </a:r>
            <a:endParaRPr sz="15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2040204020203" charset="-122"/>
              </a:rPr>
              <a:t>约2′</a:t>
            </a:r>
            <a:endParaRPr sz="12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390000" y="261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80分钟时间盒与ABCD分层节奏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6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2040204020203" charset="-122"/>
              </a:rPr>
              <a:t>03</a:t>
            </a:r>
            <a:endParaRPr sz="2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188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2040204020203" charset="-122"/>
              </a:rPr>
              <a:t>目标与资讯·情境</a:t>
            </a:r>
            <a:endParaRPr sz="15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2040204020203" charset="-122"/>
              </a:rPr>
              <a:t>约5′</a:t>
            </a:r>
            <a:endParaRPr sz="12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88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带着目标进课堂+两江智造本课剧情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6270000" y="347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70000" y="347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70000" y="385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2040204020203" charset="-122"/>
              </a:rPr>
              <a:t>04</a:t>
            </a:r>
            <a:endParaRPr sz="2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7390000" y="362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2040204020203" charset="-122"/>
              </a:rPr>
              <a:t>知识精讲</a:t>
            </a:r>
            <a:endParaRPr sz="15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2040204020203" charset="-122"/>
              </a:rPr>
              <a:t>约15′</a:t>
            </a:r>
            <a:endParaRPr sz="12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7390000" y="423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基础知识大卡+代码演示（先例后理）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76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6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2040204020203" charset="-122"/>
              </a:rPr>
              <a:t>05</a:t>
            </a:r>
            <a:endParaRPr sz="2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188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2040204020203" charset="-122"/>
              </a:rPr>
              <a:t>任务实施</a:t>
            </a:r>
            <a:endParaRPr sz="15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2040204020203" charset="-122"/>
              </a:rPr>
              <a:t>六步法核心</a:t>
            </a:r>
            <a:endParaRPr sz="12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188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工单发布·分层执行·避坑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6270000" y="5090000"/>
            <a:ext cx="5150000" cy="1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270000" y="5090000"/>
            <a:ext cx="950000" cy="14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70000" y="5470000"/>
            <a:ext cx="95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FFFFF"/>
                </a:solidFill>
                <a:latin typeface="微软雅黑" panose="020B0502040204020203" charset="-122"/>
              </a:rPr>
              <a:t>06</a:t>
            </a:r>
            <a:endParaRPr sz="2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7390000" y="5240000"/>
            <a:ext cx="39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10328"/>
                </a:solidFill>
                <a:latin typeface="微软雅黑" panose="020B0502040204020203" charset="-122"/>
              </a:rPr>
              <a:t>检查与评价</a:t>
            </a:r>
            <a:endParaRPr sz="15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5670F"/>
                </a:solidFill>
                <a:latin typeface="微软雅黑" panose="020B0502040204020203" charset="-122"/>
              </a:rPr>
              <a:t>约15′</a:t>
            </a:r>
            <a:endParaRPr sz="12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7390000" y="5850000"/>
            <a:ext cx="3900000" cy="5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三层质检·当堂评分·课后任务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699675" y="1415415"/>
            <a:ext cx="10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 panose="020B0502040204020203" charset="-122"/>
              </a:rPr>
              <a:t>资讯·计划已于课前线上完成——课堂从决策/演示直接开始</a:t>
            </a:r>
            <a:endParaRPr sz="1200" b="0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2040204020203" charset="-122"/>
              </a:rPr>
              <a:t>01</a:t>
            </a:r>
            <a:endParaRPr sz="66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2040204020203" charset="-122"/>
              </a:rPr>
              <a:t>课程定位</a:t>
            </a:r>
            <a:endParaRPr sz="3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2040204020203" charset="-122"/>
              </a:rPr>
              <a:t>本课在课程体系中的位置（课程标准摘录）</a:t>
            </a:r>
            <a:endParaRPr sz="16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2040204020203" charset="-122"/>
              </a:rPr>
              <a:t>01</a:t>
            </a:r>
            <a:endParaRPr sz="9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课程定位：Python程序设计（项目实战）（课程标准摘录）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626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26000" y="1880000"/>
            <a:ext cx="2652500" cy="5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panose="020B0502040204020203" charset="-122"/>
              </a:rPr>
              <a:t>课程性质</a:t>
            </a:r>
            <a:endParaRPr sz="14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56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自包含工程应用课：C语言底子直接上工业项目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388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388500" y="1880000"/>
            <a:ext cx="2652500" cy="56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8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panose="020B0502040204020203" charset="-122"/>
              </a:rPr>
              <a:t>面向岗位</a:t>
            </a:r>
            <a:endParaRPr sz="14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3518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数据工程师、数据分析、AI应用、采集技术员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61510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51000" y="1880000"/>
            <a:ext cx="2652500" cy="56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510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panose="020B0502040204020203" charset="-122"/>
              </a:rPr>
              <a:t>对接证书</a:t>
            </a:r>
            <a:endParaRPr sz="14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62810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Python开发、数据应用与服务（1+X）、AI应用实践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913500" y="1880000"/>
            <a:ext cx="2652500" cy="427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913500" y="1880000"/>
            <a:ext cx="2652500" cy="56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13500" y="2030000"/>
            <a:ext cx="2652500" cy="32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50" b="1">
                <a:solidFill>
                  <a:srgbClr val="FFFFFF"/>
                </a:solidFill>
                <a:latin typeface="微软雅黑" panose="020B0502040204020203" charset="-122"/>
              </a:rPr>
              <a:t>课程衔接</a:t>
            </a:r>
            <a:endParaRPr sz="14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9043500" y="2540000"/>
            <a:ext cx="2392500" cy="349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前置仅需C语言 → 本课(第1-8周) → 后：毕业设计/平台实习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本课知识图谱（先见森林，再见树木）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给产线数据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安个家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5条分支导览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基础知识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设备1-N测点1-N记录；告警挂设备——应用：见工单starter与教师参考实现 · 外键=关系表达；数据字典逐字段——应用：见工单starter与教师参考实现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继续夯实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ORM声明式+relationship——应用：见工单starter与教师参考实现 · bulk批量插入快10倍——应用：见工单starter与教师参考实现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技能点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四表ER设计与ORM建模——应用：见工单starter与教师参考实现 · 批量事务入库——应用：见工单starter与教师参考实现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分层任务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D跟做保底 · C基础完成 · B标准达成 · A进阶拓展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cxnSp>
        <p:nvCxnSpPr>
          <p:cNvPr id="28" name="Connector 27"/>
          <p:cNvCxnSpPr/>
          <p:nvPr/>
        </p:nvCxnSpPr>
        <p:spPr>
          <a:xfrm>
            <a:off x="2400000" y="3350000"/>
            <a:ext cx="1050000" cy="237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Rectangle 28"/>
          <p:cNvSpPr/>
          <p:nvPr/>
        </p:nvSpPr>
        <p:spPr>
          <a:xfrm>
            <a:off x="3500000" y="533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500000" y="533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60000" y="555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课堂评价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5140000" y="542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功能40% · 技术25% · 规范20% · 素养15%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2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知识地图分支详解（二）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技能线：四表ER设计与ORM建模——应用：见工单starter与教师参考实现；批量事务入库——应用：见工单starter与教师参考实现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分层任务线：D跟做→C独立→B帮带→A拓展（每4周动态升降）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课堂评价线：功能40%+技术25%+规范20%+素养15%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三条线闭环：技能靠任务练，任务按评价收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7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岗课赛证对照（本课坐标）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岗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数字化转型办公室：数据工程师、数据分析工程师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课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P5《产线数据仓库与ORM》——本课工单即考核单元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证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Python开发职业技能等级证书（工信部）——工程模板/数据处理对应中级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赛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世界职业院校技能大赛（人工智能赛道）数据采集/处理赛项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8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2040204020203" charset="-122"/>
              </a:rPr>
              <a:t>02</a:t>
            </a:r>
            <a:endParaRPr sz="66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2040204020203" charset="-122"/>
              </a:rPr>
              <a:t>课堂流程</a:t>
            </a:r>
            <a:endParaRPr sz="3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2040204020203" charset="-122"/>
              </a:rPr>
              <a:t>80分钟时间盒与个人节奏</a:t>
            </a:r>
            <a:endParaRPr sz="16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2040204020203" charset="-122"/>
              </a:rPr>
              <a:t>02</a:t>
            </a:r>
            <a:endParaRPr sz="9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9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本次课流程（80分钟时间盒）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190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190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30000" y="200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资讯·计划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700000" y="200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2040204020203" charset="-122"/>
              </a:rPr>
              <a:t>课前</a:t>
            </a:r>
            <a:endParaRPr sz="16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4300000" y="200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线上导学单+预习自测（已完成的打√）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00000" y="269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0000" y="269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30000" y="279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决策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700000" y="279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2040204020203" charset="-122"/>
              </a:rPr>
              <a:t>10min</a:t>
            </a:r>
            <a:endParaRPr sz="16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300000" y="279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备选方案对比 → 决策矩阵打分 → 结论公示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00000" y="348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000" y="348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0000" y="358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实施一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2700000" y="358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2040204020203" charset="-122"/>
              </a:rPr>
              <a:t>30min</a:t>
            </a:r>
            <a:endParaRPr sz="16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300000" y="358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骨架贯通：体验→应用，完成工单核心功能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800000" y="427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0000" y="427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0000" y="437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检查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2700000" y="437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2040204020203" charset="-122"/>
              </a:rPr>
              <a:t>5min</a:t>
            </a:r>
            <a:endParaRPr sz="16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4300000" y="437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三层质检：自检—互检—师查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800000" y="5060000"/>
            <a:ext cx="10000000" cy="68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0000" y="5060000"/>
            <a:ext cx="1700000" cy="6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0000" y="516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实施二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8" name="TextBox 27"/>
          <p:cNvSpPr txBox="1"/>
          <p:nvPr/>
        </p:nvSpPr>
        <p:spPr>
          <a:xfrm>
            <a:off x="2700000" y="516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2040204020203" charset="-122"/>
              </a:rPr>
              <a:t>25min</a:t>
            </a:r>
            <a:endParaRPr sz="16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4300000" y="516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优化迭代：冲优秀标准/拓展任务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800000" y="5850000"/>
            <a:ext cx="10000000" cy="68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00000" y="5850000"/>
            <a:ext cx="1700000" cy="68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0000" y="5950000"/>
            <a:ext cx="16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评价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700000" y="5950000"/>
            <a:ext cx="15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010328"/>
                </a:solidFill>
                <a:latin typeface="微软雅黑" panose="020B0502040204020203" charset="-122"/>
              </a:rPr>
              <a:t>10min</a:t>
            </a:r>
            <a:endParaRPr sz="16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4300000" y="5950000"/>
            <a:ext cx="64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D/C/B/A量表评分 + 课后任务布置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00000" y="1234440"/>
            <a:ext cx="10000000" cy="2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>
                <a:solidFill>
                  <a:srgbClr val="0475B6"/>
                </a:solidFill>
                <a:latin typeface="微软雅黑" panose="020B0502040204020203" charset="-122"/>
              </a:rPr>
              <a:t>每课时40分钟 · 共80分钟（六步法课堂化）</a:t>
            </a:r>
            <a:endParaRPr sz="1200" b="0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10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2040204020203" charset="-122"/>
              </a:rPr>
              <a:t>03</a:t>
            </a:r>
            <a:endParaRPr sz="66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2040204020203" charset="-122"/>
              </a:rPr>
              <a:t>目标与资讯</a:t>
            </a:r>
            <a:endParaRPr sz="3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2040204020203" charset="-122"/>
              </a:rPr>
              <a:t>带着目标进课堂（Predict·预测）</a:t>
            </a:r>
            <a:endParaRPr sz="16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2040204020203" charset="-122"/>
              </a:rPr>
              <a:t>03</a:t>
            </a:r>
            <a:endParaRPr sz="9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11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10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知识目标：怎么学·怎么证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目标：掌握关系数据库建模方法与SQL核心语法；掌握SQLAlchemy ORM的模型定义与查询；理解索引与查询优化原理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怎么学：知识卡先例后理→快查核对→应用页回到产线场景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怎么证：课前quiz+随堂自测+工单'技术质量25%'项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达标线：能复述定义+能说出产线例子=过关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12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11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能力目标：怎么练·怎么证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目标：能够完成4表ER设计并建库；能够用ORM实现采集数据入库与统计查询；能够对比直写/批量写性能并优化。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怎么练：starter跟做（D）→独立完成（C）→规范+帮带（B）→拓展（A）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怎么证：工单'功能40%'全项+运行截图贴过程记录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达标线：代码能跑+输出符合工单样例=过关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13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12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素质目标：怎么养·怎么证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目标：树立“数据资产”管理意识，培养先设计后编码的工程规范化习惯。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怎么养：规范命名/及时提交/报错必究——每个工单都在练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怎么证：Git提交历史（每周≥1次）+工单'素养15%'项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达标线：提交记录连续+命名规范=过关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14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课前资讯回顾（六步之“资讯·计划”）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2100000"/>
            <a:ext cx="10600000" cy="17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00000" y="2100000"/>
            <a:ext cx="120000" cy="1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00000" y="2280000"/>
            <a:ext cx="100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5670F"/>
                </a:solidFill>
                <a:latin typeface="微软雅黑" panose="020B0502040204020203" charset="-122"/>
              </a:rPr>
              <a:t>预习快问：</a:t>
            </a:r>
            <a:endParaRPr sz="15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010328"/>
                </a:solidFill>
                <a:latin typeface="微软雅黑" panose="020B0502040204020203" charset="-122"/>
              </a:rPr>
              <a:t>一对多关系在表结构上如何表达？</a:t>
            </a:r>
            <a:endParaRPr sz="16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00000" y="4100000"/>
            <a:ext cx="106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 panose="020B0502040204020203" charset="-122"/>
              </a:rPr>
              <a:t>课前检查：</a:t>
            </a:r>
            <a:endParaRPr sz="1500" b="1">
              <a:solidFill>
                <a:srgbClr val="0545E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44546A"/>
                </a:solidFill>
                <a:latin typeface="微软雅黑" panose="020B0502040204020203" charset="-122"/>
              </a:rPr>
              <a:t>模板仓库已克隆更新；导学单与实施计划已提交平台</a:t>
            </a:r>
            <a:endParaRPr sz="14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15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课前预习与检查（教材衔接 · 上次课回顾）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44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5300000" cy="7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1880000"/>
            <a:ext cx="48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📖 课前预习｜下次课教材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000000" y="2650000"/>
            <a:ext cx="4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《Python程序设计项目化教》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项目4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1000000" y="376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40000" y="3700000"/>
            <a:ext cx="4500000" cy="4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SQLAlchemy ORM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1000000" y="438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240000" y="432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ER设计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1000000" y="5000000"/>
            <a:ext cx="140000" cy="14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40000" y="4940000"/>
            <a:ext cx="4500000" cy="4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批量写入与索引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1800000"/>
            <a:ext cx="5360000" cy="44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1800000"/>
            <a:ext cx="536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1880000"/>
            <a:ext cx="49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✓ 课中检查｜上次课（W6）抽查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600000" y="2800000"/>
            <a:ext cx="900000" cy="46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00000" y="2840000"/>
            <a:ext cx="800000" cy="4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200" b="1">
                <a:solidFill>
                  <a:srgbClr val="FFFFFF"/>
                </a:solidFill>
                <a:latin typeface="微软雅黑" panose="020B0502040204020203" charset="-122"/>
              </a:rPr>
              <a:t>抽查1</a:t>
            </a:r>
            <a:endParaRPr sz="1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7650000" y="2760000"/>
            <a:ext cx="3860000" cy="5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采集率≥95%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6600000" y="3600000"/>
            <a:ext cx="490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150" b="1">
                <a:solidFill>
                  <a:srgbClr val="44546A"/>
                </a:solidFill>
                <a:latin typeface="微软雅黑" panose="020B0502040204020203" charset="-122"/>
              </a:rPr>
              <a:t>抽查方式：随机2人白板演示/口述——答对记过程分</a:t>
            </a:r>
            <a:endParaRPr sz="1150" b="1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16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18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课前测逐题精讲（错得最多的那道）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题目：一对多关系在表结构上如何表达？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正确思路：从'考哪个知识卡'入手——先定位再作答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常见错误：背概念不看场景；看到代码就慌，先读注释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本课回收：这道题的考点会在知识卡X和随堂自测中再次出现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17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任务情境（集团项目案例）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1780000"/>
            <a:ext cx="106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80000"/>
            <a:ext cx="102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2040204020203" charset="-122"/>
              </a:rPr>
              <a:t>◆ 重庆两江智造集团 · 数字化转型办公室</a:t>
            </a:r>
            <a:endParaRPr sz="1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00000" y="2580000"/>
            <a:ext cx="6300000" cy="3600000"/>
          </a:xfrm>
          <a:prstGeom prst="rect">
            <a:avLst/>
          </a:prstGeom>
          <a:solidFill>
            <a:srgbClr val="F7F9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2740000"/>
            <a:ext cx="5900000" cy="3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50" b="0">
                <a:solidFill>
                  <a:srgbClr val="010328"/>
                </a:solidFill>
                <a:latin typeface="微软雅黑" panose="020B0502040204020203" charset="-122"/>
              </a:rPr>
              <a:t>数据落了地却没有家。吴工：'给数据建个仓库吧——设备、测点、记录、告警四张表。'——工单P5：ER设计+ORM开发+索引优化。</a:t>
            </a:r>
            <a:endParaRPr sz="14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pic>
        <p:nvPicPr>
          <p:cNvPr id="9" name="Picture 8" descr="W7_场景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50000" y="2580000"/>
            <a:ext cx="4150000" cy="3600000"/>
          </a:xfrm>
          <a:prstGeom prst="rect">
            <a:avLst/>
          </a:prstGeom>
        </p:spPr>
      </p:pic>
      <p:sp>
        <p:nvSpPr>
          <p:cNvPr id="10" name="Rectangle 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18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3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剧情拆解：任务 → 冲突 → 你的决策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任务背景：数据落了地却没有家。吴工：'给数据建个仓库吧——设备、测点、记录、告警四张表。'——工单P5：ER设计+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冲突点：产线数据量大/格式杂/时限紧——手工做不完，必须编程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7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6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决策点：先做什么再做什么？数据从哪来？输出给谁看？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带着这三个问题进入知识精讲——每个知识点都是解药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19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三维目标 → 怎么算达标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知识目标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掌握关系数据库建模方法与SQL核心语法；掌握SQLAlchemy ORM的模型定义与查询；理解索引与查询优化原理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能力目标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能够完成4表ER设计并建库；能够用ORM实现采集数据入库与统计查询；能够对比直写/批量写性能并优化。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素质目标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树立“数据资产”管理意识，培养先设计后编码的工程规范化习惯。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达标口径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对应工单P5评分：功能40%+技术25%+规范20%+素养15%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20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2040204020203" charset="-122"/>
              </a:rPr>
              <a:t>04</a:t>
            </a:r>
            <a:endParaRPr sz="66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2040204020203" charset="-122"/>
              </a:rPr>
              <a:t>知识精讲</a:t>
            </a:r>
            <a:endParaRPr sz="3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2040204020203" charset="-122"/>
              </a:rPr>
              <a:t>基础知识 → 详解 → 技能 → 代码</a:t>
            </a:r>
            <a:endParaRPr sz="16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2040204020203" charset="-122"/>
              </a:rPr>
              <a:t>04</a:t>
            </a:r>
            <a:endParaRPr sz="9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21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知识详解：仓库模式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B01 · 仓库模式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仓库模式=档案室三级索引：设备档案1-N测点盒N-记录纸；告警挂档案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时序数据入库的关系建模——三张主表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devices / metrics / alarms 外键关联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误区：一张大宽表塞所有——先画ER再建表，表错后面全返工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22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知识详解：外键与数据字典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B02 · 外键与数据字典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外键=档案间的挂锁引用；数据字典=每格抽屉的说明书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表关系与字段口径的成文契约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metrics.device_id REFERENCES devices.id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误区：字段含义靠口口相传——字典进docs/新同事不看代码也能懂库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23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知识详解：ORM声明式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B03 · ORM声明式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ORM=用Python类'声明'表结构——类即表，字段即属性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SQL写进类定义——类型安全+自动建表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class Metric(Base): __tablename__='metrics'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误区：ORM与裸SQL二选一——CRUD用ORM，复杂聚合报表裸SQL更快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24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知识详解：bulk批量插入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B04 · bulk批量插入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bulk=整车运输vs逐件快递：一次提交万行，快10倍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万级记录必备——逐条insert是性能杀手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session.bulk_save_objects(metrics_rows)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误区：bulk完不commit——数据只在内存，进程一退全没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25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知识详解：N+1陷阱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B05 · N+1陷阱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N+1=点一名学生跑一趟教务处——列表页逐条查询卡顿元凶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查询列表页卡顿的头号原因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session.query(Device).options(joinedload(Device.alarms))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误区：小数据量感觉不到——数据上万秒变分钟，echo=True眼见为实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26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知识详解：索引与EXPLAIN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B06 · 索引与EXPLAIN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定义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索引=书后索引页：查得快但每页写书都要多维护一份——有代价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使用场景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按设备查时段是最高频查询——(device_id,ts)复合索引正覆盖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CREATE INDEX idx_dev_ts ON metrics(device_id, ts)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扩展与优化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误区：索引滥建——写入每行都更新所有索引，写多读少的表别加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27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6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知识应用（6）：索引(device_id,ts)+EXPLA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1750000"/>
            <a:ext cx="10900000" cy="9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0000" y="1900000"/>
            <a:ext cx="10300000" cy="6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◆ 两江智造应用场景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2780000"/>
            <a:ext cx="10900000" cy="175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0000" y="2920000"/>
            <a:ext cx="103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2040204020203" charset="-122"/>
              </a:rPr>
              <a:t>索引(device_id,ts)+EXPLAIN。在两江智造产线上的用法：见工单starter与教师参考实现</a:t>
            </a:r>
            <a:endParaRPr sz="13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28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技能点：做完你应该会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820000" y="200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205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S1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650000" y="206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四表ER设计与ORM建模——应用：见工单starter与教师参考实现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293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20000" y="313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0000" y="318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S2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650000" y="319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批量事务入库——应用：见工单starter与教师参考实现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06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0000" y="426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0000" y="431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S3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1650000" y="432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JOIN聚合统计查询——应用：见工单starter与教师参考实现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190000"/>
            <a:ext cx="10900000" cy="10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0000" y="5390000"/>
            <a:ext cx="600000" cy="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0000" y="5440000"/>
            <a:ext cx="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S4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650000" y="5450000"/>
            <a:ext cx="98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索引优化前后对比取证——应用：见工单starter与教师参考实现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29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1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给产线数据安个家（1）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关系数据库基础：表、主键、外键、索引；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工业数据建模：设备表、测点表、采集记录表、告警事件表的ER设计；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SQL核心：CREATE/INSERT/SELECT/WHERE/GROUP BY/JOIN；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4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3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查询优化初步：EXPLAIN执行计划、索引命中。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30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关键代码：ORM模型+查询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class Rec(Base):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__tablename__ = "records"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id = Column(Integer, primary_key=True)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device_id = Column(Integer, ForeignKey("devices.id"))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ts = Column(DateTime); vib = Column(Float)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print(s.execute(select(Dev.code, func.avg(Rec.vib))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.join(Rec, Rec.device_id==Dev.id).group_by(Dev.code)).all())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31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工程化代码：极简ORM·内存表+倒排索引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46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750000"/>
            <a:ext cx="1090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0000" y="2000000"/>
            <a:ext cx="10300000" cy="4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# core.py —— 零依赖内存表 + 倒排索引（原理可见）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endParaRPr sz="1250"/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class Table: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def __init__(self, name, fields):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if not fields: raise ValueError("未定义字段")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self.name = name; self.fields = list(fields)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self.rows = []; self.indexes = {}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endParaRPr sz="1250"/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def create_index(self, col):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inv = {}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for i, r in enumerate(self.rows):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    inv.setdefault(r[col], set()).add(i)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self.indexes[col] = inv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endParaRPr sz="1250"/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def where(self, **kw):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if len(kw) == 1: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    col, val = next(iter(kw.items()))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    if col in self.indexes: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        return [self.rows[i] for i in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                sorted(self.indexes[col].get(val, set()))]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return [r for r in self.rows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250" b="0">
                <a:solidFill>
                  <a:srgbClr val="D6DEF6"/>
                </a:solidFill>
                <a:latin typeface="微软雅黑" panose="020B0502040204020203" charset="-122"/>
              </a:rPr>
              <a:t>                if all(r.get(k) == v for k, v in kw.items())]</a:t>
            </a:r>
            <a:endParaRPr sz="12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32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工程化设计：索引抉择 —— 空间换时间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B侧 · 索引与EXPLAIN · 数据访问方式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◆ 为什么加索引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where(device_id=..) 频繁查询列上建倒排索引——等值查询从全表扫描降为索引直取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◆ 什么时候建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高频等值查询列建索引；写多读少、筛选性差的列不建——索引本身占空间与维护成本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def test_index_query(tbl):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    assert len(tbl.where(device_id="DEV-02")) == 3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def test_no_index(tbl):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    assert tbl.explain(temp=3.0) == "FULL SCAN"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◆ 设计要点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对账式验证：有索引结果=无索引结果，机制不同但答案一致——先跑对再谈优化</a:t>
            </a:r>
            <a:endParaRPr sz="1300" b="0">
              <a:solidFill>
                <a:srgbClr val="FF0000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33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工程化测试：单测怎么证可靠（GB/T 15532）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109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1830000"/>
            <a:ext cx="10300000" cy="5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FFFFFF"/>
                </a:solidFill>
                <a:latin typeface="微软雅黑" panose="020B0502040204020203" charset="-122"/>
              </a:rPr>
              <a:t>测试计划与报告 · pytest 三层策略</a:t>
            </a:r>
            <a:endParaRPr sz="20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60000" y="265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60000" y="2650000"/>
            <a:ext cx="120000" cy="15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0000" y="275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◆ 纯函数单测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1000000" y="317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复现: python -m pytest -q ｜ 用例≥6 全绿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按 正常/边界/异常 三档覆盖——可靠性是被测出来的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60000" y="4300000"/>
            <a:ext cx="5300000" cy="1500000"/>
          </a:xfrm>
          <a:prstGeom prst="rect">
            <a:avLst/>
          </a:prstGeom>
          <a:solidFill>
            <a:srgbClr val="F3F6FD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60000" y="4300000"/>
            <a:ext cx="120000" cy="15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0000" y="4400000"/>
            <a:ext cx="16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◆ 用例清单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0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TC-01 缺字段 insert → ValueError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TC-02 索引查询正确 | TC-03 无索引→FULL SCAN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TC-04 空字段表 → ValueError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300000" y="2650000"/>
            <a:ext cx="5360000" cy="1500000"/>
          </a:xfrm>
          <a:prstGeom prst="rect">
            <a:avLst/>
          </a:prstGeom>
          <a:solidFill>
            <a:srgbClr val="0D11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00000" y="2650000"/>
            <a:ext cx="536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0000" y="2930000"/>
            <a:ext cx="480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def test_index_query(tbl):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    assert len(tbl.where(device_id="DEV-02")) == 3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def test_no_index(tbl):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  <a:p>
            <a:r>
              <a:rPr sz="1150" b="0">
                <a:solidFill>
                  <a:srgbClr val="D6DEF6"/>
                </a:solidFill>
                <a:latin typeface="微软雅黑" panose="020B0502040204020203" charset="-122"/>
              </a:rPr>
              <a:t>    assert tbl.explain(temp=3.0) == "FULL SCAN"</a:t>
            </a:r>
            <a:endParaRPr sz="1150" b="0">
              <a:solidFill>
                <a:srgbClr val="D6DEF6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6300000" y="4300000"/>
            <a:ext cx="5360000" cy="15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00000" y="4400000"/>
            <a:ext cx="2000000" cy="36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◆ GB/T 15532 三层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6600000" y="4820000"/>
            <a:ext cx="48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单元(纯函数) / 集成(pipeline端到端) / 回归(pytest -q)</a:t>
            </a:r>
            <a:endParaRPr sz="1300" b="0">
              <a:solidFill>
                <a:srgbClr val="FF0000"/>
              </a:solidFill>
              <a:latin typeface="微软雅黑" panose="020B0502040204020203" charset="-122"/>
            </a:endParaRPr>
          </a:p>
          <a:p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缺陷记录: 本轮无遗留；退出码 0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34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2040204020203" charset="-122"/>
              </a:rPr>
              <a:t>05</a:t>
            </a:r>
            <a:endParaRPr sz="66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2040204020203" charset="-122"/>
              </a:rPr>
              <a:t>任务实施</a:t>
            </a:r>
            <a:endParaRPr sz="3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2040204020203" charset="-122"/>
              </a:rPr>
              <a:t>工单 · 分层 · 步骤 · 避坑</a:t>
            </a:r>
            <a:endParaRPr sz="16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2040204020203" charset="-122"/>
              </a:rPr>
              <a:t>05</a:t>
            </a:r>
            <a:endParaRPr sz="9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35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决策：数据访问方式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2040204020203" charset="-122"/>
              </a:rPr>
              <a:t>方式</a:t>
            </a:r>
            <a:endParaRPr sz="1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2040204020203" charset="-122"/>
              </a:rPr>
              <a:t>效率</a:t>
            </a:r>
            <a:endParaRPr sz="1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2040204020203" charset="-122"/>
              </a:rPr>
              <a:t>性能可控</a:t>
            </a:r>
            <a:endParaRPr sz="1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裸SQL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SQLAlchemy Core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ORM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800000" y="468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2040204020203" charset="-122"/>
              </a:rPr>
              <a:t>决策结论写入工单，答辩必答；实施失误回溯决策复盘</a:t>
            </a:r>
            <a:endParaRPr sz="13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32" name="TextBox 3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36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23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决策怎么下：方案对比三问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本课决策题：决策：数据访问方式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问①可行吗——每个方案的实现路径走得通吗（技术风险）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问②值吗——开发时间/运行速度/可维护性三角权衡（工程账）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问③谁拍板——组内数据说话，理由写进工单（决策追责制）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规则：没有记录的决策=没有决策——写下来才算数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37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实施任务：工单P5《产线数据仓库与ORM》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6300000" cy="3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100000"/>
            <a:ext cx="5900000" cy="3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 panose="020B0502040204020203" charset="-122"/>
              </a:rPr>
              <a:t>实施步骤</a:t>
            </a:r>
            <a:endParaRPr sz="1500" b="1">
              <a:solidFill>
                <a:srgbClr val="0545E8"/>
              </a:solidFill>
              <a:latin typeface="微软雅黑" panose="020B0502040204020203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1. 四表模型+relationship(back_populates)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2. bulk批量事务入库(100/批)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3. 按设备平均vib/告警Top3查询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7400000" y="1950000"/>
            <a:ext cx="4000000" cy="185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50000" y="2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475B6"/>
                </a:solidFill>
                <a:latin typeface="微软雅黑" panose="020B0502040204020203" charset="-122"/>
              </a:rPr>
              <a:t>及格标准（D）</a:t>
            </a:r>
            <a:endParaRPr sz="1400" b="1">
              <a:solidFill>
                <a:srgbClr val="0475B6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4表合理+ORM入库+2条查询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400000" y="3950000"/>
            <a:ext cx="4000000" cy="185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50000" y="4080000"/>
            <a:ext cx="3750000" cy="165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优秀标准（B+）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数据字典完整+批量事务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40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分层工单 · D 层任务卡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学徒 · 跟做保底层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目标: ER观察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1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跑参考ER演示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2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手绘关系图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3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标主外键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4454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✔ 达标标准: 能画四表连线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41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分层工单 · C 层任务卡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操作员 · 基础完成层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目标: 两表起步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1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devices+records两表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2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插入并查询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3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打印统计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E8F1E8"/>
          </a:solidFill>
          <a:ln>
            <a:solidFill>
              <a:srgbClr val="04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✔ 达标标准: 能入库能查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42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分层工单 · B 层任务卡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组长 · 标准达成层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目标: 仓库+统计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1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四表ORM建模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2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bulk入库500条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3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均值/Top3/时段聚合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820000"/>
          </a:xfrm>
          <a:prstGeom prst="rect">
            <a:avLst/>
          </a:prstGeom>
          <a:solidFill>
            <a:srgbClr val="FDF0E6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5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✔ 达标标准: 溯源查询正确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43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分层工单 · A 层任务卡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750000"/>
            <a:ext cx="3200000" cy="9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1900000"/>
            <a:ext cx="32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师傅 · 进阶拓展层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300000" y="1750000"/>
            <a:ext cx="7300000" cy="9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000" y="1830000"/>
            <a:ext cx="7000000" cy="7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目标: 闭环演示+健康报告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9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0000" y="295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1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620000" y="292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接P3仪表盘读库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820000" y="378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0000" y="384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2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620000" y="381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窗口函数环比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670000"/>
            <a:ext cx="620000" cy="6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0000" y="4730000"/>
            <a:ext cx="62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600" b="1">
                <a:solidFill>
                  <a:srgbClr val="FFFFFF"/>
                </a:solidFill>
                <a:latin typeface="微软雅黑" panose="020B0502040204020203" charset="-122"/>
              </a:rPr>
              <a:t>3</a:t>
            </a:r>
            <a:endParaRPr sz="16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620000" y="4700000"/>
            <a:ext cx="10000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慢查询Top3报告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760000" y="5620000"/>
            <a:ext cx="10900000" cy="98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0000" y="5720000"/>
            <a:ext cx="105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1">
                <a:solidFill>
                  <a:srgbClr val="010328"/>
                </a:solidFill>
                <a:latin typeface="微软雅黑" panose="020B0502040204020203" charset="-122"/>
              </a:rPr>
              <a:t>✔ 达标标准: EXPLAIN证据</a:t>
            </a:r>
            <a:endParaRPr sz="135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50" b="0">
                <a:solidFill>
                  <a:srgbClr val="44546A"/>
                </a:solidFill>
                <a:latin typeface="微软雅黑" panose="020B0502040204020203" charset="-122"/>
              </a:rPr>
              <a:t>(A层加码: 复杂查询：多表JOIN+窗口函数（按小时聚合+环比）SQL与ORM双实现)</a:t>
            </a:r>
            <a:endParaRPr sz="115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44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实施步骤与注意事项（做）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0000" y="1850000"/>
            <a:ext cx="6300000" cy="41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0000" y="1980000"/>
            <a:ext cx="590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545E8"/>
                </a:solidFill>
                <a:latin typeface="微软雅黑" panose="020B0502040204020203" charset="-122"/>
              </a:rPr>
              <a:t>实施步骤</a:t>
            </a:r>
            <a:endParaRPr sz="17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920000" y="266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0000" y="268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1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520000" y="260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2040204020203" charset="-122"/>
              </a:rPr>
              <a:t>四表模型+relationship(back_populates)</a:t>
            </a:r>
            <a:endParaRPr sz="13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0000" y="319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0000" y="321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2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1520000" y="313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2040204020203" charset="-122"/>
              </a:rPr>
              <a:t>bulk批量事务入库(100/批)</a:t>
            </a:r>
            <a:endParaRPr sz="13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920000" y="3520000"/>
            <a:ext cx="480000" cy="4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0000" y="3540000"/>
            <a:ext cx="480000" cy="4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3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5" name="TextBox 14"/>
          <p:cNvSpPr txBox="1"/>
          <p:nvPr/>
        </p:nvSpPr>
        <p:spPr>
          <a:xfrm>
            <a:off x="1520000" y="3460000"/>
            <a:ext cx="53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2040204020203" charset="-122"/>
              </a:rPr>
              <a:t>按设备平均vib/告警Top3查询</a:t>
            </a:r>
            <a:endParaRPr sz="13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7350000" y="1850000"/>
            <a:ext cx="4300000" cy="4100000"/>
          </a:xfrm>
          <a:prstGeom prst="rect">
            <a:avLst/>
          </a:prstGeom>
          <a:solidFill>
            <a:srgbClr val="FDF0E6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550000" y="1980000"/>
            <a:ext cx="3950000" cy="5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5670F"/>
                </a:solidFill>
                <a:latin typeface="微软雅黑" panose="020B0502040204020203" charset="-122"/>
              </a:rPr>
              <a:t>⚠ 注意事项</a:t>
            </a:r>
            <a:endParaRPr sz="17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7550000" y="2600000"/>
            <a:ext cx="3950000" cy="32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1. DateTime存ISO，别存字符串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2. bulk_save_objects批量插入比逐条add快10倍+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3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3. session用完即with关闭，防连接泄漏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45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常见错误速查（避坑清单）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0000" y="19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2040204020203" charset="-122"/>
              </a:rPr>
              <a:t>⚠ N+1慢</a:t>
            </a:r>
            <a:endParaRPr sz="13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950000" y="19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原因: 循环逐查关联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6600000" y="19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✔ 解决: joinedload一次带出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760000" y="31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0000" y="31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000" y="32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2040204020203" charset="-122"/>
              </a:rPr>
              <a:t>⚠ 连接泄漏</a:t>
            </a:r>
            <a:endParaRPr sz="13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3950000" y="32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原因: session未关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600000" y="32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✔ 解决: with Session()自动关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760000" y="4400000"/>
            <a:ext cx="10900000" cy="118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60000" y="4400000"/>
            <a:ext cx="3000000" cy="1180000"/>
          </a:xfrm>
          <a:prstGeom prst="rect">
            <a:avLst/>
          </a:prstGeom>
          <a:solidFill>
            <a:srgbClr val="FDF0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0000" y="4500000"/>
            <a:ext cx="2800000" cy="9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2040204020203" charset="-122"/>
              </a:rPr>
              <a:t>⚠ 索引不生效</a:t>
            </a:r>
            <a:endParaRPr sz="13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3950000" y="4520000"/>
            <a:ext cx="24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原因: 列序不对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6600000" y="4520000"/>
            <a:ext cx="4900000" cy="94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b="0">
                <a:solidFill>
                  <a:srgbClr val="010328"/>
                </a:solidFill>
                <a:latin typeface="微软雅黑" panose="020B0502040204020203" charset="-122"/>
              </a:rPr>
              <a:t>✔ 解决: (device_id,ts)联合序</a:t>
            </a:r>
            <a:endParaRPr sz="12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46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6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ABCD四层任务总览（先看全貌再领任务）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D·学徒（≥60）：ER观察——跟做保底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C·操作员（≥70）：两表起步——基础完成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B·组长（≥80）：仓库+统计——标准达成+帮带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A·师傅（≥90）：闭环演示+健康报告——进阶拓展+费曼讲解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规则：每人按工单勾选自己的层；每4周按达标情况动态升降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47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8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提交前最后一查（90秒）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□ 代码能从头跑到尾不报错（python xx.py再跑一遍）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28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7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□ 输出格式符合工单样例（对齐/单位/小数位）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35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4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□ 文件命名：学号_姓名_工单号.py（不对=扣规范分）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2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0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□ 运行截图已贴工单过程记录栏（过程性证据）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488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477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□ conda环境正确（提示符显示(pp03）再运行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48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2000" cy="685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1">
                <a:solidFill>
                  <a:srgbClr val="0B5E54"/>
                </a:solidFill>
              </a:rPr>
              <a:t>工单实战 · 完成效果图</a:t>
            </a:r>
            <a:endParaRPr sz="1100" b="1">
              <a:solidFill>
                <a:srgbClr val="0B5E54"/>
              </a:solidFill>
            </a:endParaRP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3108960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3108960" cy="31089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</a:rPr>
              <a:t>TARGET · 完成后长这样</a:t>
            </a:r>
            <a:endParaRPr sz="1050" b="1">
              <a:solidFill>
                <a:srgbClr val="FFFFFF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41024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B2B28"/>
                </a:solidFill>
              </a:rPr>
              <a:t>P5 数据仓库完成态</a:t>
            </a:r>
            <a:endParaRPr sz="2200" b="1">
              <a:solidFill>
                <a:srgbClr val="1B2B28"/>
              </a:solidFill>
            </a:endParaRP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30000"/>
          </a:xfrm>
          <a:prstGeom prst="roundRect">
            <a:avLst>
              <a:gd name="adj" fmla="val 5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67928" y="1627632"/>
            <a:ext cx="3148584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B5E54"/>
                </a:solidFill>
              </a:rPr>
              <a:t>四个自检点</a:t>
            </a:r>
            <a:endParaRPr sz="1300" b="1">
              <a:solidFill>
                <a:srgbClr val="0B5E54"/>
              </a:solidFill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8567928" y="2066543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695944" y="2157983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95944" y="2157983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1</a:t>
            </a:r>
            <a:endParaRPr sz="1000" b="1">
              <a:solidFill>
                <a:srgbClr val="FFFFFF"/>
              </a:solidFill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9079992" y="2130551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四表建表成功</a:t>
            </a:r>
            <a:endParaRPr sz="1050" b="0">
              <a:solidFill>
                <a:srgbClr val="1B2B28"/>
              </a:solidFill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8567928" y="2807207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695944" y="2898647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95944" y="2898647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2</a:t>
            </a:r>
            <a:endParaRPr sz="1000" b="1">
              <a:solidFill>
                <a:srgbClr val="FFFFFF"/>
              </a:solidFill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9079992" y="2871215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索引生效（EXPLAIN 走索引）</a:t>
            </a:r>
            <a:endParaRPr sz="1050" b="0">
              <a:solidFill>
                <a:srgbClr val="1B2B28"/>
              </a:solidFill>
            </a:endParaRPr>
          </a:p>
        </p:txBody>
      </p:sp>
      <p:sp>
        <p:nvSpPr>
          <p:cNvPr id="18" name="Rounded Rectangle 17"/>
          <p:cNvSpPr/>
          <p:nvPr/>
        </p:nvSpPr>
        <p:spPr>
          <a:xfrm>
            <a:off x="8567928" y="3547871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695944" y="3639311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95944" y="3639311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3</a:t>
            </a:r>
            <a:endParaRPr sz="1000" b="1">
              <a:solidFill>
                <a:srgbClr val="FFFFFF"/>
              </a:solidFill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9079992" y="3611879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批量插入万行 &lt; 5 秒</a:t>
            </a:r>
            <a:endParaRPr sz="1050" b="0">
              <a:solidFill>
                <a:srgbClr val="1B2B28"/>
              </a:solidFill>
            </a:endParaRPr>
          </a:p>
        </p:txBody>
      </p:sp>
      <p:sp>
        <p:nvSpPr>
          <p:cNvPr id="22" name="Rounded Rectangle 21"/>
          <p:cNvSpPr/>
          <p:nvPr/>
        </p:nvSpPr>
        <p:spPr>
          <a:xfrm>
            <a:off x="8567928" y="4288535"/>
            <a:ext cx="3148584" cy="658368"/>
          </a:xfrm>
          <a:prstGeom prst="roundRect">
            <a:avLst>
              <a:gd name="adj" fmla="val 1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695944" y="4379975"/>
            <a:ext cx="274320" cy="27432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95944" y="4379975"/>
            <a:ext cx="274320" cy="2743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</a:rPr>
              <a:t>4</a:t>
            </a:r>
            <a:endParaRPr sz="1000" b="1">
              <a:solidFill>
                <a:srgbClr val="FFFFFF"/>
              </a:solidFill>
            </a:endParaRPr>
          </a:p>
        </p:txBody>
      </p:sp>
      <p:sp>
        <p:nvSpPr>
          <p:cNvPr id="25" name="TextBox 24"/>
          <p:cNvSpPr txBox="1"/>
          <p:nvPr/>
        </p:nvSpPr>
        <p:spPr>
          <a:xfrm>
            <a:off x="9079992" y="4352543"/>
            <a:ext cx="2471928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050" b="0">
                <a:solidFill>
                  <a:srgbClr val="1B2B28"/>
                </a:solidFill>
              </a:rPr>
              <a:t>血缘查询可用</a:t>
            </a:r>
            <a:endParaRPr sz="1050" b="0">
              <a:solidFill>
                <a:srgbClr val="1B2B28"/>
              </a:solidFill>
            </a:endParaRPr>
          </a:p>
        </p:txBody>
      </p:sp>
      <p:sp>
        <p:nvSpPr>
          <p:cNvPr id="26" name="Rounded Rectangle 25"/>
          <p:cNvSpPr/>
          <p:nvPr/>
        </p:nvSpPr>
        <p:spPr>
          <a:xfrm>
            <a:off x="475488" y="5138928"/>
            <a:ext cx="786384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475488" y="5138928"/>
            <a:ext cx="54864" cy="868680"/>
          </a:xfrm>
          <a:prstGeom prst="roundRect">
            <a:avLst>
              <a:gd name="adj" fmla="val 5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" y="5212080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1">
                <a:solidFill>
                  <a:srgbClr val="1B2B28"/>
                </a:solidFill>
              </a:rPr>
              <a:t>怎么看：终端退出码 0 + 关键数字在及格线以上</a:t>
            </a:r>
            <a:endParaRPr sz="1150" b="1">
              <a:solidFill>
                <a:srgbClr val="1B2B28"/>
              </a:solidFill>
            </a:endParaRPr>
          </a:p>
        </p:txBody>
      </p:sp>
      <p:sp>
        <p:nvSpPr>
          <p:cNvPr id="29" name="TextBox 28"/>
          <p:cNvSpPr txBox="1"/>
          <p:nvPr/>
        </p:nvSpPr>
        <p:spPr>
          <a:xfrm>
            <a:off x="658368" y="5541264"/>
            <a:ext cx="7498079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C6E6A"/>
                </a:solidFill>
              </a:rPr>
              <a:t>截图提交：运行窗口含文件名与输出，截全屏交工单</a:t>
            </a:r>
            <a:endParaRPr sz="1050" b="0">
              <a:solidFill>
                <a:srgbClr val="5C6E6A"/>
              </a:solidFill>
            </a:endParaRPr>
          </a:p>
        </p:txBody>
      </p:sp>
      <p:sp>
        <p:nvSpPr>
          <p:cNvPr id="30" name="Rounded Rectangle 29"/>
          <p:cNvSpPr/>
          <p:nvPr/>
        </p:nvSpPr>
        <p:spPr>
          <a:xfrm>
            <a:off x="475488" y="6419088"/>
            <a:ext cx="11241024" cy="900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  <a:endParaRPr sz="900" b="0">
              <a:solidFill>
                <a:srgbClr val="5C6E6A"/>
              </a:solidFill>
            </a:endParaRPr>
          </a:p>
        </p:txBody>
      </p:sp>
      <p:pic>
        <p:nvPicPr>
          <p:cNvPr id="32" name="Picture 31" descr="shot_w51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" y="2382322"/>
            <a:ext cx="7863840" cy="1672732"/>
          </a:xfrm>
          <a:prstGeom prst="rect">
            <a:avLst/>
          </a:prstGeom>
        </p:spPr>
      </p:pic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2040204020203" charset="-122"/>
              </a:rPr>
              <a:t>06</a:t>
            </a:r>
            <a:endParaRPr sz="66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2040204020203" charset="-122"/>
              </a:rPr>
              <a:t>检查与评价</a:t>
            </a:r>
            <a:endParaRPr sz="3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2040204020203" charset="-122"/>
              </a:rPr>
              <a:t>三层质检 · 评分 · 课后</a:t>
            </a:r>
            <a:endParaRPr sz="16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F5670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1">
                <a:solidFill>
                  <a:srgbClr val="F5670F"/>
                </a:solidFill>
                <a:latin typeface="微软雅黑" panose="020B0502040204020203" charset="-122"/>
              </a:rPr>
              <a:t>06</a:t>
            </a:r>
            <a:endParaRPr sz="9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50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过程检查（三层质检）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 panose="020B0502040204020203" charset="-122"/>
              </a:rPr>
              <a:t>1  自检</a:t>
            </a:r>
            <a:endParaRPr sz="20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 panose="020B0502040204020203" charset="-122"/>
              </a:rPr>
              <a:t>对照工单checklist逐项自查并截图留证</a:t>
            </a:r>
            <a:endParaRPr sz="13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425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5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 panose="020B0502040204020203" charset="-122"/>
              </a:rPr>
              <a:t>2  互检</a:t>
            </a:r>
            <a:endParaRPr sz="20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445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 panose="020B0502040204020203" charset="-122"/>
              </a:rPr>
              <a:t>组间交换检查，互检表记录问题≥1条</a:t>
            </a:r>
            <a:endParaRPr sz="13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7800000" y="2300000"/>
            <a:ext cx="3300000" cy="2600000"/>
          </a:xfrm>
          <a:prstGeom prst="rect">
            <a:avLst/>
          </a:prstGeom>
          <a:solidFill>
            <a:srgbClr val="FFFFFF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00000" y="2450000"/>
            <a:ext cx="3300000" cy="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000" b="1">
                <a:solidFill>
                  <a:srgbClr val="0545E8"/>
                </a:solidFill>
                <a:latin typeface="微软雅黑" panose="020B0502040204020203" charset="-122"/>
              </a:rPr>
              <a:t>3  师查</a:t>
            </a:r>
            <a:endParaRPr sz="2000" b="1">
              <a:solidFill>
                <a:srgbClr val="0545E8"/>
              </a:solidFill>
              <a:latin typeface="微软雅黑" panose="020B0502040204020203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8000000" y="3200000"/>
            <a:ext cx="2900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3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 panose="020B0502040204020203" charset="-122"/>
              </a:rPr>
              <a:t>教师抽查复核，重点盯D层完成度</a:t>
            </a:r>
            <a:endParaRPr sz="13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700000" y="5200000"/>
            <a:ext cx="108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复盘追问：如果当初选另一个方案，结果会怎样？（决策追责）</a:t>
            </a:r>
            <a:endParaRPr sz="14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51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本次实跑结果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1881187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1881187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REAL RUN · 四档逐字实测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P5.1/P5.2 p55_warehouse_orm：本次 D/C/B/A 四档实测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52 / 71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75488" y="1554480"/>
            <a:ext cx="11237976" cy="755913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75488" y="1554480"/>
            <a:ext cx="54864" cy="755913"/>
          </a:xfrm>
          <a:prstGeom prst="roundRect">
            <a:avLst>
              <a:gd name="adj" fmla="val 50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792" y="1636776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5C6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" y="1636776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2688" y="1618488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及格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4表设计合理；ORM入库成功；2条统计查询可用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131803" y="1645920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131803" y="1645920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" y="1901952"/>
            <a:ext cx="10671047" cy="35357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建表 4/4 张（缺:无）｜records 入库 1436 行（种子 500＋P4缓冲 936，预期 1436，相符=是）｜统计查询可用 3/3 条（T4a 3 行、T4b 3 行、T4c 12 行；门槛 ≥2 条）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75488" y="2374401"/>
            <a:ext cx="11237976" cy="9702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75488" y="2374401"/>
            <a:ext cx="54864" cy="970276"/>
          </a:xfrm>
          <a:prstGeom prst="roundRect">
            <a:avLst>
              <a:gd name="adj" fmla="val 50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1792" y="2456697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157A6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1792" y="245669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" y="2438409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良好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数据字典完整；批量事务；溯源查询正确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131803" y="2465841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31803" y="2465841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2688" y="2721873"/>
            <a:ext cx="10671047" cy="567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数据字典 18/18 列有成文含义（未登记:无）｜批量事务 bulk_save_objects 分批提交 15 次（种子 5＋缓冲 10，每批≤100 条）｜溯源 alarms→devices→points→records 四表 JOIN 命中 57/57 条告警、外键孤儿行 0（100.0%）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75488" y="3408686"/>
            <a:ext cx="11237976" cy="9702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475488" y="3408686"/>
            <a:ext cx="54864" cy="970276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21792" y="3490982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" y="3490982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2688" y="3472694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优秀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索引优化有EXPLAIN证据；N+1问题已规避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131803" y="3500126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131803" y="3500126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3756158"/>
            <a:ext cx="10671047" cy="567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bench_records 20000 行区间查询命中 240 行，建索引前全表 SCAN=是 → 建索引后 SEARCH USING INDEX=是（计划行见本报告「B层·索引优化」段，墙钟毫秒只写 runtime/bench.json 不入 output/）｜N+1 实测：懒加载 4 条 SELECT vs joinedload 1 条（3 台设备）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75488" y="4442971"/>
            <a:ext cx="11237976" cy="970276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E4F1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5488" y="4442971"/>
            <a:ext cx="54864" cy="97027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ounded Rectangle 36"/>
          <p:cNvSpPr/>
          <p:nvPr/>
        </p:nvSpPr>
        <p:spPr>
          <a:xfrm>
            <a:off x="621792" y="4525267"/>
            <a:ext cx="237744" cy="237744"/>
          </a:xfrm>
          <a:prstGeom prst="roundRect">
            <a:avLst>
              <a:gd name="adj" fmla="val 28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1792" y="4525267"/>
            <a:ext cx="2377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00" b="1">
                <a:solidFill>
                  <a:srgbClr val="FFFFFF"/>
                </a:solidFill>
              </a:rPr>
              <a:t>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32688" y="4506979"/>
            <a:ext cx="877824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1">
                <a:solidFill>
                  <a:srgbClr val="1B2B28"/>
                </a:solidFill>
              </a:rPr>
              <a:t>超优</a:t>
            </a:r>
            <a:r>
              <a:rPr sz="850" b="0">
                <a:solidFill>
                  <a:srgbClr val="5C6E6A"/>
                </a:solidFill>
              </a:rPr>
              <a:t>   验收口径：</a:t>
            </a:r>
            <a:r>
              <a:rPr sz="850" b="0">
                <a:solidFill>
                  <a:srgbClr val="5C6E6A"/>
                </a:solidFill>
              </a:rPr>
              <a:t>优秀+复杂查询(多表JOIN聚合)+导入P3仪表盘形成闭环演示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131803" y="4534411"/>
            <a:ext cx="453644" cy="237744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131803" y="4534411"/>
            <a:ext cx="453644" cy="23774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850" b="1">
                <a:solidFill>
                  <a:srgbClr val="FFFFFF"/>
                </a:solidFill>
              </a:rPr>
              <a:t>达标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32688" y="4790443"/>
            <a:ext cx="10671047" cy="5679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>
                <a:solidFill>
                  <a:srgbClr val="1B2B28"/>
                </a:solidFill>
              </a:rPr>
              <a:t>设备×小时四表 JOIN 聚合 36 桶（3 台设备），与逐行手算一致=是；窗口环比 12 桶 ORM=裸SQL 一致｜P3 交接文件 output/p3_dashboard_handoff.csv：36 行×6 列[ts/device_id/line/temp/vib/status]，时间解析失败 0 行、未知设备 0 个、缺列:无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75488" y="5477255"/>
            <a:ext cx="11237976" cy="941832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475488" y="5477255"/>
            <a:ext cx="54864" cy="9418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76656" y="5550407"/>
            <a:ext cx="10908792" cy="7955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出处：工程化项目/p55_warehouse_orm/output/report.txt 第 139 节「分层达标」——本机 2026-10-28 05:08 实跑落盘，上表数字逐字摘录、未改写。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工程化项目/p55_warehouse_orm &amp;&amp; python run.py &amp;&amp; python -m pytest -q -o addopts=''</a:t>
            </a:r>
          </a:p>
          <a:p>
            <a:pPr algn="l">
              <a:lnSpc>
                <a:spcPct val="124000"/>
              </a:lnSpc>
            </a:pPr>
            <a:r>
              <a:rPr sz="850" b="0">
                <a:solidFill>
                  <a:srgbClr val="1B2B28"/>
                </a:solidFill>
              </a:rPr>
              <a:t>口径：表中「判定」沿用报告原词——绿=达标/通过，黄=仅本节取证项通过（未取证子项在报告里逐条点名），红=未达标。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P5.1/P5.2 分层达标 · 四档逐字输出截图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53 / 71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终端窗口截图：由 report.txt 本节逐字渲染，未手工改写</a:t>
            </a:r>
          </a:p>
        </p:txBody>
      </p:sp>
      <p:pic>
        <p:nvPicPr>
          <p:cNvPr id="12" name="Picture 11" descr="p55_warehouse_orm_classr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823437"/>
            <a:ext cx="11237976" cy="378719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5647210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p55_warehouse_orm：分层达标 第 139 行起的四档逐字原文（绿=达标/通过，黄=仅本节取证项，橙=未实测项）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4008"/>
          </a:xfrm>
          <a:prstGeom prst="roundRect">
            <a:avLst>
              <a:gd name="adj" fmla="val 50000"/>
            </a:avLst>
          </a:prstGeom>
          <a:solidFill>
            <a:srgbClr val="0B5E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75488" y="146304"/>
            <a:ext cx="82296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>
                <a:solidFill>
                  <a:srgbClr val="0B5E54"/>
                </a:solidFill>
              </a:rPr>
              <a:t>工单实战 · 运行留证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75488" y="475488"/>
            <a:ext cx="2027872" cy="310896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75488" y="475488"/>
            <a:ext cx="20278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4000"/>
              </a:lnSpc>
            </a:pPr>
            <a:r>
              <a:rPr sz="1050" b="1">
                <a:solidFill>
                  <a:srgbClr val="FFFFFF"/>
                </a:solidFill>
              </a:rPr>
              <a:t>SCREENSHOT · 终端逐字截图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" y="859536"/>
            <a:ext cx="11237976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2200" b="1">
                <a:solidFill>
                  <a:srgbClr val="1B2B28"/>
                </a:solidFill>
              </a:rPr>
              <a:t>P5.1/P5.2 · 测试全绿证据＋pytest 全量实跑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75488" y="1389888"/>
            <a:ext cx="1234440" cy="27432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75488" y="6419088"/>
            <a:ext cx="11237976" cy="10972"/>
          </a:xfrm>
          <a:prstGeom prst="roundRect">
            <a:avLst>
              <a:gd name="adj" fmla="val 50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6455664"/>
            <a:ext cx="7315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900" b="0">
                <a:solidFill>
                  <a:srgbClr val="5C6E6A"/>
                </a:solidFill>
              </a:rPr>
              <a:t>两江智造集团 · Python程序设计（项目实战）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97896" y="6537960"/>
            <a:ext cx="996696" cy="301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4000"/>
              </a:lnSpc>
            </a:pPr>
            <a:r>
              <a:rPr sz="1000" b="0">
                <a:solidFill>
                  <a:srgbClr val="8A97B5"/>
                </a:solidFill>
              </a:rPr>
              <a:t>54 / 71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75488" y="1517904"/>
            <a:ext cx="11237976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>
                <a:solidFill>
                  <a:srgbClr val="5C6E6A"/>
                </a:solidFill>
              </a:rPr>
              <a:t>pytest 全量实跑：本机真实运行输出，非示例、非节选</a:t>
            </a:r>
          </a:p>
        </p:txBody>
      </p:sp>
      <p:pic>
        <p:nvPicPr>
          <p:cNvPr id="12" name="Picture 11" descr="p55_warehouse_orm_pyte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2490034"/>
            <a:ext cx="11237976" cy="1539603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75488" y="4066213"/>
            <a:ext cx="11237976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</a:pPr>
            <a:r>
              <a:rPr sz="850" b="0">
                <a:solidFill>
                  <a:srgbClr val="5C6E6A"/>
                </a:solidFill>
              </a:rPr>
              <a:t>▲ pytest：58 passed in 4.54s（本机实跑，非示例）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" y="4431973"/>
            <a:ext cx="11237976" cy="822960"/>
          </a:xfrm>
          <a:prstGeom prst="roundRect">
            <a:avLst>
              <a:gd name="adj" fmla="val 5000"/>
            </a:avLst>
          </a:prstGeom>
          <a:solidFill>
            <a:srgbClr val="E4F1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75488" y="4431973"/>
            <a:ext cx="54864" cy="822960"/>
          </a:xfrm>
          <a:prstGeom prst="roundRect">
            <a:avLst>
              <a:gd name="adj" fmla="val 50000"/>
            </a:avLst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4514269"/>
            <a:ext cx="10908792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本项目四档只有一套阶梯口径（课堂 D/C/B/A 即工单及格/良好/优秀/超优），逐字实测见上一页截图；本页补的是测试全绿证据。</a:t>
            </a:r>
          </a:p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复现：cd 工程化项目/p55_warehouse_orm &amp;&amp; python -m pytest -q -o addopts=''</a:t>
            </a:r>
          </a:p>
          <a:p>
            <a:pPr algn="l">
              <a:lnSpc>
                <a:spcPct val="126000"/>
              </a:lnSpc>
            </a:pPr>
            <a:r>
              <a:rPr sz="850" b="0">
                <a:solidFill>
                  <a:srgbClr val="1B2B28"/>
                </a:solidFill>
              </a:rPr>
              <a:t>工单提交：截图需含终端标题栏的文件名与完整输出，退出码 0 才算全绿。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提交物与评分（工单P5）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00000"/>
            <a:ext cx="5300000" cy="38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0545E8"/>
                </a:solidFill>
                <a:latin typeface="微软雅黑" panose="020B0502040204020203" charset="-122"/>
              </a:rPr>
              <a:t>提交清单</a:t>
            </a:r>
            <a:endParaRPr sz="1500" b="1">
              <a:solidFill>
                <a:srgbClr val="0545E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1. 程序/notebook（含运行输出）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2. 分层工单纸件（勾层+自评）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3. 决策矩阵照片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4. 过程记录/避坑笔记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00" b="0">
                <a:solidFill>
                  <a:srgbClr val="44546A"/>
                </a:solidFill>
                <a:latin typeface="微软雅黑" panose="020B0502040204020203" charset="-122"/>
              </a:rPr>
              <a:t>命名: 学号_姓名_P5</a:t>
            </a:r>
            <a:endParaRPr sz="12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6350000" y="1800000"/>
            <a:ext cx="5300000" cy="3800000"/>
          </a:xfrm>
          <a:prstGeom prst="rect">
            <a:avLst/>
          </a:prstGeom>
          <a:solidFill>
            <a:srgbClr val="FFFFFF"/>
          </a:solidFill>
          <a:ln>
            <a:solidFill>
              <a:srgbClr val="F5670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50000" y="1950000"/>
            <a:ext cx="4900000" cy="3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500" b="1">
                <a:solidFill>
                  <a:srgbClr val="F5670F"/>
                </a:solidFill>
                <a:latin typeface="微软雅黑" panose="020B0502040204020203" charset="-122"/>
              </a:rPr>
              <a:t>评分构成</a:t>
            </a:r>
            <a:endParaRPr sz="15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功能完成 40%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技术质量 25%（指标达标）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代码规范 20%（PEP 8）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工程素养 15%（留痕/协作）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250" b="1">
                <a:solidFill>
                  <a:srgbClr val="44546A"/>
                </a:solidFill>
                <a:latin typeface="微软雅黑" panose="020B0502040204020203" charset="-122"/>
              </a:rPr>
              <a:t>D≥60 / C≥70 / B≥80 / A≥90</a:t>
            </a:r>
            <a:endParaRPr sz="1250" b="1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55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总结评价与课后任务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1950000"/>
            <a:ext cx="10600000" cy="15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0000" y="2050000"/>
            <a:ext cx="103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0545E8"/>
                </a:solidFill>
                <a:latin typeface="微软雅黑" panose="020B0502040204020203" charset="-122"/>
              </a:rPr>
              <a:t>评价（10分钟）：</a:t>
            </a:r>
            <a:endParaRPr sz="1500" b="1">
              <a:solidFill>
                <a:srgbClr val="0545E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按D/C/B/A量表当堂评分；工单24小时内反馈评语与改进建议。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50000" y="370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1. </a:t>
            </a: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1. 完成工单P5《产线数据仓库》：及格标准4表设计合理+ORM入库+基础统计；优秀标准含索引优化+批量写入+复杂查询；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850000" y="442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2. </a:t>
            </a: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2. 完成ER图与数据字典文档；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50000" y="5140000"/>
            <a:ext cx="106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0000"/>
              </a:lnSpc>
              <a:spcAft>
                <a:spcPts val="600"/>
              </a:spcAft>
            </a:pPr>
            <a:r>
              <a:rPr sz="1400" b="1">
                <a:solidFill>
                  <a:srgbClr val="F5670F"/>
                </a:solidFill>
                <a:latin typeface="微软雅黑" panose="020B0502040204020203" charset="-122"/>
              </a:rPr>
              <a:t>3. </a:t>
            </a:r>
            <a:r>
              <a:rPr sz="1400" b="0">
                <a:solidFill>
                  <a:srgbClr val="010328"/>
                </a:solidFill>
                <a:latin typeface="微软雅黑" panose="020B0502040204020203" charset="-122"/>
              </a:rPr>
              <a:t>3. 预习机器学习基本流程（训练/验证/预测）。</a:t>
            </a:r>
            <a:endParaRPr sz="14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50000" y="5960000"/>
            <a:ext cx="106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475B6"/>
                </a:solidFill>
                <a:latin typeface="微软雅黑" panose="020B0502040204020203" charset="-122"/>
              </a:rPr>
              <a:t>下次课预告：</a:t>
            </a:r>
            <a:r>
              <a:rPr sz="1300" b="0">
                <a:solidFill>
                  <a:srgbClr val="44546A"/>
                </a:solidFill>
                <a:latin typeface="微软雅黑" panose="020B0502040204020203" charset="-122"/>
              </a:rPr>
              <a:t>见下次课工单任务书</a:t>
            </a:r>
            <a:endParaRPr sz="13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56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素养目标（课程思政融入点）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0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责任感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206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2040204020203" charset="-122"/>
              </a:rPr>
              <a:t>工程责任：代码可维护、文档完整、测试先行</a:t>
            </a:r>
            <a:endParaRPr sz="13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18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18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48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工匠精神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34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2040204020203" charset="-122"/>
              </a:rPr>
              <a:t>绿色计算：向量化省算力, 批量写入降开销</a:t>
            </a:r>
            <a:endParaRPr sz="13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460000"/>
            <a:ext cx="10900000" cy="115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460000"/>
            <a:ext cx="1900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760000"/>
            <a:ext cx="1900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500" b="1">
                <a:solidFill>
                  <a:srgbClr val="FFFFFF"/>
                </a:solidFill>
                <a:latin typeface="微软雅黑" panose="020B0502040204020203" charset="-122"/>
              </a:rPr>
              <a:t>数据伦理</a:t>
            </a:r>
            <a:endParaRPr sz="15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620000"/>
            <a:ext cx="86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350" b="0">
                <a:solidFill>
                  <a:srgbClr val="010328"/>
                </a:solidFill>
                <a:latin typeface="微软雅黑" panose="020B0502040204020203" charset="-122"/>
              </a:rPr>
              <a:t>职业规划：以项目档案袋对接岗位与竞赛</a:t>
            </a:r>
            <a:endParaRPr sz="13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57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工单评分细则（四级量表）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800000" y="2000000"/>
            <a:ext cx="3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0000" y="2120000"/>
            <a:ext cx="3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2040204020203" charset="-122"/>
              </a:rPr>
              <a:t>等级</a:t>
            </a:r>
            <a:endParaRPr sz="1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42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2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2040204020203" charset="-122"/>
              </a:rPr>
              <a:t>达标线</a:t>
            </a:r>
            <a:endParaRPr sz="1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6600000" y="2000000"/>
            <a:ext cx="2400000" cy="70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00000" y="2120000"/>
            <a:ext cx="24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FFFFFF"/>
                </a:solidFill>
                <a:latin typeface="微软雅黑" panose="020B0502040204020203" charset="-122"/>
              </a:rPr>
              <a:t>对应要求</a:t>
            </a:r>
            <a:endParaRPr sz="1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00000" y="270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000" y="280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A·师傅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42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≥90分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6600000" y="270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0000" y="280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进阶拓展完成+2分钟费曼展示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800000" y="332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0000" y="342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B·组长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42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≥80分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6600000" y="332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00000" y="342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全功能+代码规范+帮带D/C层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800000" y="3940000"/>
            <a:ext cx="3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0000" y="404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C·操作员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42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≥70分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600000" y="3940000"/>
            <a:ext cx="2400000" cy="620000"/>
          </a:xfrm>
          <a:prstGeom prst="rect">
            <a:avLst/>
          </a:prstGeom>
          <a:solidFill>
            <a:srgbClr val="F3F6FD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00000" y="404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基础功能完成+错误速查自查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800000" y="4560000"/>
            <a:ext cx="3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" y="4660000"/>
            <a:ext cx="3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010328"/>
                </a:solidFill>
                <a:latin typeface="微软雅黑" panose="020B0502040204020203" charset="-122"/>
              </a:rPr>
              <a:t>D·学徒</a:t>
            </a:r>
            <a:endParaRPr sz="1300" b="1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42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2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≥60分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6600000" y="4560000"/>
            <a:ext cx="2400000" cy="620000"/>
          </a:xfrm>
          <a:prstGeom prst="rect">
            <a:avLst/>
          </a:prstGeom>
          <a:solidFill>
            <a:srgbClr val="FFFFFF"/>
          </a:solidFill>
          <a:ln>
            <a:solidFill>
              <a:srgbClr val="C9D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00000" y="4660000"/>
            <a:ext cx="2400000" cy="4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010328"/>
                </a:solidFill>
                <a:latin typeface="微软雅黑" panose="020B0502040204020203" charset="-122"/>
              </a:rPr>
              <a:t>跟做完成核心步骤+达标自评</a:t>
            </a:r>
            <a:endParaRPr sz="13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800000" y="5300000"/>
            <a:ext cx="10600000" cy="3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5670F"/>
                </a:solidFill>
                <a:latin typeface="微软雅黑" panose="020B0502040204020203" charset="-122"/>
              </a:rPr>
              <a:t>功能40%+技术质量25%+代码规范20%+工程素养15%</a:t>
            </a:r>
            <a:endParaRPr sz="13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38" name="TextBox 37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58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高频FAQ（先自查再举手）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28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29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pandas读取大CSV慢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usecols选列+chunksize分块读，见W3微课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28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280000"/>
            <a:ext cx="2000000" cy="12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72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Modbus连接拒绝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40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先起plc_simulator再连5020；确认host是教师机IP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710000"/>
            <a:ext cx="10900000" cy="12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710000"/>
            <a:ext cx="2000000" cy="128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515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streamlit页面不刷新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830000"/>
            <a:ext cx="8500000" cy="104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改代码后浏览器右上Rerun或按R键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59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资源导航（卡住时按顺序查）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82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06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工单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P5任务书——步骤/及格线/评分细则都在里面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282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2820000"/>
            <a:ext cx="2000000" cy="82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03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starter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294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学生代码框架/——TODO注释即步骤提示，未填也能跑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379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3790000"/>
            <a:ext cx="2000000" cy="8200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00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软件指南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391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../软件操作指南/——PyCharm/Jupyter/Git/Anaconda六份图文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476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4760000"/>
            <a:ext cx="2000000" cy="8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497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Jupyter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488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Jupyter实训/——本周notebook师生版，先跑教师版看答案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760000" y="5730000"/>
            <a:ext cx="10900000" cy="82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60000" y="5730000"/>
            <a:ext cx="2000000" cy="820000"/>
          </a:xfrm>
          <a:prstGeom prst="rect">
            <a:avLst/>
          </a:prstGeom>
          <a:solidFill>
            <a:srgbClr val="445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0000" y="594000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Git提交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4" name="TextBox 23"/>
          <p:cNvSpPr txBox="1"/>
          <p:nvPr/>
        </p:nvSpPr>
        <p:spPr>
          <a:xfrm>
            <a:off x="2900000" y="5850000"/>
            <a:ext cx="8500000" cy="5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做完按Ctrl+K提交推送——每周至少1次，工程素养分依据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60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0000" y="2650000"/>
            <a:ext cx="560000" cy="15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50000" y="2450000"/>
            <a:ext cx="9000000" cy="1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6600" b="1">
                <a:solidFill>
                  <a:srgbClr val="F5670F"/>
                </a:solidFill>
                <a:latin typeface="微软雅黑" panose="020B0502040204020203" charset="-122"/>
              </a:rPr>
              <a:t>07</a:t>
            </a:r>
            <a:endParaRPr sz="6600" b="1">
              <a:solidFill>
                <a:srgbClr val="F5670F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200" b="1">
                <a:solidFill>
                  <a:srgbClr val="FFFFFF"/>
                </a:solidFill>
                <a:latin typeface="微软雅黑" panose="020B0502040204020203" charset="-122"/>
              </a:rPr>
              <a:t>拓展与自测</a:t>
            </a:r>
            <a:endParaRPr sz="32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1750000" y="4600000"/>
            <a:ext cx="9000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>
                <a:solidFill>
                  <a:srgbClr val="BBC6E6"/>
                </a:solidFill>
                <a:latin typeface="微软雅黑" panose="020B0502040204020203" charset="-122"/>
              </a:rPr>
              <a:t>把今天的能力圈再画大一圈</a:t>
            </a:r>
            <a:endParaRPr sz="16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81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01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866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02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922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5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03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978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1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04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1034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27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05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10900000" y="5900000"/>
            <a:ext cx="230000" cy="230000"/>
          </a:xfrm>
          <a:prstGeom prst="rect">
            <a:avLst/>
          </a:prstGeom>
          <a:solidFill>
            <a:srgbClr val="2A35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830000" y="6200000"/>
            <a:ext cx="440000" cy="28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900" b="0">
                <a:solidFill>
                  <a:srgbClr val="6674A8"/>
                </a:solidFill>
                <a:latin typeface="微软雅黑" panose="020B0502040204020203" charset="-122"/>
              </a:rPr>
              <a:t>06</a:t>
            </a:r>
            <a:endParaRPr sz="900" b="0">
              <a:solidFill>
                <a:srgbClr val="6674A8"/>
              </a:solidFill>
              <a:latin typeface="微软雅黑" panose="020B0502040204020203" charset="-122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61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产业应用案例（学这个能干什么）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真实场景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三个系统的数据格式不统一，周报要人工合并两小时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用什么解决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Pandas管道+Streamlit仪表盘，一键刷新自动出周报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本课对应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P5的技能点即其最小实现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延伸方向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下一步：模型预警（P6）/智能运维平台（P7选做）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62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课程思政：如盐入水（30秒一个点）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工匠精神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报错必究——每个红色报错都是产线隐患的预演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数据诚信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指标不许造假——改数字骗过测试=产线事故的起点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协作素养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ABCD轮换履职——师傅带徒弟，贡献表如实填报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职业底线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代码抄作业=岗位上的'无证驾驶'，害人害己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63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全课知识图谱回顾（一图收束）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00000" y="2700000"/>
            <a:ext cx="1700000" cy="13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0000" y="2900000"/>
            <a:ext cx="1580000" cy="11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给产线数据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FFFFFF"/>
                </a:solidFill>
                <a:latin typeface="微软雅黑" panose="020B0502040204020203" charset="-122"/>
              </a:rPr>
              <a:t>安个家</a:t>
            </a:r>
            <a:endParaRPr sz="17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700000" y="4300000"/>
            <a:ext cx="1700000" cy="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100" b="0">
                <a:solidFill>
                  <a:srgbClr val="44546A"/>
                </a:solidFill>
                <a:latin typeface="微软雅黑" panose="020B0502040204020203" charset="-122"/>
              </a:rPr>
              <a:t>4条分支导览</a:t>
            </a:r>
            <a:endParaRPr sz="11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cxnSp>
        <p:nvCxnSpPr>
          <p:cNvPr id="8" name="Connector 7"/>
          <p:cNvCxnSpPr/>
          <p:nvPr/>
        </p:nvCxnSpPr>
        <p:spPr>
          <a:xfrm flipV="1">
            <a:off x="2400000" y="2040000"/>
            <a:ext cx="1050000" cy="131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3500000" y="165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500000" y="165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60000" y="187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知识回顾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5140000" y="174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设备1-N测点1-N记录；告警挂设备——应用：见工单starter与教师参考实现 · 外键=关系表达；数据字典逐字段——应用：见工单starter与教师参考实现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cxnSp>
        <p:nvCxnSpPr>
          <p:cNvPr id="13" name="Connector 12"/>
          <p:cNvCxnSpPr/>
          <p:nvPr/>
        </p:nvCxnSpPr>
        <p:spPr>
          <a:xfrm flipV="1">
            <a:off x="2400000" y="2960000"/>
            <a:ext cx="1050000" cy="39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ectangle 13"/>
          <p:cNvSpPr/>
          <p:nvPr/>
        </p:nvSpPr>
        <p:spPr>
          <a:xfrm>
            <a:off x="3500000" y="257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500000" y="257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0000" y="279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技能回顾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5140000" y="266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四表ER设计与ORM建模——应用：见工单starter与教师参考实现 · 批量事务入库——应用：见工单starter与教师参考实现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cxnSp>
        <p:nvCxnSpPr>
          <p:cNvPr id="18" name="Connector 17"/>
          <p:cNvCxnSpPr/>
          <p:nvPr/>
        </p:nvCxnSpPr>
        <p:spPr>
          <a:xfrm>
            <a:off x="2400000" y="3350000"/>
            <a:ext cx="1050000" cy="53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ectangle 18"/>
          <p:cNvSpPr/>
          <p:nvPr/>
        </p:nvSpPr>
        <p:spPr>
          <a:xfrm>
            <a:off x="3500000" y="349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00000" y="349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60000" y="371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易错回顾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5140000" y="358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N+1慢 · 连接泄漏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cxnSp>
        <p:nvCxnSpPr>
          <p:cNvPr id="23" name="Connector 22"/>
          <p:cNvCxnSpPr/>
          <p:nvPr/>
        </p:nvCxnSpPr>
        <p:spPr>
          <a:xfrm>
            <a:off x="2400000" y="3350000"/>
            <a:ext cx="1050000" cy="1450000"/>
          </a:xfrm>
          <a:prstGeom prst="line">
            <a:avLst/>
          </a:prstGeom>
          <a:ln w="20320">
            <a:solidFill>
              <a:srgbClr val="B9C4D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ectangle 23"/>
          <p:cNvSpPr/>
          <p:nvPr/>
        </p:nvSpPr>
        <p:spPr>
          <a:xfrm>
            <a:off x="3500000" y="4410000"/>
            <a:ext cx="8100000" cy="7800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500000" y="4410000"/>
            <a:ext cx="1500000" cy="7800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0000" y="4630000"/>
            <a:ext cx="1380000" cy="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00" b="1">
                <a:solidFill>
                  <a:srgbClr val="FFFFFF"/>
                </a:solidFill>
                <a:latin typeface="微软雅黑" panose="020B0502040204020203" charset="-122"/>
              </a:rPr>
              <a:t>交付物</a:t>
            </a:r>
            <a:endParaRPr sz="13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7" name="TextBox 26"/>
          <p:cNvSpPr txBox="1"/>
          <p:nvPr/>
        </p:nvSpPr>
        <p:spPr>
          <a:xfrm>
            <a:off x="5140000" y="4500000"/>
            <a:ext cx="6340000" cy="6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100" b="0">
                <a:solidFill>
                  <a:srgbClr val="010328"/>
                </a:solidFill>
                <a:latin typeface="微软雅黑" panose="020B0502040204020203" charset="-122"/>
              </a:rPr>
              <a:t>工单P5</a:t>
            </a:r>
            <a:endParaRPr sz="11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30" name="TextBox 29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64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多解法一瞥（同一任务的不同打法）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解法A·直白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按工单步骤顺序实现——好懂好调试，D/C层路线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解法B·工程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函数封装+异常处理——可复用，B层路线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解法C·进阶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向量化/推导式/设计模式——性能优雅，A层路线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怎么选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先让它跑起来→再让它对→最后让它快（KISS原则）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65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自测答案与讲解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850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850000"/>
            <a:ext cx="2000000" cy="10625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60000" y="2181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课前快问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2900000" y="1970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一对多关系在表结构上如何表达？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760000" y="3062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60000" y="3062500"/>
            <a:ext cx="2000000" cy="1062500"/>
          </a:xfrm>
          <a:prstGeom prst="rect">
            <a:avLst/>
          </a:prstGeom>
          <a:solidFill>
            <a:srgbClr val="0545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0000" y="3393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排错题：出现「N+1慢」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2900000" y="3182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原因：循环逐查关联；解决：joinedload一次带出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760000" y="42750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0000" y="4275000"/>
            <a:ext cx="2000000" cy="1062500"/>
          </a:xfrm>
          <a:prstGeom prst="rect">
            <a:avLst/>
          </a:prstGeom>
          <a:solidFill>
            <a:srgbClr val="04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0000" y="46062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复述题：用自己的话说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6" name="TextBox 15"/>
          <p:cNvSpPr txBox="1"/>
          <p:nvPr/>
        </p:nvSpPr>
        <p:spPr>
          <a:xfrm>
            <a:off x="2900000" y="43950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设备1-N测点1-N记录；告警挂设备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760000" y="5487500"/>
            <a:ext cx="10900000" cy="1062500"/>
          </a:xfrm>
          <a:prstGeom prst="rect">
            <a:avLst/>
          </a:prstGeom>
          <a:solidFill>
            <a:srgbClr val="F3F6FD"/>
          </a:solidFill>
          <a:ln>
            <a:solidFill>
              <a:srgbClr val="054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0000" y="5487500"/>
            <a:ext cx="2000000" cy="10625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0000" y="5818750"/>
            <a:ext cx="2000000" cy="42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350" b="1">
                <a:solidFill>
                  <a:srgbClr val="FFFFFF"/>
                </a:solidFill>
                <a:latin typeface="微软雅黑" panose="020B0502040204020203" charset="-122"/>
              </a:rPr>
              <a:t>错题怎么办</a:t>
            </a:r>
            <a:endParaRPr sz="135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20" name="TextBox 19"/>
          <p:cNvSpPr txBox="1"/>
          <p:nvPr/>
        </p:nvSpPr>
        <p:spPr>
          <a:xfrm>
            <a:off x="2900000" y="5607500"/>
            <a:ext cx="8500000" cy="8225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30000"/>
              </a:lnSpc>
              <a:spcAft>
                <a:spcPts val="600"/>
              </a:spcAft>
            </a:pPr>
            <a:r>
              <a:rPr sz="1250" b="0">
                <a:solidFill>
                  <a:srgbClr val="010328"/>
                </a:solidFill>
                <a:latin typeface="微软雅黑" panose="020B0502040204020203" charset="-122"/>
              </a:rPr>
              <a:t>回看对应知识卡+应用页，再跑一遍starter验证</a:t>
            </a:r>
            <a:endParaRPr sz="125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3" name="TextBox 22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66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00000" y="230000"/>
            <a:ext cx="700000" cy="7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00000" y="255000"/>
            <a:ext cx="700000" cy="66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9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500000" y="300000"/>
            <a:ext cx="99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今日一图流总结（贴脑墙上）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820000" y="216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00000" y="205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知识：设备1-N测点1-N记录；告警挂设备；外键=关系表达；数据字典逐字段；ORM声明式+relationship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820000" y="31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00000" y="2990000"/>
            <a:ext cx="102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技能：四表ER设计与ORM建模——应用：见工单starter与教师参考实现；批量事务入库——应用：见工单starter与教师参考实现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820000" y="404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00000" y="393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交付：工单P5《产线数据仓库与ORM》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820000" y="472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100000" y="461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习惯：做完就Ctrl+K提交Git——每周至少1次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820000" y="5400000"/>
            <a:ext cx="120000" cy="12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00000" y="5290000"/>
            <a:ext cx="10200000" cy="68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5000"/>
              </a:lnSpc>
              <a:spcAft>
                <a:spcPts val="600"/>
              </a:spcAft>
            </a:pPr>
            <a:r>
              <a:rPr sz="1500" b="0">
                <a:solidFill>
                  <a:srgbClr val="010328"/>
                </a:solidFill>
                <a:latin typeface="微软雅黑" panose="020B0502040204020203" charset="-122"/>
              </a:rPr>
              <a:t>明日：课前微课+导学单（下次课quiz从中出题）</a:t>
            </a:r>
            <a:endParaRPr sz="1500" b="0">
              <a:solidFill>
                <a:srgbClr val="010328"/>
              </a:solidFill>
              <a:latin typeface="微软雅黑" panose="020B0502040204020203" charset="-122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67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2000" cy="5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0" y="1645920"/>
            <a:ext cx="12192000" cy="15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微软雅黑" panose="020B0502040204020203" charset="-122"/>
              </a:rPr>
              <a:t>THANKS</a:t>
            </a:r>
            <a:endParaRPr sz="5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0" y="3429000"/>
            <a:ext cx="12192000" cy="8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2200" b="1">
                <a:solidFill>
                  <a:srgbClr val="F5670F"/>
                </a:solidFill>
                <a:latin typeface="微软雅黑" panose="020B0502040204020203" charset="-122"/>
              </a:rPr>
              <a:t>感谢聆听 · 动手实践出真知</a:t>
            </a:r>
            <a:endParaRPr sz="2200" b="1">
              <a:solidFill>
                <a:srgbClr val="F5670F"/>
              </a:solidFill>
              <a:latin typeface="微软雅黑" panose="020B0502040204020203" charset="-122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0" y="4526280"/>
            <a:ext cx="12192000" cy="6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600"/>
              </a:spcAft>
            </a:pPr>
            <a:r>
              <a:rPr sz="1400" b="0">
                <a:solidFill>
                  <a:srgbClr val="BBC6E6"/>
                </a:solidFill>
                <a:latin typeface="微软雅黑" panose="020B0502040204020203" charset="-122"/>
              </a:rPr>
              <a:t>以生为本   |   做中学 · 学中做</a:t>
            </a:r>
            <a:endParaRPr sz="1400" b="0">
              <a:solidFill>
                <a:srgbClr val="BBC6E6"/>
              </a:solidFill>
              <a:latin typeface="微软雅黑" panose="020B0502040204020203" charset="-122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68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 panose="020B0502040204020203" charset="-122"/>
              </a:rPr>
              <a:t>下次课预告（第8周）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760000" y="1900000"/>
            <a:ext cx="10900000" cy="1600000"/>
          </a:xfrm>
          <a:prstGeom prst="rect">
            <a:avLst/>
          </a:prstGeom>
          <a:solidFill>
            <a:srgbClr val="F3F6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60000" y="1900000"/>
            <a:ext cx="150000" cy="160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20000" y="2050000"/>
            <a:ext cx="10500000" cy="14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>
                <a:solidFill>
                  <a:srgbClr val="010328"/>
                </a:solidFill>
                <a:latin typeface="微软雅黑" panose="020B0502040204020203" charset="-122"/>
              </a:rPr>
              <a:t>主题: 诊断模型训练与F1达标——应用：见工单start</a:t>
            </a:r>
            <a:endParaRPr sz="1700" b="1">
              <a:solidFill>
                <a:srgbClr val="01032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>
                <a:solidFill>
                  <a:srgbClr val="44546A"/>
                </a:solidFill>
                <a:latin typeface="微软雅黑" panose="020B0502040204020203" charset="-122"/>
              </a:rPr>
              <a:t>预习快问: 过拟合的信号是什么？怎么防？</a:t>
            </a:r>
            <a:endParaRPr sz="130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760000" y="3900000"/>
            <a:ext cx="10900000" cy="9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>
                <a:solidFill>
                  <a:srgbClr val="0545E8"/>
                </a:solidFill>
                <a:latin typeface="微软雅黑" panose="020B0502040204020203" charset="-122"/>
              </a:rPr>
              <a:t>课前完成：导学单 + 预习自测 + starter环境自检</a:t>
            </a:r>
            <a:endParaRPr sz="1400" b="1">
              <a:solidFill>
                <a:srgbClr val="0545E8"/>
              </a:solidFill>
              <a:latin typeface="微软雅黑" panose="020B0502040204020203" charset="-122"/>
            </a:endParaRP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50" b="0">
                <a:solidFill>
                  <a:srgbClr val="44546A"/>
                </a:solidFill>
                <a:latin typeface="微软雅黑" panose="020B0502040204020203" charset="-122"/>
              </a:rPr>
              <a:t>带着问题来上课——Predict先于Run</a:t>
            </a:r>
            <a:endParaRPr sz="1250" b="0">
              <a:solidFill>
                <a:srgbClr val="44546A"/>
              </a:solidFill>
              <a:latin typeface="微软雅黑" panose="020B0502040204020203" charset="-122"/>
            </a:endParaRP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本任务六步法导航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六步法：资讯 → 计划 → 决策 → 实施 → 检查 → 评估</a:t>
            </a:r>
          </a:p>
          <a:p>
            <a:pPr>
              <a:spcAft>
                <a:spcPts val="1000"/>
              </a:spcAft>
            </a:pPr>
            <a:r>
              <a:rPr sz="1800"/>
              <a:t>本讲对应工单：《Python程序设计-项目实战》分层任务工单</a:t>
            </a:r>
          </a:p>
          <a:p>
            <a:pPr>
              <a:spcAft>
                <a:spcPts val="1000"/>
              </a:spcAft>
            </a:pPr>
            <a:r>
              <a:rPr sz="1800"/>
              <a:t>课堂产出：工单第六节实施记录须当堂填写，含操作前安全打勾与学生本人签字。</a:t>
            </a:r>
          </a:p>
          <a:p>
            <a:pPr>
              <a:spcAft>
                <a:spcPts val="1000"/>
              </a:spcAft>
            </a:pPr>
            <a:r>
              <a:rPr sz="1800"/>
              <a:t>课后交付：班组长／操作员／教师三方联签后交回，缺签视为未交付。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72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/>
              <a:t>本讲与岗位任务单的衔接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1072896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800"/>
              <a:t>本讲在工作过程系统化课程中承担的任务环节：任务实施</a:t>
            </a:r>
          </a:p>
          <a:p>
            <a:pPr>
              <a:spcAft>
                <a:spcPts val="1000"/>
              </a:spcAft>
            </a:pPr>
            <a:r>
              <a:rPr sz="1800"/>
              <a:t>考核对齐：过程性成绩取自本讲工单第六节各模块得分合计（满分 100）。</a:t>
            </a:r>
          </a:p>
          <a:p>
            <a:pPr>
              <a:spcAft>
                <a:spcPts val="1000"/>
              </a:spcAft>
            </a:pPr>
            <a:r>
              <a:rPr sz="1800"/>
              <a:t>达标线：综合成绩≥60 分，且无安全红线一票否决记录</a:t>
            </a:r>
          </a:p>
          <a:p>
            <a:pPr>
              <a:spcAft>
                <a:spcPts val="1000"/>
              </a:spcAft>
            </a:pPr>
            <a:r>
              <a:rPr sz="1800"/>
              <a:t>无效工单判定：未打安全勾、无本人签字、无三方联签。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本课重难点地图 · 老师划重点（动手前必看）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38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动手前先看这页：重点要会什么、难点会卡在哪、哪里最容易错、学没学会怎么自测。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1783080"/>
            <a:ext cx="5532120" cy="312724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1783080"/>
            <a:ext cx="5532120" cy="365760"/>
          </a:xfrm>
          <a:prstGeom prst="rect">
            <a:avLst/>
          </a:prstGeom>
          <a:solidFill>
            <a:srgbClr val="2F5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1819656"/>
            <a:ext cx="5312664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重点 · 必会必考（本课知识点全景）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1792" y="2267712"/>
            <a:ext cx="525780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50" b="0">
                <a:solidFill>
                  <a:srgbClr val="2B2F36"/>
                </a:solidFill>
                <a:latin typeface="微软雅黑"/>
              </a:rPr>
              <a:t>◆ B01 仓库模式｜仓库模式=档案室三级索引：设备档案1-N测点盒N-记录纸；告警挂档案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B02 外键与数据字典｜外键=档案间的挂锁引用；数据字典=每格抽屉的说明书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B03 ORM声明式｜ORM=用Python类'声明'表结构——类即表，字段即属性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B04 bulk批量插入｜bulk=整车运输vs逐件快递：一次提交万行，快10倍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B05 N+1陷阱｜N+1=点一名学生跑一趟教务处——列表页逐条查询卡顿元凶</a:t>
            </a:r>
          </a:p>
          <a:p>
            <a:r>
              <a:rPr sz="950" b="0">
                <a:solidFill>
                  <a:srgbClr val="2B2F36"/>
                </a:solidFill>
                <a:latin typeface="微软雅黑"/>
              </a:rPr>
              <a:t>◆ B06 索引与EXPLAIN｜索引=书后索引页：查得快但每页写书都要多维护一份——有代价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44768" y="1783080"/>
            <a:ext cx="5586984" cy="148132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44768" y="1783080"/>
            <a:ext cx="5586984" cy="365760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54496" y="1819656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难点 · 易卡壳（下一页逐个击破）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309360" y="2231136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误区：一张大宽表塞所有——先画ER再建表，表错后面全返工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误区：字段含义靠口口相传——字典进docs/新同事不看代码也能懂库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▲ 误区：ORM与裸SQL二选一——CRUD用ORM，复杂聚合报表裸SQL更快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44768" y="3401568"/>
            <a:ext cx="5586984" cy="1508760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144768" y="3401568"/>
            <a:ext cx="5586984" cy="365760"/>
          </a:xfrm>
          <a:prstGeom prst="rect">
            <a:avLst/>
          </a:prstGeom>
          <a:solidFill>
            <a:srgbClr val="9A3B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54496" y="3438144"/>
            <a:ext cx="536752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高频易错 · 动手前先记住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3849624"/>
            <a:ext cx="530352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✗ N+1慢 → joinedload一次带出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连接泄漏 → with Session()自动关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✗ 索引不生效 → (device_id,ts)联合序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5047488"/>
            <a:ext cx="11274552" cy="1207008"/>
          </a:xfrm>
          <a:prstGeom prst="rect">
            <a:avLst/>
          </a:prstGeom>
          <a:solidFill>
            <a:srgbClr val="FFFFFF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5047488"/>
            <a:ext cx="11274552" cy="365760"/>
          </a:xfrm>
          <a:prstGeom prst="rect">
            <a:avLst/>
          </a:prstGeom>
          <a:solidFill>
            <a:srgbClr val="2E7D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66928" y="5084064"/>
            <a:ext cx="11055096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1">
                <a:solidFill>
                  <a:srgbClr val="FFFFFF"/>
                </a:solidFill>
                <a:latin typeface="微软雅黑"/>
              </a:rPr>
              <a:t>达标自问 · 学没学会，问自己这四句（当堂评分同口径）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1792" y="5458968"/>
            <a:ext cx="10972800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>
                <a:solidFill>
                  <a:srgbClr val="2B2F36"/>
                </a:solidFill>
                <a:latin typeface="微软雅黑"/>
              </a:rPr>
              <a:t>① 及格线我能过吗——4表合理+ORM入库+2条查询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② 优秀线我够吗——数据字典完整+批量事务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③ 技能点我能独立做出来吗——四表ER设计与ORM建模；批量事务入库</a:t>
            </a:r>
          </a:p>
          <a:p>
            <a:r>
              <a:rPr sz="900" b="0">
                <a:solidFill>
                  <a:srgbClr val="2B2F36"/>
                </a:solidFill>
                <a:latin typeface="微软雅黑"/>
              </a:rPr>
              <a:t>④ 报错了先查「常见错误速查」页再举手——错误信息逐字读一遍，八成自己能修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150000"/>
          </a:xfrm>
          <a:prstGeom prst="rect">
            <a:avLst/>
          </a:prstGeom>
          <a:solidFill>
            <a:srgbClr val="0103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50000"/>
            <a:ext cx="2600000" cy="70000"/>
          </a:xfrm>
          <a:prstGeom prst="rect">
            <a:avLst/>
          </a:prstGeom>
          <a:solidFill>
            <a:srgbClr val="F5670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00000" y="300000"/>
            <a:ext cx="10792000" cy="7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400" b="1">
                <a:solidFill>
                  <a:srgbClr val="FFFFFF"/>
                </a:solidFill>
                <a:latin typeface="微软雅黑"/>
              </a:rPr>
              <a:t>难点逐个击破 · 零基础照做就能会</a:t>
            </a:r>
            <a:endParaRPr sz="2400" b="1">
              <a:solidFill>
                <a:srgbClr val="FFFFFF"/>
              </a:solidFill>
              <a:latin typeface="微软雅黑" panose="020B0502040204020203" charset="-122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00000" y="6500000"/>
            <a:ext cx="11100000" cy="20000"/>
          </a:xfrm>
          <a:prstGeom prst="rect">
            <a:avLst/>
          </a:prstGeom>
          <a:solidFill>
            <a:srgbClr val="C9D4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0000" y="6540000"/>
            <a:ext cx="7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 panose="020B0502040204020203" charset="-122"/>
              </a:rPr>
              <a:t>两江智造集团 · Python程序设计（项目实战）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10600000" y="6540000"/>
            <a:ext cx="1000000" cy="3000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10000"/>
              </a:lnSpc>
              <a:spcAft>
                <a:spcPts val="600"/>
              </a:spcAft>
            </a:pPr>
            <a:r>
              <a:rPr sz="1000" b="0">
                <a:solidFill>
                  <a:srgbClr val="8A97B5"/>
                </a:solidFill>
                <a:latin typeface="微软雅黑"/>
              </a:rPr>
              <a:t>39 / 71</a:t>
            </a:r>
            <a:endParaRPr sz="1000" b="0">
              <a:solidFill>
                <a:srgbClr val="8A97B5"/>
              </a:solidFill>
              <a:latin typeface="微软雅黑" panose="020B0502040204020203" charset="-122"/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457200" y="1389888"/>
            <a:ext cx="11274552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50" b="0">
                <a:solidFill>
                  <a:srgbClr val="6B7280"/>
                </a:solidFill>
                <a:latin typeface="微软雅黑"/>
              </a:rPr>
              <a:t>每个难点四步走：先看「为什么容易栽」对号入座 → 记住「一招破解」→ 照「动手验证」做一遍 → 做不出回知识详解页。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17830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17830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" y="1828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难点1：B01 仓库模式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8368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误区：一张大宽表塞所有——先画ER再建表，表错后面全返工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34255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34255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仓库模式=档案室三级索引：设备档案1-N测点盒N-记录纸；告警挂档案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010143" y="21488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10143" y="23865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时序数据入库的关系建模——三张主表 devices / metrics / alarms 外键关联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3832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33832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58368" y="34290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难点2：B02 外键与数据字典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误区：字段含义靠口口相传——字典进docs/新同事不看代码也能懂库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334255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34255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外键=档案间的挂锁引用；数据字典=每格抽屉的说明书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010143" y="37490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10143" y="39867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表关系与字段口径的成文契约 metrics.device_id REFERENCES devices.id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57200" y="4983480"/>
            <a:ext cx="11274552" cy="1481328"/>
          </a:xfrm>
          <a:prstGeom prst="rect">
            <a:avLst/>
          </a:prstGeom>
          <a:solidFill>
            <a:srgbClr val="F7F9FC"/>
          </a:solidFill>
          <a:ln>
            <a:solidFill>
              <a:srgbClr val="D6DC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4983480"/>
            <a:ext cx="82296" cy="1481328"/>
          </a:xfrm>
          <a:prstGeom prst="rect">
            <a:avLst/>
          </a:prstGeom>
          <a:solidFill>
            <a:srgbClr val="8A4B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58368" y="50292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>
                <a:solidFill>
                  <a:srgbClr val="8A4B2D"/>
                </a:solidFill>
                <a:latin typeface="微软雅黑"/>
              </a:rPr>
              <a:t>难点3：B03 ORM声明式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8368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B5533A"/>
                </a:solidFill>
                <a:latin typeface="微软雅黑"/>
              </a:rPr>
              <a:t>为什么容易栽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误区：ORM与裸SQL二选一——CRUD用ORM，复杂聚合报表裸SQL更快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34255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2E7D46"/>
                </a:solidFill>
                <a:latin typeface="微软雅黑"/>
              </a:rPr>
              <a:t>一招破解（记住这句）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334255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ORM=用Python类'声明'表结构——类即表，字段即属性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010143" y="5349240"/>
            <a:ext cx="35661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1">
                <a:solidFill>
                  <a:srgbClr val="35506E"/>
                </a:solidFill>
                <a:latin typeface="微软雅黑"/>
              </a:rPr>
              <a:t>动手验证（照做一遍）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010143" y="5586984"/>
            <a:ext cx="3584448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850" b="0">
                <a:solidFill>
                  <a:srgbClr val="2B2F36"/>
                </a:solidFill>
                <a:latin typeface="微软雅黑"/>
              </a:rPr>
              <a:t>SQL写进类定义——类型安全+自动建表 class Metric(Base): __tablename__='metrics'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11280</Words>
  <Application>WPS 文字</Application>
  <PresentationFormat>On-screen Show (4:3)</PresentationFormat>
  <Paragraphs>1347</Paragraphs>
  <Slides>63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7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63</vt:i4>
      </vt:variant>
    </vt:vector>
  </HeadingPairs>
  <TitlesOfParts>
    <vt:vector size="71" baseType="lpstr">
      <vt:lpstr>Arial</vt:lpstr>
      <vt:lpstr>宋体</vt:lpstr>
      <vt:lpstr>Wingdings</vt:lpstr>
      <vt:lpstr>Arial</vt:lpstr>
      <vt:lpstr>微软雅黑</vt:lpstr>
      <vt:lpstr>Calibri</vt:lpstr>
      <vt:lpstr>Arial Unicode MS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dc:description>generated using python-pptx</dc:description>
  <cp:lastModifiedBy>天琼恩泽</cp:lastModifiedBy>
  <cp:revision>2</cp:revision>
  <dcterms:created xsi:type="dcterms:W3CDTF">2026-10-26T08:05:19Z</dcterms:created>
  <dcterms:modified xsi:type="dcterms:W3CDTF">2026-10-26T08:05:19Z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3376CFC66D4D1271BF09DF6ADF36118F_42</vt:lpwstr>
  </property>
  <property fmtid="{D5CDD505-2E9C-101B-9397-08002B2CF9AE}" pid="3" name="KSOProductBuildVer">
    <vt:lpwstr>2052-12.1.28496.28496</vt:lpwstr>
  </property>
</Properties>
</file>