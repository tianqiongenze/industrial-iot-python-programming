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3" r:id="rId9"/>
    <p:sldId id="264" r:id="rId10"/>
    <p:sldId id="266" r:id="rId11"/>
    <p:sldId id="267" r:id="rId12"/>
    <p:sldId id="271" r:id="rId13"/>
    <p:sldId id="273" r:id="rId14"/>
    <p:sldId id="274" r:id="rId15"/>
    <p:sldId id="275" r:id="rId16"/>
    <p:sldId id="276" r:id="rId17"/>
    <p:sldId id="277" r:id="rId18"/>
    <p:sldId id="278" r:id="rId19"/>
    <p:sldId id="280" r:id="rId20"/>
    <p:sldId id="281" r:id="rId21"/>
    <p:sldId id="282" r:id="rId22"/>
    <p:sldId id="287" r:id="rId23"/>
    <p:sldId id="289" r:id="rId24"/>
    <p:sldId id="292" r:id="rId25"/>
    <p:sldId id="295" r:id="rId26"/>
    <p:sldId id="298" r:id="rId27"/>
    <p:sldId id="301" r:id="rId28"/>
    <p:sldId id="304" r:id="rId29"/>
    <p:sldId id="305" r:id="rId30"/>
    <p:sldId id="309" r:id="rId31"/>
    <p:sldId id="311" r:id="rId32"/>
    <p:sldId id="312" r:id="rId33"/>
    <p:sldId id="368" r:id="rId34"/>
    <p:sldId id="369" r:id="rId35"/>
    <p:sldId id="370" r:id="rId36"/>
    <p:sldId id="316" r:id="rId37"/>
    <p:sldId id="317" r:id="rId38"/>
    <p:sldId id="318" r:id="rId39"/>
    <p:sldId id="319" r:id="rId40"/>
    <p:sldId id="320" r:id="rId41"/>
    <p:sldId id="322" r:id="rId42"/>
    <p:sldId id="324" r:id="rId43"/>
    <p:sldId id="326" r:id="rId44"/>
    <p:sldId id="328" r:id="rId45"/>
    <p:sldId id="329" r:id="rId46"/>
    <p:sldId id="331" r:id="rId47"/>
    <p:sldId id="333" r:id="rId48"/>
    <p:sldId id="367" r:id="rId49"/>
    <p:sldId id="335" r:id="rId50"/>
    <p:sldId id="336" r:id="rId51"/>
    <p:sldId id="337" r:id="rId52"/>
    <p:sldId id="338" r:id="rId53"/>
    <p:sldId id="339" r:id="rId54"/>
    <p:sldId id="341" r:id="rId55"/>
    <p:sldId id="342" r:id="rId56"/>
    <p:sldId id="343" r:id="rId57"/>
    <p:sldId id="345" r:id="rId58"/>
    <p:sldId id="346" r:id="rId59"/>
    <p:sldId id="347" r:id="rId60"/>
    <p:sldId id="354" r:id="rId61"/>
    <p:sldId id="359" r:id="rId62"/>
    <p:sldId id="360" r:id="rId63"/>
    <p:sldId id="361" r:id="rId64"/>
    <p:sldId id="365" r:id="rId65"/>
    <p:sldId id="366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9" Type="http://schemas.openxmlformats.org/officeDocument/2006/relationships/tableStyles" Target="tableStyles.xml"/><Relationship Id="rId68" Type="http://schemas.openxmlformats.org/officeDocument/2006/relationships/viewProps" Target="viewProps.xml"/><Relationship Id="rId67" Type="http://schemas.openxmlformats.org/officeDocument/2006/relationships/presProps" Target="presProps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开场30秒：本次课《给产线数据安个家》，80分钟＝2课时×40分钟。课前已发工单+starter+微课知识卡，资讯·计划线上完成。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情境说书（30秒，口头讲，不必逐字念）：数据落了地却没有家。吴工：'给数据建个仓库吧——设备、测点、记录、告警四张表。'——工单P5：ER设计+ORM开发+索引优化。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详解B1·仓库模式：先读定义→场景为什么用它→看代码实例→扩展给A层。C/D层掌握前三格，A层加扩展格。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详解B2·外键与数据字典：先读定义→场景为什么用它→看代码实例→扩展给A层。C/D层掌握前三格，A层加扩展格。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详解B3·ORM声明式：先读定义→场景为什么用它→看代码实例→扩展给A层。C/D层掌握前三格，A层加扩展格。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详解B4·bulk批量插入：先读定义→场景为什么用它→看代码实例→扩展给A层。C/D层掌握前三格，A层加扩展格。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详解B5·N+1陷阱：先读定义→场景为什么用它→看代码实例→扩展给A层。C/D层掌握前三格，A层加扩展格。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详解B6·索引与EXPLAIN：先读定义→场景为什么用它→看代码实例→扩展给A层。C/D层掌握前三格，A层加扩展格。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现场演示《ORM模型+查询》：三步走——先整段跑通看结果，再逐行讲关键语句，最后现场改一个参数看输出变化（演10分钟的核心素材）。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错误速查：现场演示第一条——制造「N+1慢」，带着学生按'现象→原因→解决'三步排查。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2040204020203" charset="-122"/>
              </a:rPr>
              <a:t>Python程序设计（项目实战）</a:t>
            </a:r>
            <a:endParaRPr sz="2200" b="0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3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2040204020203" charset="-122"/>
              </a:rPr>
              <a:t>给产线数据安个家</a:t>
            </a:r>
            <a:endParaRPr sz="34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2040204020203" charset="-122"/>
              </a:rPr>
              <a:t>第七周 · 第13次课（2课时 · 80分钟）</a:t>
            </a:r>
            <a:endParaRPr sz="1800" b="0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双创中心302实训室  ·  理实一体  ·  配套：分层工单+starter  ·  本课主用：PyCharm CE + ProcessOn（ER图设计）+ Git/GitHub（每周提交）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性质·岗位·证书：为什么学这门课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80分钟时间盒与ABCD分层节奏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带着目标进课堂+两江智造本课剧情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基础知识大卡+代码演示（先例后理）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工单发布·分层执行·避坑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三层质检·当堂评分·课后任务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9675" y="1415415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资讯·计划已于课前线上完成——课堂从决策/演示直接开始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本课在课程体系中的位置（课程标准摘录）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课程定位：Python程序设计（项目实战）（课程标准摘录）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自包含工程应用课：C语言底子直接上工业项目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数据工程师、数据分析、AI应用、采集技术员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Python开发、数据应用与服务（1+X）、AI应用实践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前置仅需C语言 → 本课(第1-8周) → 后：毕业设计/平台实习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给产线数据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安个家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设备1-N测点1-N记录；告警挂设备——应用：见工单starter与教师参考实现 · 外键=关系表达；数据字典逐字段——应用：见工单starter与教师参考实现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ORM声明式+relationship——应用：见工单starter与教师参考实现 · bulk批量插入快10倍——应用：见工单starter与教师参考实现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 · 批量事务入库——应用：见工单starter与教师参考实现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知识地图分支详解（二）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技能线：四表ER设计与ORM建模——应用：见工单starter与教师参考实现；批量事务入库——应用：见工单starter与教师参考实现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分层任务线：D跟做→C独立→B帮带→A拓展（每4周动态升降）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课堂评价线：功能40%+技术25%+规范20%+素养15%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三条线闭环：技能靠任务练，任务按评价收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数字化转型办公室：数据工程师、数据分析工程师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P5《产线数据仓库与ORM》——本课工单即考核单元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Python开发职业技能等级证书（工信部）——工程模板/数据处理对应中级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世界职业院校技能大赛（人工智能赛道）数据采集/处理赛项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7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80分钟时间盒与个人节奏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8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9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带着目标进课堂（Predict·预测）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10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目标：掌握关系数据库建模方法与SQL核心语法；掌握SQLAlchemy ORM的模型定义与查询；理解索引与查询优化原理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11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目标：能够完成4表ER设计并建库；能够用ORM实现采集数据入库与统计查询；能够对比直写/批量写性能并优化。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怎么证：工单'功能40%'全项+运行截图贴过程记录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达标线：代码能跑+输出符合工单样例=过关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12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目标：树立“数据资产”管理意识，培养先设计后编码的工程规范化习惯。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怎么养：规范命名/及时提交/报错必究——每个工单都在练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达标线：提交记录连续+命名规范=过关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13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2040204020203" charset="-122"/>
              </a:rPr>
              <a:t>一对多关系在表结构上如何表达？</a:t>
            </a:r>
            <a:endParaRPr sz="16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模板仓库已克隆更新；导学单与实施计划已提交平台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14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课前预习与检查（教材衔接 · 上次课回顾）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📖 课前预习｜下次课教材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《Python程序设计项目化教》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项目4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SQLAlchemy ORM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ER设计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批量写入与索引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✓ 课中检查｜上次课（W6）抽查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 panose="020B0502040204020203" charset="-122"/>
              </a:rPr>
              <a:t>抽查1</a:t>
            </a:r>
            <a:endParaRPr sz="1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采集率≥95%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 panose="020B0502040204020203" charset="-122"/>
              </a:rPr>
              <a:t>抽查方式：随机2人白板演示/口述——答对记过程分</a:t>
            </a:r>
            <a:endParaRPr sz="11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15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题目：一对多关系在表结构上如何表达？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常见错误：背概念不看场景；看到代码就慌，先读注释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本课回收：这道题的考点会在知识卡X和随堂自测中再次出现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16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2040204020203" charset="-122"/>
              </a:rPr>
              <a:t>数据落了地却没有家。吴工：'给数据建个仓库吧——设备、测点、记录、告警四张表。'——工单P5：ER设计+ORM开发+索引优化。</a:t>
            </a:r>
            <a:endParaRPr sz="14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17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任务背景：数据落了地却没有家。吴工：'给数据建个仓库吧——设备、测点、记录、告警四张表。'——工单P5：ER设计+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冲突点：产线数据量大/格式杂/时限紧——手工做不完，必须编程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决策点：先做什么再做什么？数据从哪来？输出给谁看？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带着这三个问题进入知识精讲——每个知识点都是解药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18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三维目标 → 怎么算达标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知识目标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掌握关系数据库建模方法与SQL核心语法；掌握SQLAlchemy ORM的模型定义与查询；理解索引与查询优化原理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能力目标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能够完成4表ER设计并建库；能够用ORM实现采集数据入库与统计查询；能够对比直写/批量写性能并优化。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素质目标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树立“数据资产”管理意识，培养先设计后编码的工程规范化习惯。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达标口径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对应工单P5评分：功能40%+技术25%+规范20%+素养15%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19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基础知识 → 详解 → 技能 → 代码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20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知识详解：仓库模式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B01 · 仓库模式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仓库模式=档案室三级索引：设备档案1-N测点盒N-记录纸；告警挂档案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时序数据入库的关系建模——三张主表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devices / metrics / alarms 外键关联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误区：一张大宽表塞所有——先画ER再建表，表错后面全返工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21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知识详解：外键与数据字典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B02 · 外键与数据字典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外键=档案间的挂锁引用；数据字典=每格抽屉的说明书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表关系与字段口径的成文契约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metrics.device_id REFERENCES devices.id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误区：字段含义靠口口相传——字典进docs/新同事不看代码也能懂库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22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知识详解：ORM声明式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B03 · ORM声明式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ORM=用Python类'声明'表结构——类即表，字段即属性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SQL写进类定义——类型安全+自动建表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class Metric(Base): __tablename__='metrics'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误区：ORM与裸SQL二选一——CRUD用ORM，复杂聚合报表裸SQL更快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23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知识详解：bulk批量插入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B04 · bulk批量插入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bulk=整车运输vs逐件快递：一次提交万行，快10倍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万级记录必备——逐条insert是性能杀手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session.bulk_save_objects(metrics_rows)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误区：bulk完不commit——数据只在内存，进程一退全没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24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知识详解：N+1陷阱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B05 · N+1陷阱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N+1=点一名学生跑一趟教务处——列表页逐条查询卡顿元凶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查询列表页卡顿的头号原因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session.query(Device).options(joinedload(Device.alarms))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误区：小数据量感觉不到——数据上万秒变分钟，echo=True眼见为实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25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知识详解：索引与EXPLAIN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B06 · 索引与EXPLAIN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索引=书后索引页：查得快但每页写书都要多维护一份——有代价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按设备查时段是最高频查询——(device_id,ts)复合索引正覆盖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CREATE INDEX idx_dev_ts ON metrics(device_id, ts)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误区：索引滥建——写入每行都更新所有索引，写多读少的表别加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26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知识应用（6）：索引(device_id,ts)+EXPLA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索引(device_id,ts)+EXPLAIN。在两江智造产线上的用法：见工单starter与教师参考实现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27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JOIN聚合统计查询——应用：见工单starter与教师参考实现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索引优化前后对比取证——应用：见工单starter与教师参考实现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28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给产线数据安个家（1）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关系数据库基础：表、主键、外键、索引；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工业数据建模：设备表、测点表、采集记录表、告警事件表的ER设计；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SQL核心：CREATE/INSERT/SELECT/WHERE/GROUP BY/JOIN；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查询优化初步：EXPLAIN执行计划、索引命中。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29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关键代码：ORM模型+查询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class Rec(Base):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__tablename__ = "records"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id = Column(Integer, primary_key=True)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device_id = Column(Integer, ForeignKey("devices.id"))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ts = Column(DateTime); vib = Column(Float)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print(s.execute(select(Dev.code, func.avg(Rec.vib))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.join(Rec, Rec.device_id==Dev.id).group_by(Dev.code)).all())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30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工程化代码：极简ORM·内存表+倒排索引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class Table: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__init__(self, name, fields):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not fields: raise ValueError("未定义字段")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self.name = name; self.fields = list(fields)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self.rows = []; self.indexes = {}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create_index(self, col):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inv = {}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for i, r in enumerate(self.rows):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inv.setdefault(r[col], set()).add(i)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self.indexes[col] = inv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where(self, **kw):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len(kw) == 1: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col, val = next(iter(kw.items()))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if col in self.indexes: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return [self.rows[i] for i in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        sorted(self.indexes[col].get(val, set()))]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return [r for r in self.rows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if all(r.get(k) == v for k, v in kw.items())]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31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len(tbl.where(device_id="DEV-02")) == 3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test_no_index(tbl):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tbl.explain(temp=3.0) == "FULL SCAN"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32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按 正常/边界/异常 三档覆盖——可靠性是被测出来的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TC-02 索引查询正确 | TC-03 无索引→FULL SCAN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TC-04 空字段表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len(tbl.where(device_id="DEV-02")) == 3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test_no_index(tbl):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tbl.explain(temp=3.0) == "FULL SCAN"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缺陷记录: 本轮无遗留；退出码 0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33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工单 · 分层 · 步骤 · 避坑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34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决策：数据访问方式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方式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效率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性能可控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裸SQL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SQLAlchemy Core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ORM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决策结论写入工单，答辩必答；实施失误回溯决策复盘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35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本课决策题：决策：数据访问方式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问②值吗——开发时间/运行速度/可维护性三角权衡（工程账）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36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实施任务：工单P5《产线数据仓库与ORM》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四表模型+relationship(back_populates)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bulk批量事务入库(100/批)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按设备平均vib/告警Top3查询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4表合理+ORM入库+2条查询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数据字典完整+批量事务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37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ER观察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跑参考ER演示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手绘关系图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标主外键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能画四表连线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38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两表起步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devices+records两表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插入并查询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打印统计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能入库能查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39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仓库+统计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四表ORM建模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bulk入库500条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均值/Top3/时段聚合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溯源查询正确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40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闭环演示+健康报告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接P3仪表盘读库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窗口函数环比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慢查询Top3报告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EXPLAIN证据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 panose="020B0502040204020203" charset="-122"/>
              </a:rPr>
              <a:t>(A层加码: 复杂查询：多表JOIN+窗口函数（按小时聚合+环比）SQL与ORM双实现)</a:t>
            </a:r>
            <a:endParaRPr sz="11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41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四表模型+relationship(back_populates)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bulk批量事务入库(100/批)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按设备平均vib/告警Top3查询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2040204020203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DateTime存ISO，别存字符串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bulk_save_objects批量插入比逐条add快10倍+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session用完即with关闭，防连接泄漏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42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N+1慢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循环逐查关联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joinedload一次带出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连接泄漏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session未关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with Session()自动关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索引不生效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列序不对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(device_id,ts)联合序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43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D·学徒（≥60）：ER观察——跟做保底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C·操作员（≥70）：两表起步——基础完成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B·组长（≥80）：仓库+统计——标准达成+帮带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A·师傅（≥90）：闭环演示+健康报告——进阶拓展+费曼讲解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规则：每人按工单勾选自己的层；每4周按达标情况动态升降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44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输出格式符合工单样例（对齐/单位/小数位）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文件命名：学号_姓名_工单号.py（不对=扣规范分）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运行截图已贴工单过程记录栏（过程性证据）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conda环境正确（提示符显示(pp03）再运行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45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  <a:endParaRPr sz="1100" b="1">
              <a:solidFill>
                <a:srgbClr val="0B5E54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P5 数据仓库完成态</a:t>
            </a:r>
            <a:endParaRPr sz="2200" b="1">
              <a:solidFill>
                <a:srgbClr val="1B2B2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  <a:endParaRPr sz="1300" b="1">
              <a:solidFill>
                <a:srgbClr val="0B5E54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四表建表成功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索引生效（EXPLAIN 走索引）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批量插入万行 &lt; 5 秒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血缘查询可用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  <a:endParaRPr sz="1150" b="1">
              <a:solidFill>
                <a:srgbClr val="1B2B28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  <a:endParaRPr sz="1050" b="0">
              <a:solidFill>
                <a:srgbClr val="5C6E6A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  <a:endParaRPr sz="900" b="0">
              <a:solidFill>
                <a:srgbClr val="5C6E6A"/>
              </a:solidFill>
            </a:endParaRPr>
          </a:p>
        </p:txBody>
      </p:sp>
      <p:pic>
        <p:nvPicPr>
          <p:cNvPr id="32" name="Picture 31" descr="shot_w5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47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48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提交物与评分（工单P5）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命名: 学号_姓名_P5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2040204020203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49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总结评价与课后任务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评价（10分钟）：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按D/C/B/A量表当堂评分；工单24小时内反馈评语与改进建议。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完成工单P5《产线数据仓库》：及格标准4表设计合理+ORM入库+基础统计；优秀标准含索引优化+批量写入+复杂查询；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完成ER图与数据字典文档；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预习机器学习基本流程（训练/验证/预测）。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 panose="020B0502040204020203" charset="-122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见下次课工单任务书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50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工程责任：代码可维护、文档完整、测试先行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绿色计算：向量化省算力, 批量写入降开销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职业规划：以项目档案袋对接岗位与竞赛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51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52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pandas读取大CSV慢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usecols选列+chunksize分块读，见W3微课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Modbus连接拒绝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先起plc_simulator再连5020；确认host是教师机IP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streamlit页面不刷新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改代码后浏览器右上Rerun或按R键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53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学生代码框架/——TODO注释即步骤提示，未填也能跑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Jupyter实训/——本周notebook师生版，先跑教师版看答案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做完按Ctrl+K提交推送——每周至少1次，工程素养分依据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54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55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三个系统的数据格式不统一，周报要人工合并两小时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Pandas管道+Streamlit仪表盘，一键刷新自动出周报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P5的技能点即其最小实现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下一步：模型预警（P6）/智能运维平台（P7选做）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56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报错必究——每个红色报错都是产线隐患的预演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协作素养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ABCD轮换履职——师傅带徒弟，贡献表如实填报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代码抄作业=岗位上的'无证驾驶'，害人害己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57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给产线数据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安个家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设备1-N测点1-N记录；告警挂设备——应用：见工单starter与教师参考实现 · 外键=关系表达；数据字典逐字段——应用：见工单starter与教师参考实现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 · 批量事务入库——应用：见工单starter与教师参考实现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N+1慢 · 连接泄漏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工单P5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58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函数封装+异常处理——可复用，B层路线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向量化/推导式/设计模式——性能优雅，A层路线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先让它跑起来→再让它对→最后让它快（KISS原则）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59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自测答案与讲解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课前快问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一对多关系在表结构上如何表达？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排错题：出现「N+1慢」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原因：循环逐查关联；解决：joinedload一次带出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复述题：用自己的话说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错题怎么办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回看对应知识卡+应用页，再跑一遍starter验证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60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知识：设备1-N测点1-N记录；告警挂设备；外键=关系表达；数据字典逐字段；ORM声明式+relationship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技能：四表ER设计与ORM建模——应用：见工单starter与教师参考实现；批量事务入库——应用：见工单starter与教师参考实现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交付：工单P5《产线数据仓库与ORM》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习惯：做完就Ctrl+K提交Git——每周至少1次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61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2040204020203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2040204020203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2040204020203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62 / 63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下次课预告（第8周）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2040204020203" charset="-122"/>
              </a:rPr>
              <a:t>主题: 诊断模型训练与F1达标——应用：见工单start</a:t>
            </a:r>
            <a:endParaRPr sz="17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预习快问: 过拟合的信号是什么？怎么防？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2040204020203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11280</Words>
  <Application>WPS 文字</Application>
  <PresentationFormat>On-screen Show (4:3)</PresentationFormat>
  <Paragraphs>1347</Paragraphs>
  <Slides>63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63</vt:i4>
      </vt:variant>
    </vt:vector>
  </HeadingPairs>
  <TitlesOfParts>
    <vt:vector size="7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天琼恩泽</cp:lastModifiedBy>
  <cp:revision>2</cp:revision>
  <dcterms:created xsi:type="dcterms:W3CDTF">2026-10-26T08:05:19Z</dcterms:created>
  <dcterms:modified xsi:type="dcterms:W3CDTF">2026-10-26T08:05:19Z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3376CFC66D4D1271BF09DF6ADF36118F_42</vt:lpwstr>
  </property>
  <property fmtid="{D5CDD505-2E9C-101B-9397-08002B2CF9AE}" pid="3" name="KSOProductBuildVer">
    <vt:lpwstr>2052-12.1.28496.28496</vt:lpwstr>
  </property>
</Properties>
</file>