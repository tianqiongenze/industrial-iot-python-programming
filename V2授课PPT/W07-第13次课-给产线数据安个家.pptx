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9" r:id="rId11"/>
    <p:sldId id="260" r:id="rId12"/>
    <p:sldId id="261" r:id="rId13"/>
    <p:sldId id="263" r:id="rId15"/>
    <p:sldId id="264" r:id="rId16"/>
    <p:sldId id="266" r:id="rId18"/>
    <p:sldId id="267" r:id="rId19"/>
    <p:sldId id="271" r:id="rId23"/>
    <p:sldId id="273" r:id="rId25"/>
    <p:sldId id="274" r:id="rId26"/>
    <p:sldId id="275" r:id="rId27"/>
    <p:sldId id="276" r:id="rId28"/>
    <p:sldId id="277" r:id="rId29"/>
    <p:sldId id="278" r:id="rId30"/>
    <p:sldId id="280" r:id="rId32"/>
    <p:sldId id="281" r:id="rId33"/>
    <p:sldId id="282" r:id="rId34"/>
    <p:sldId id="287" r:id="rId39"/>
    <p:sldId id="289" r:id="rId41"/>
    <p:sldId id="292" r:id="rId44"/>
    <p:sldId id="295" r:id="rId47"/>
    <p:sldId id="298" r:id="rId50"/>
    <p:sldId id="301" r:id="rId53"/>
    <p:sldId id="304" r:id="rId56"/>
    <p:sldId id="305" r:id="rId57"/>
    <p:sldId id="309" r:id="rId61"/>
    <p:sldId id="311" r:id="rId63"/>
    <p:sldId id="312" r:id="rId64"/>
    <p:sldId id="368" r:id="rId67"/>
    <p:sldId id="369" r:id="rId66"/>
    <p:sldId id="370" r:id="rId65"/>
    <p:sldId id="316" r:id="rId68"/>
    <p:sldId id="317" r:id="rId69"/>
    <p:sldId id="318" r:id="rId70"/>
    <p:sldId id="319" r:id="rId71"/>
    <p:sldId id="320" r:id="rId72"/>
    <p:sldId id="322" r:id="rId74"/>
    <p:sldId id="324" r:id="rId76"/>
    <p:sldId id="326" r:id="rId78"/>
    <p:sldId id="328" r:id="rId80"/>
    <p:sldId id="329" r:id="rId81"/>
    <p:sldId id="331" r:id="rId83"/>
    <p:sldId id="333" r:id="rId85"/>
    <p:sldId id="367" r:id="rId119"/>
    <p:sldId id="335" r:id="rId87"/>
    <p:sldId id="336" r:id="rId88"/>
    <p:sldId id="337" r:id="rId89"/>
    <p:sldId id="338" r:id="rId90"/>
    <p:sldId id="339" r:id="rId91"/>
    <p:sldId id="341" r:id="rId93"/>
    <p:sldId id="342" r:id="rId94"/>
    <p:sldId id="343" r:id="rId95"/>
    <p:sldId id="345" r:id="rId97"/>
    <p:sldId id="346" r:id="rId98"/>
    <p:sldId id="347" r:id="rId99"/>
    <p:sldId id="354" r:id="rId106"/>
    <p:sldId id="359" r:id="rId111"/>
    <p:sldId id="360" r:id="rId112"/>
    <p:sldId id="361" r:id="rId113"/>
    <p:sldId id="365" r:id="rId117"/>
    <p:sldId id="366" r:id="rId11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3" Type="http://schemas.openxmlformats.org/officeDocument/2006/relationships/slide" Target="slides/slide10.xml"/><Relationship Id="rId25" Type="http://schemas.openxmlformats.org/officeDocument/2006/relationships/slide" Target="slides/slide11.xml"/><Relationship Id="rId26" Type="http://schemas.openxmlformats.org/officeDocument/2006/relationships/slide" Target="slides/slide12.xml"/><Relationship Id="rId27" Type="http://schemas.openxmlformats.org/officeDocument/2006/relationships/slide" Target="slides/slide13.xml"/><Relationship Id="rId28" Type="http://schemas.openxmlformats.org/officeDocument/2006/relationships/slide" Target="slides/slide14.xml"/><Relationship Id="rId29" Type="http://schemas.openxmlformats.org/officeDocument/2006/relationships/slide" Target="slides/slide15.xml"/><Relationship Id="rId30" Type="http://schemas.openxmlformats.org/officeDocument/2006/relationships/slide" Target="slides/slide16.xml"/><Relationship Id="rId32" Type="http://schemas.openxmlformats.org/officeDocument/2006/relationships/slide" Target="slides/slide17.xml"/><Relationship Id="rId33" Type="http://schemas.openxmlformats.org/officeDocument/2006/relationships/slide" Target="slides/slide18.xml"/><Relationship Id="rId34" Type="http://schemas.openxmlformats.org/officeDocument/2006/relationships/slide" Target="slides/slide19.xml"/><Relationship Id="rId39" Type="http://schemas.openxmlformats.org/officeDocument/2006/relationships/slide" Target="slides/slide20.xml"/><Relationship Id="rId41" Type="http://schemas.openxmlformats.org/officeDocument/2006/relationships/slide" Target="slides/slide21.xml"/><Relationship Id="rId44" Type="http://schemas.openxmlformats.org/officeDocument/2006/relationships/slide" Target="slides/slide22.xml"/><Relationship Id="rId47" Type="http://schemas.openxmlformats.org/officeDocument/2006/relationships/slide" Target="slides/slide23.xml"/><Relationship Id="rId50" Type="http://schemas.openxmlformats.org/officeDocument/2006/relationships/slide" Target="slides/slide24.xml"/><Relationship Id="rId53" Type="http://schemas.openxmlformats.org/officeDocument/2006/relationships/slide" Target="slides/slide25.xml"/><Relationship Id="rId56" Type="http://schemas.openxmlformats.org/officeDocument/2006/relationships/slide" Target="slides/slide26.xml"/><Relationship Id="rId57" Type="http://schemas.openxmlformats.org/officeDocument/2006/relationships/slide" Target="slides/slide27.xml"/><Relationship Id="rId61" Type="http://schemas.openxmlformats.org/officeDocument/2006/relationships/slide" Target="slides/slide28.xml"/><Relationship Id="rId63" Type="http://schemas.openxmlformats.org/officeDocument/2006/relationships/slide" Target="slides/slide29.xml"/><Relationship Id="rId64" Type="http://schemas.openxmlformats.org/officeDocument/2006/relationships/slide" Target="slides/slide30.xml"/><Relationship Id="rId65" Type="http://schemas.openxmlformats.org/officeDocument/2006/relationships/slide" Target="slides/slide63.xml"/><Relationship Id="rId66" Type="http://schemas.openxmlformats.org/officeDocument/2006/relationships/slide" Target="slides/slide62.xml"/><Relationship Id="rId67" Type="http://schemas.openxmlformats.org/officeDocument/2006/relationships/slide" Target="slides/slide61.xml"/><Relationship Id="rId68" Type="http://schemas.openxmlformats.org/officeDocument/2006/relationships/slide" Target="slides/slide31.xml"/><Relationship Id="rId69" Type="http://schemas.openxmlformats.org/officeDocument/2006/relationships/slide" Target="slides/slide32.xml"/><Relationship Id="rId70" Type="http://schemas.openxmlformats.org/officeDocument/2006/relationships/slide" Target="slides/slide33.xml"/><Relationship Id="rId71" Type="http://schemas.openxmlformats.org/officeDocument/2006/relationships/slide" Target="slides/slide34.xml"/><Relationship Id="rId72" Type="http://schemas.openxmlformats.org/officeDocument/2006/relationships/slide" Target="slides/slide35.xml"/><Relationship Id="rId74" Type="http://schemas.openxmlformats.org/officeDocument/2006/relationships/slide" Target="slides/slide36.xml"/><Relationship Id="rId76" Type="http://schemas.openxmlformats.org/officeDocument/2006/relationships/slide" Target="slides/slide37.xml"/><Relationship Id="rId78" Type="http://schemas.openxmlformats.org/officeDocument/2006/relationships/slide" Target="slides/slide38.xml"/><Relationship Id="rId80" Type="http://schemas.openxmlformats.org/officeDocument/2006/relationships/slide" Target="slides/slide39.xml"/><Relationship Id="rId81" Type="http://schemas.openxmlformats.org/officeDocument/2006/relationships/slide" Target="slides/slide40.xml"/><Relationship Id="rId83" Type="http://schemas.openxmlformats.org/officeDocument/2006/relationships/slide" Target="slides/slide41.xml"/><Relationship Id="rId85" Type="http://schemas.openxmlformats.org/officeDocument/2006/relationships/slide" Target="slides/slide42.xml"/><Relationship Id="rId87" Type="http://schemas.openxmlformats.org/officeDocument/2006/relationships/slide" Target="slides/slide44.xml"/><Relationship Id="rId88" Type="http://schemas.openxmlformats.org/officeDocument/2006/relationships/slide" Target="slides/slide45.xml"/><Relationship Id="rId89" Type="http://schemas.openxmlformats.org/officeDocument/2006/relationships/slide" Target="slides/slide46.xml"/><Relationship Id="rId90" Type="http://schemas.openxmlformats.org/officeDocument/2006/relationships/slide" Target="slides/slide47.xml"/><Relationship Id="rId91" Type="http://schemas.openxmlformats.org/officeDocument/2006/relationships/slide" Target="slides/slide48.xml"/><Relationship Id="rId93" Type="http://schemas.openxmlformats.org/officeDocument/2006/relationships/slide" Target="slides/slide49.xml"/><Relationship Id="rId94" Type="http://schemas.openxmlformats.org/officeDocument/2006/relationships/slide" Target="slides/slide50.xml"/><Relationship Id="rId95" Type="http://schemas.openxmlformats.org/officeDocument/2006/relationships/slide" Target="slides/slide51.xml"/><Relationship Id="rId97" Type="http://schemas.openxmlformats.org/officeDocument/2006/relationships/slide" Target="slides/slide52.xml"/><Relationship Id="rId98" Type="http://schemas.openxmlformats.org/officeDocument/2006/relationships/slide" Target="slides/slide53.xml"/><Relationship Id="rId99" Type="http://schemas.openxmlformats.org/officeDocument/2006/relationships/slide" Target="slides/slide54.xml"/><Relationship Id="rId106" Type="http://schemas.openxmlformats.org/officeDocument/2006/relationships/slide" Target="slides/slide55.xml"/><Relationship Id="rId111" Type="http://schemas.openxmlformats.org/officeDocument/2006/relationships/slide" Target="slides/slide56.xml"/><Relationship Id="rId112" Type="http://schemas.openxmlformats.org/officeDocument/2006/relationships/slide" Target="slides/slide57.xml"/><Relationship Id="rId113" Type="http://schemas.openxmlformats.org/officeDocument/2006/relationships/slide" Target="slides/slide58.xml"/><Relationship Id="rId117" Type="http://schemas.openxmlformats.org/officeDocument/2006/relationships/slide" Target="slides/slide59.xml"/><Relationship Id="rId118" Type="http://schemas.openxmlformats.org/officeDocument/2006/relationships/slide" Target="slides/slide60.xml"/><Relationship Id="rId119" Type="http://schemas.openxmlformats.org/officeDocument/2006/relationships/slide" Target="slides/slide4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开场30秒：本次课《给产线数据安个家》，80分钟＝2课时×40分钟。课前已发工单+starter+微课知识卡，资讯·计划线上完成。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议程页30秒：指读六个部分的分钟归属，强调'资讯计划课前已完成'；告诉学生'每次课都知道现在在哪一步、还剩多少时间'。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过渡页：一句话点明本部分——先明确这门课'为什么学、学了去哪'。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念'课程性质'一行即可，重点指读'对接证书'与'课程衔接'，让学生知道本课与前后课程的关系（30秒）。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知识地图：先见森林后见树木。指着四条分支预告本课路线，不展开细讲（40秒）。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分支详解二：强调'技能=今天的验收口径'，评价权重即打分表。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课证赛岗对照：说明本课工单在证书/竞赛中的对应考点，30秒。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流程预告：强调'资讯·计划已在课前完成'，课堂从决策直接开始。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决策10→实施30→检查5→实施25→评价10；评价环节不压缩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PRIMM的Predict：先让学生猜，再揭晓。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课前测讲评：随机点2名学生说答案，只追问'为什么'，不展开讲；错得多的题记到'检查'环节再回收。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预习检查页：左栏布置下次课教材预习（下次quiz从中出）；右栏抽查上次课检查知识点——随机2人白板/口述，答对记过程分。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逐题精讲：只讲错得最多的题——其余对答案即可。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情境说书（30秒，口头讲，不必逐字念）：数据落了地却没有家。吴工：'给数据建个仓库吧——设备、测点、记录、告警四张表。'——工单P5：ER设计+ORM开发+索引优化。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剧情拆解：把情境页的故事拆成三要素，让学生明确'解决什么'。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目标对照页：逐维读目标，指读达标口径=评分表，目标可测可评。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知识精讲开始：每条知识对应一张大卡，讲法'先例后理'。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详解B1·仓库模式：先读定义→场景为什么用它→看代码实例→扩展给A层。C/D层掌握前三格，A层加扩展格。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详解B2·外键与数据字典：先读定义→场景为什么用它→看代码实例→扩展给A层。C/D层掌握前三格，A层加扩展格。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详解B3·ORM声明式：先读定义→场景为什么用它→看代码实例→扩展给A层。C/D层掌握前三格，A层加扩展格。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详解B4·bulk批量插入：先读定义→场景为什么用它→看代码实例→扩展给A层。C/D层掌握前三格，A层加扩展格。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详解B5·N+1陷阱：先读定义→场景为什么用它→看代码实例→扩展给A层。C/D层掌握前三格，A层加扩展格。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详解B6·索引与EXPLAIN：先读定义→场景为什么用它→看代码实例→扩展给A层。C/D层掌握前三格，A层加扩展格。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应用页6：把知识点放回产线场景——先看代码输出，再回看定义，强化'学以致用'。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技能点＝今天'做完你应该会'，逐条对应工单步骤与评分点。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现场演示《ORM模型+查询》：三步走——先整段跑通看结果，再逐行讲关键语句，最后现场改一个参数看输出变化（演10分钟的核心素材）。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进入实施：先决策、再领工单、按层执行。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决策矩阵用法（10分钟）：组内对备选方案打分→选型→把结论和理由写进工单'决策记录'栏；教师抽查2组口头说理由（决策追责）。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方案对比：三问框架通用——以后每个决策环节都用这三问。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工单发布话术：'数字化转型办公室发来工单P5《产线数据仓库与ORM》，及格线是4，优秀线看A层标准'——念完发starter。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D层·学徒：跟做保底。教师或屏幕领做，做完即达标，绝不留白。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C层·操作员：基础完成。按工单步骤独立完成，卡壳先查错误速查表。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B层·组长：标准达成。全部功能+规范，完成后帮带同组D/C层。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A层·师傅：进阶拓展。完成拓展任务并准备2分钟展示；费曼式讲给D层听。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避坑清单：每条问'为什么会踩'，点名学生解释，把'注意'变成'知道为什么注意'。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错误速查：现场演示第一条——制造「N+1慢」，带着学生按'现象→原因→解决'三步排查。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四层总览：一页看全四层目标与达标线——学生选层前先看全局。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最后一查：五项90秒自查——退回率最低的五个点。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收尾5分钟检查+10分钟评价。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三层质检组织：自查明细→同伴互查（签字）→教师抽查2组；查出的缺陷当场修，修不完记入课后任务。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提交强调：文件命名'学号_姓名_工单号.zip'，24小时内教师在平台反馈评分。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教材衔接：教材：Python程序设计项目化教程（活页式）（任越美 李垒 李江岱 主编，978-7-313-30507-7）— 项目4 | 预习知识点：SQLAlchemy ORM；ER设计；批量写入与索引 | 课中检查知识点：四表仓库可查询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素养页：结合本课内容点一个真实案例（如数据脱敏、代码抄袭后果），30秒即可。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评分细则：四级量表逐行读——学生知道自己'到哪条线得多少分'。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FAQ三题：覆盖装包/启动/规范三大高频问题——贴在工单背面。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资源导航：五级求助顺序=工单→starter→指南→notebook→教师。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拓展部分：A层必看，B层选看，C/D层课后看——差异化作业。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产业案例：讲一个真实岗位场景，把课堂技能挂到职业坐标系。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思政页：结合本课内容点一个真实案例，30秒即可，不贴标签。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图谱回顾：回到开课的地图——现在每条分支都走过了。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多解法页：同一工单三种深度——层不同，解法不同，都算对。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自测答案：逐题讲'为什么'——错题定位到知识卡编号。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一图流总结：五句话收束全天——知识/技能/交付/习惯/明日。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4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9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0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1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5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6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Python程序设计（项目实战）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数字化转型办公室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给产线数据安个家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第七周 · 第13次课（2课时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本课主用：PyCharm CE + ProcessOn（ER图设计）+ Git/GitHub（每周提交）</a:t>
            </a:r>
          </a:p>
        </p:txBody>
      </p:sp>
      <p:pic>
        <p:nvPicPr>
          <p:cNvPr id="7" name="Picture 6" descr="W7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本次课议程（六部分 · 80分钟）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8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课程定位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课前已读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性质·岗位·证书：为什么学这门课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0000" y="2000000"/>
            <a:ext cx="3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课堂流程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约2′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9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80分钟时间盒与ABCD分层节奏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目标与资讯·情境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约5′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带着目标进课堂+两江智造本课剧情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9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知识精讲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基础知识大卡+代码演示（先例后理）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8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任务实施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六步法核心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8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工单发布·分层执行·避坑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检查与评价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9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三层质检·当堂评分·课后任务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0000" y="6350000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资讯·计划已于课前线上完成——课堂从决策/演示直接开始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63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课程定位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本课在课程体系中的位置（课程标准摘录）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63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课程定位：Python程序设计（项目实战）（课程标准摘录）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6525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课程性质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自包含工程应用课：C语言底子直接上工业项目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8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8500" y="1880000"/>
            <a:ext cx="26525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8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面向岗位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8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数据工程师、数据分析、AI应用、采集技术员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51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1000" y="1880000"/>
            <a:ext cx="26525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1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对接证书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1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Python开发、数据应用与服务（1+X）、AI应用实践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3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3500" y="1880000"/>
            <a:ext cx="26525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课程衔接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前置仅需C语言 → 本课(第1-8周) → 后：毕业设计/平台实习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63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本课知识图谱（先见森林，再见树木）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给产线数据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安个家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5条分支导览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基础知识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设备1-N测点1-N记录；告警挂设备——应用：见工单starter与教师参考实现 · 外键=关系表达；数据字典逐字段——应用：见工单starter与教师参考实现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继续夯实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ORM声明式+relationship——应用：见工单starter与教师参考实现 · bulk批量插入快10倍——应用：见工单starter与教师参考实现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四表ER设计与ORM建模——应用：见工单starter与教师参考实现 · 批量事务入库——应用：见工单starter与教师参考实现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分层任务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D跟做保底 · C基础完成 · B标准达成 · A进阶拓展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课堂评价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功能40% · 技术25% · 规范20% · 素养15%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63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知识地图分支详解（二）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技能线：四表ER设计与ORM建模——应用：见工单starter与教师参考实现；批量事务入库——应用：见工单starter与教师参考实现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分层任务线：D跟做→C独立→B帮带→A拓展（每4周动态升降）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课堂评价线：功能40%+技术25%+规范20%+素养15%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三条线闭环：技能靠任务练，任务按评价收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63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岗课赛证对照（本课坐标）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数字化转型办公室：数据工程师、数据分析工程师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P5《产线数据仓库与ORM》——本课工单即考核单元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Python开发职业技能等级证书（工信部）——工程模板/数据处理对应中级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世界职业院校技能大赛（人工智能赛道）数据采集/处理赛项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63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02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课堂流程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80分钟时间盒与个人节奏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63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本次课流程（80分钟时间盒）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资讯·计划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课前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线上导学单+预习自测（已完成的打√）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决策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备选方案对比 → 决策矩阵打分 → 结论公示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30min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骨架贯通：体验→应用，完成工单核心功能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检查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5min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三层质检：自检—互检—师查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25min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优化迭代：冲优秀标准/拓展任务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0000" y="585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0000" y="585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0000" y="595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评价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00000" y="595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00000" y="595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D/C/B/A量表评分 + 课后任务布置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123444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每课时40分钟 · 共80分钟（六步法课堂化）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63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03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目标与资讯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带着目标进课堂（Predict·预测）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63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知识目标：怎么学·怎么证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目标：掌握关系数据库建模方法与SQL核心语法；掌握SQLAlchemy ORM的模型定义与查询；理解索引与查询优化原理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怎么学：知识卡先例后理→快查核对→应用页回到产线场景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怎么证：课前quiz+随堂自测+工单'技术质量25%'项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达标线：能复述定义+能说出产线例子=过关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63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能力目标：怎么练·怎么证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目标：能够完成4表ER设计并建库；能够用ORM实现采集数据入库与统计查询；能够对比直写/批量写性能并优化。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怎么练：starter跟做（D）→独立完成（C）→规范+帮带（B）→拓展（A）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怎么证：工单'功能40%'全项+运行截图贴过程记录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达标线：代码能跑+输出符合工单样例=过关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63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素质目标：怎么养·怎么证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目标：树立“数据资产”管理意识，培养先设计后编码的工程规范化习惯。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怎么养：规范命名/及时提交/报错必究——每个工单都在练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怎么证：Git提交历史（每周≥1次）+工单'素养15%'项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达标线：提交记录连续+命名规范=过关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63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一对多关系在表结构上如何表达？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模板仓库已克隆更新；导学单与实施计划已提交平台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63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课前预习与检查（教材衔接 · 上次课回顾）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4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5300000" cy="7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1880000"/>
            <a:ext cx="48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📖 课前预习｜下次课教材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0000" y="2650000"/>
            <a:ext cx="4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《Python程序设计项目化教》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项目4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0000" y="376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40000" y="370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SQLAlchemy ORM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0000" y="438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0000" y="4320000"/>
            <a:ext cx="4500000" cy="4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ER设计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0000" y="50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40000" y="4940000"/>
            <a:ext cx="4500000" cy="4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批量写入与索引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1800000"/>
            <a:ext cx="5360000" cy="44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1800000"/>
            <a:ext cx="536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1880000"/>
            <a:ext cx="49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✓ 课中检查｜上次课（W6）抽查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00000" y="280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00000" y="284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50000" y="2760000"/>
            <a:ext cx="386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采集率≥95%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00000" y="3600000"/>
            <a:ext cx="4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44546A"/>
                </a:solidFill>
                <a:latin typeface="微软雅黑"/>
              </a:rPr>
              <a:t>抽查方式：随机2人白板演示/口述——答对记过程分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63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课前测逐题精讲（错得最多的那道）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题目：一对多关系在表结构上如何表达？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正确思路：从'考哪个知识卡'入手——先定位再作答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常见错误：背概念不看场景；看到代码就慌，先读注释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本课回收：这道题的考点会在知识卡X和随堂自测中再次出现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63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数字化转型办公室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数据落了地却没有家。吴工：'给数据建个仓库吧——设备、测点、记录、告警四张表。'——工单P5：ER设计+ORM开发+索引优化。</a:t>
            </a:r>
          </a:p>
        </p:txBody>
      </p:sp>
      <p:pic>
        <p:nvPicPr>
          <p:cNvPr id="9" name="Picture 8" descr="W7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63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剧情拆解：任务 → 冲突 → 你的决策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任务背景：数据落了地却没有家。吴工：'给数据建个仓库吧——设备、测点、记录、告警四张表。'——工单P5：ER设计+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冲突点：产线数据量大/格式杂/时限紧——手工做不完，必须编程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决策点：先做什么再做什么？数据从哪来？输出给谁看？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带着这三个问题进入知识精讲——每个知识点都是解药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18 / 63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三维目标 → 怎么算达标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知识目标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掌握关系数据库建模方法与SQL核心语法；掌握SQLAlchemy ORM的模型定义与查询；理解索引与查询优化原理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能力目标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能够完成4表ER设计并建库；能够用ORM实现采集数据入库与统计查询；能够对比直写/批量写性能并优化。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素质目标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树立“数据资产”管理意识，培养先设计后编码的工程规范化习惯。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达标口径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对应工单P5评分：功能40%+技术25%+规范20%+素养15%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19 / 63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04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知识精讲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基础知识 → 详解 → 技能 → 代码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20 / 63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知识详解：仓库模式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B01 · 仓库模式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仓库模式=档案室三级索引：设备档案1-N测点盒N-记录纸；告警挂档案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时序数据入库的关系建模——三张主表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devices / metrics / alarms 外键关联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误区：一张大宽表塞所有——先画ER再建表，表错后面全返工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21 / 63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知识详解：外键与数据字典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B02 · 外键与数据字典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外键=档案间的挂锁引用；数据字典=每格抽屉的说明书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表关系与字段口径的成文契约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metrics.device_id REFERENCES devices.id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误区：字段含义靠口口相传——字典进docs/新同事不看代码也能懂库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22 / 63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知识详解：ORM声明式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B03 · ORM声明式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ORM=用Python类'声明'表结构——类即表，字段即属性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SQL写进类定义——类型安全+自动建表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class Metric(Base): __tablename__='metrics'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误区：ORM与裸SQL二选一——CRUD用ORM，复杂聚合报表裸SQL更快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23 / 63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知识详解：bulk批量插入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B04 · bulk批量插入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bulk=整车运输vs逐件快递：一次提交万行，快10倍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万级记录必备——逐条insert是性能杀手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session.bulk_save_objects(metrics_rows)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误区：bulk完不commit——数据只在内存，进程一退全没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24 / 63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知识详解：N+1陷阱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B05 · N+1陷阱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N+1=点一名学生跑一趟教务处——列表页逐条查询卡顿元凶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查询列表页卡顿的头号原因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session.query(Device).options(joinedload(Device.alarms))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误区：小数据量感觉不到——数据上万秒变分钟，echo=True眼见为实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25 / 63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知识详解：索引与EXPLAIN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B06 · 索引与EXPLAIN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索引=书后索引页：查得快但每页写书都要多维护一份——有代价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按设备查时段是最高频查询——(device_id,ts)复合索引正覆盖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CREATE INDEX idx_dev_ts ON metrics(device_id, ts)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误区：索引滥建——写入每行都更新所有索引，写多读少的表别加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26 / 63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知识应用（6）：索引(device_id,ts)+EXPLA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索引(device_id,ts)+EXPLAIN。在两江智造产线上的用法：见工单starter与教师参考实现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27 / 63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技能点：做完你应该会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0000" y="200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205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000" y="206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四表ER设计与ORM建模——应用：见工单starter与教师参考实现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93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0000" y="313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000" y="318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0000" y="319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批量事务入库——应用：见工单starter与教师参考实现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06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0000" y="426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431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0000" y="432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JOIN聚合统计查询——应用：见工单starter与教师参考实现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19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0000" y="539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544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0000" y="545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索引优化前后对比取证——应用：见工单starter与教师参考实现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28 / 63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给产线数据安个家（1）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关系数据库基础：表、主键、外键、索引；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工业数据建模：设备表、测点表、采集记录表、告警事件表的ER设计；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SQL核心：CREATE/INSERT/SELECT/WHERE/GROUP BY/JOIN；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查询优化初步：EXPLAIN执行计划、索引命中。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29 / 63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关键代码：ORM模型+查询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class Rec(Base):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__tablename__ = "records"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id = Column(Integer, primary_key=True)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device_id = Column(Integer, ForeignKey("devices.id"))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ts = Column(DateTime); vib = Column(Float)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print(s.execute(select(Dev.code, func.avg(Rec.vib))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.join(Rec, Rec.device_id==Dev.id).group_by(Dev.code)).all())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30 / 63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05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任务实施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工单 · 分层 · 步骤 · 避坑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34 / 63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决策：数据访问方式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方式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效率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性能可控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裸SQL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SQLAlchemy Core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ORM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0000" y="468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决策结论写入工单，答辩必答；实施失误回溯决策复盘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35 / 63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决策怎么下：方案对比三问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本课决策题：决策：数据访问方式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问①可行吗——每个方案的实现路径走得通吗（技术风险）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问②值吗——开发时间/运行速度/可维护性三角权衡（工程账）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问③谁拍板——组内数据说话，理由写进工单（决策追责制）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规则：没有记录的决策=没有决策——写下来才算数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36 / 63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实施任务：工单P5《产线数据仓库与ORM》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四表模型+relationship(back_populates)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bulk批量事务入库(100/批)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按设备平均vib/告警Top3查询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4表合理+ORM入库+2条查询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数据字典完整+批量事务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37 / 63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D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学徒 · 跟做保底层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ER观察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跑参考ER演示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手绘关系图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标主外键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能画四表连线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38 / 63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C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操作员 · 基础完成层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两表起步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devices+records两表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插入并查询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打印统计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能入库能查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39 / 63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B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组长 · 标准达成层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仓库+统计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四表ORM建模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bulk入库500条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均值/Top3/时段聚合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溯源查询正确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40 / 63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A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师傅 · 进阶拓展层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闭环演示+健康报告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接P3仪表盘读库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窗口函数环比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慢查询Top3报告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98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EXPLAIN证据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44546A"/>
                </a:solidFill>
                <a:latin typeface="微软雅黑"/>
              </a:rPr>
              <a:t>(A层加码: 复杂查询：多表JOIN+窗口函数（按小时聚合+环比）SQL与ORM双实现)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41 / 63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实施步骤与注意事项（做）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850000"/>
            <a:ext cx="6300000" cy="41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59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545E8"/>
                </a:solidFill>
                <a:latin typeface="微软雅黑"/>
              </a:rPr>
              <a:t>实施步骤</a:t>
            </a:r>
          </a:p>
        </p:txBody>
      </p:sp>
      <p:sp>
        <p:nvSpPr>
          <p:cNvPr id="7" name="Rectangle 6"/>
          <p:cNvSpPr/>
          <p:nvPr/>
        </p:nvSpPr>
        <p:spPr>
          <a:xfrm>
            <a:off x="920000" y="266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000" y="268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0000" y="260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四表模型+relationship(back_populates)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0000" y="319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000" y="321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0000" y="313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bulk批量事务入库(100/批)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0000" y="352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000" y="354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0000" y="346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按设备平均vib/告警Top3查询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50000" y="1850000"/>
            <a:ext cx="4300000" cy="410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50000" y="1980000"/>
            <a:ext cx="395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5670F"/>
                </a:solidFill>
                <a:latin typeface="微软雅黑"/>
              </a:rPr>
              <a:t>⚠ 注意事项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50000" y="2600000"/>
            <a:ext cx="3950000" cy="3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DateTime存ISO，别存字符串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bulk_save_objects批量插入比逐条add快10倍+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session用完即with关闭，防连接泄漏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42 / 63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常见错误速查（避坑清单）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19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N+1慢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0000" y="19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循环逐查关联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0000" y="19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joinedload一次带出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000" y="31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31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000" y="32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连接泄漏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0000" y="32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session未关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0000" y="32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with Session()自动关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44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44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5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索引不生效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0000" y="45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列序不对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45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(device_id,ts)联合序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43 / 63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ABCD四层任务总览（先看全貌再领任务）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D·学徒（≥60）：ER观察——跟做保底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C·操作员（≥70）：两表起步——基础完成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B·组长（≥80）：仓库+统计——标准达成+帮带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A·师傅（≥90）：闭环演示+健康报告——进阶拓展+费曼讲解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规则：每人按工单勾选自己的层；每4周按达标情况动态升降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44 / 63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提交前最后一查（90秒）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代码能从头跑到尾不报错（python xx.py再跑一遍）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输出格式符合工单样例（对齐/单位/小数位）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文件命名：学号_姓名_工单号.py（不对=扣规范分）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运行截图已贴工单过程记录栏（过程性证据）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conda环境正确（提示符显示(pp03）再运行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45 / 63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2000" cy="68580"/>
          </a:xfrm>
          <a:prstGeom prst="roundRect">
            <a:avLst>
              <a:gd name="adj" fmla="val 5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73152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0B5E54"/>
                </a:solidFill>
              </a:rPr>
              <a:t>工单实战 · 完成效果图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3108960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31089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</a:rPr>
              <a:t>TARGET · 完成后长这样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41024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B2B28"/>
                </a:solidFill>
              </a:rPr>
              <a:t>P5 数据仓库完成态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30000"/>
          </a:xfrm>
          <a:prstGeom prst="roundRect">
            <a:avLst>
              <a:gd name="adj" fmla="val 5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67928" y="1627632"/>
            <a:ext cx="31485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B5E54"/>
                </a:solidFill>
              </a:rPr>
              <a:t>四个自检点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67928" y="2066543"/>
            <a:ext cx="3148584" cy="658368"/>
          </a:xfrm>
          <a:prstGeom prst="roundRect">
            <a:avLst>
              <a:gd name="adj" fmla="val 1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695944" y="2157983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95944" y="2157983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79992" y="2130551"/>
            <a:ext cx="247192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1B2B28"/>
                </a:solidFill>
              </a:rPr>
              <a:t>四表建表成功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67928" y="2807207"/>
            <a:ext cx="3148584" cy="658368"/>
          </a:xfrm>
          <a:prstGeom prst="roundRect">
            <a:avLst>
              <a:gd name="adj" fmla="val 1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695944" y="2898647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95944" y="2898647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2871215"/>
            <a:ext cx="247192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1B2B28"/>
                </a:solidFill>
              </a:rPr>
              <a:t>索引生效（EXPLAIN 走索引）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67928" y="3547871"/>
            <a:ext cx="3148584" cy="658368"/>
          </a:xfrm>
          <a:prstGeom prst="roundRect">
            <a:avLst>
              <a:gd name="adj" fmla="val 1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695944" y="3639311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95944" y="3639311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79992" y="3611879"/>
            <a:ext cx="247192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1B2B28"/>
                </a:solidFill>
              </a:rPr>
              <a:t>批量插入万行 &lt; 5 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567928" y="4288535"/>
            <a:ext cx="3148584" cy="658368"/>
          </a:xfrm>
          <a:prstGeom prst="roundRect">
            <a:avLst>
              <a:gd name="adj" fmla="val 1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95944" y="4379975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95944" y="4379975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79992" y="4352543"/>
            <a:ext cx="247192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1B2B28"/>
                </a:solidFill>
              </a:rPr>
              <a:t>血缘查询可用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75488" y="5138928"/>
            <a:ext cx="7863840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75488" y="5138928"/>
            <a:ext cx="54864" cy="868680"/>
          </a:xfrm>
          <a:prstGeom prst="roundRect">
            <a:avLst>
              <a:gd name="adj" fmla="val 5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" y="5212080"/>
            <a:ext cx="74980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1B2B28"/>
                </a:solidFill>
              </a:rPr>
              <a:t>怎么看：终端退出码 0 + 关键数字在及格线以上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" y="5541264"/>
            <a:ext cx="74980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C6E6A"/>
                </a:solidFill>
              </a:rPr>
              <a:t>截图提交：运行窗口含文件名与输出，截全屏交工单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75488" y="6419088"/>
            <a:ext cx="11241024" cy="9000"/>
          </a:xfrm>
          <a:prstGeom prst="roundRect">
            <a:avLst>
              <a:gd name="adj" fmla="val 5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pic>
        <p:nvPicPr>
          <p:cNvPr id="32" name="Picture 31" descr="shot_w5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" y="2382322"/>
            <a:ext cx="7863840" cy="1672732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06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检查与评价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三层质检 · 评分 · 课后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47 / 63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过程检查（三层质检）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1  自检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对照工单checklist逐项自查并截图留证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2  互检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组间交换检查，互检表记录问题≥1条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3  师查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教师抽查复核，重点盯D层完成度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000" y="520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复盘追问：如果当初选另一个方案，结果会怎样？（决策追责）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48 / 63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提交物与评分（工单P5）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38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提交清单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程序/notebook（含运行输出）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分层工单纸件（勾层+自评）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决策矩阵照片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4. 过程记录/避坑笔记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命名: 学号_姓名_P5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0" y="1800000"/>
            <a:ext cx="5300000" cy="38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评分构成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功能完成 40%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技术质量 25%（指标达标）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代码规范 20%（PEP 8）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工程素养 15%（留痕/协作）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44546A"/>
                </a:solidFill>
                <a:latin typeface="微软雅黑"/>
              </a:rPr>
              <a:t>D≥60 / C≥70 / B≥80 / A≥90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49 / 63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完成工单P5《产线数据仓库》：及格标准4表设计合理+ORM入库+基础统计；优秀标准含索引优化+批量写入+复杂查询；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完成ER图与数据字典文档；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预习机器学习基本流程（训练/验证/预测）。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50 / 63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素养目标（课程思政融入点）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0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责任感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06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工程责任：代码可维护、文档完整、测试先行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18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18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48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34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绿色计算：向量化省算力, 批量写入降开销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46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46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76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数据伦理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62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职业规划：以项目档案袋对接岗位与竞赛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51 / 63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工单评分细则（四级量表）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等级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对应要求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A·师傅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≥90分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进阶拓展完成+2分钟费曼展示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B·组长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≥80分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全功能+代码规范+帮带D/C层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C·操作员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≥70分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基础功能完成+错误速查自查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D·学徒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≥60分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跟做完成核心步骤+达标自评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功能40%+技术质量25%+代码规范20%+工程素养15%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52 / 63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高频FAQ（先自查再举手）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pandas读取大CSV慢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usecols选列+chunksize分块读，见W3微课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Modbus连接拒绝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先起plc_simulator再连5020；确认host是教师机IP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streamlit页面不刷新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改代码后浏览器右上Rerun或按R键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53 / 63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资源导航（卡住时按顺序查）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P5任务书——步骤/及格线/评分细则都在里面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starter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学生代码框架/——TODO注释即步骤提示，未填也能跑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软件指南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../软件操作指南/——PyCharm/Jupyter/Git/Anaconda六份图文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Jupyter实训/——本周notebook师生版，先跑教师版看答案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Git提交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做完按Ctrl+K提交推送——每周至少1次，工程素养分依据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54 / 63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07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拓展与自测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把今天的能力圈再画大一圈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55 / 63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产业应用案例（学这个能干什么）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真实场景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三个系统的数据格式不统一，周报要人工合并两小时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用什么解决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Pandas管道+Streamlit仪表盘，一键刷新自动出周报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本课对应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P5的技能点即其最小实现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下一步：模型预警（P6）/智能运维平台（P7选做）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56 / 63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课程思政：如盐入水（30秒一个点）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报错必究——每个红色报错都是产线隐患的预演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数据诚信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指标不许造假——改数字骗过测试=产线事故的起点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协作素养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ABCD轮换履职——师傅带徒弟，贡献表如实填报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职业底线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代码抄作业=岗位上的'无证驾驶'，害人害己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57 / 63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全课知识图谱回顾（一图收束）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给产线数据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安个家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4条分支导览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知识回顾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设备1-N测点1-N记录；告警挂设备——应用：见工单starter与教师参考实现 · 外键=关系表达；数据字典逐字段——应用：见工单starter与教师参考实现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技能回顾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四表ER设计与ORM建模——应用：见工单starter与教师参考实现 · 批量事务入库——应用：见工单starter与教师参考实现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易错回顾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N+1慢 · 连接泄漏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交付物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工单P5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58 / 63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多解法一瞥（同一任务的不同打法）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解法A·直白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按工单步骤顺序实现——好懂好调试，D/C层路线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解法B·工程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函数封装+异常处理——可复用，B层路线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解法C·进阶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向量化/推导式/设计模式——性能优雅，A层路线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先让它跑起来→再让它对→最后让它快（KISS原则）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59 / 63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自测答案与讲解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课前快问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一对多关系在表结构上如何表达？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排错题：出现「N+1慢」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原因：循环逐查关联；解决：joinedload一次带出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复述题：用自己的话说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设备1-N测点1-N记录；告警挂设备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错题怎么办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回看对应知识卡+应用页，再跑一遍starter验证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60 / 63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今日一图流总结（贴脑墙上）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知识：设备1-N测点1-N记录；告警挂设备；外键=关系表达；数据字典逐字段；ORM声明式+relationship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技能：四表ER设计与ORM建模——应用：见工单starter与教师参考实现；批量事务入库——应用：见工单starter与教师参考实现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交付：工单P5《产线数据仓库与ORM》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习惯：做完就Ctrl+K提交Git——每周至少1次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4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2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明日：课前微课+导学单（下次课quiz从中出题）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61 / 63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62 / 63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下次课预告（第8周）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诊断模型训练与F1达标——应用：见工单start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过拟合的信号是什么？怎么防？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工程化代码：极简ORM·内存表+倒排索引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# core.py —— 零依赖内存表 + 倒排索引（原理可见）</a:t>
            </a:r>
            <a:endParaRPr sz="12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/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class Table: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def __init__(self, name, fields):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    if not fields: raise ValueError("未定义字段")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    self.name = name; self.fields = list(fields)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    self.rows = []; self.indexes = {}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/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def create_index(self, col):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    inv = {}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    for i, r in enumerate(self.rows):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        inv.setdefault(r[col], set()).add(i)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    self.indexes[col] = inv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/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def where(self, **kw):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    if len(kw) == 1: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        col, val = next(iter(kw.items()))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        if col in self.indexes: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            return [self.rows[i] for i in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                    sorted(self.indexes[col].get(val, set()))]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    return [r for r in self.rows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            if all(r.get(k) == v for k, v in kw.items())]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31 / 63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工程化设计：索引抉择 —— 空间换时间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B侧 · 索引与EXPLAIN · 数据访问方式</a:t>
            </a:r>
            <a:endParaRPr sz="20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◆ 为什么加索引</a:t>
            </a:r>
            <a:endParaRPr sz="1400" b="1">
              <a:solidFill>
                <a:srgbClr val="0545E8"/>
              </a:solidFill>
              <a:latin typeface="微软雅黑" panose="020B0502040204020203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where(device_id=..) 频繁查询列上建倒排索引——等值查询从全表扫描降为索引直取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◆ 什么时候建</a:t>
            </a:r>
            <a:endParaRPr sz="1400" b="1">
              <a:solidFill>
                <a:srgbClr val="0475B6"/>
              </a:solidFill>
              <a:latin typeface="微软雅黑" panose="020B0502040204020203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高频等值查询列建索引；写多读少、筛选性差的列不建——索引本身占空间与维护成本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def test_index_query(tbl):</a:t>
            </a:r>
            <a:endParaRPr sz="11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r>
              <a:rPr sz="1150" b="0">
                <a:solidFill>
                  <a:srgbClr val="D6DEF6"/>
                </a:solidFill>
                <a:latin typeface="微软雅黑"/>
              </a:rPr>
              <a:t>    assert len(tbl.where(device_id="DEV-02")) == 3</a:t>
            </a:r>
          </a:p>
          <a:p>
            <a:r>
              <a:rPr sz="1150" b="0">
                <a:solidFill>
                  <a:srgbClr val="D6DEF6"/>
                </a:solidFill>
                <a:latin typeface="微软雅黑"/>
              </a:rPr>
              <a:t>def test_no_index(tbl):</a:t>
            </a:r>
          </a:p>
          <a:p>
            <a:r>
              <a:rPr sz="1150" b="0">
                <a:solidFill>
                  <a:srgbClr val="D6DEF6"/>
                </a:solidFill>
                <a:latin typeface="微软雅黑"/>
              </a:rPr>
              <a:t>    assert tbl.explain(temp=3.0) == "FULL SCAN"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◆ 设计要点</a:t>
            </a:r>
            <a:endParaRPr sz="14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对账式验证：有索引结果=无索引结果，机制不同但答案一致——先跑对再谈优化</a:t>
            </a:r>
            <a:endParaRPr sz="1300" b="0">
              <a:solidFill>
                <a:srgbClr val="FF0000"/>
              </a:solidFill>
              <a:latin typeface="微软雅黑" panose="020B0502040204020203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32 / 63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工程化测试：单测怎么证可靠（GB/T 15532）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测试计划与报告 · pytest 三层策略</a:t>
            </a:r>
            <a:endParaRPr sz="20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◆ 纯函数单测</a:t>
            </a:r>
            <a:endParaRPr sz="1400" b="1">
              <a:solidFill>
                <a:srgbClr val="0545E8"/>
              </a:solidFill>
              <a:latin typeface="微软雅黑" panose="020B0502040204020203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复现: python -m pytest -q ｜ 用例≥6 全绿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  <a:p>
            <a:r>
              <a:rPr sz="1300" b="0">
                <a:solidFill>
                  <a:srgbClr val="010328"/>
                </a:solidFill>
                <a:latin typeface="微软雅黑"/>
              </a:rPr>
              <a:t>按 正常/边界/异常 三档覆盖——可靠性是被测出来的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◆ 用例清单</a:t>
            </a:r>
            <a:endParaRPr sz="1400" b="1">
              <a:solidFill>
                <a:srgbClr val="0475B6"/>
              </a:solidFill>
              <a:latin typeface="微软雅黑" panose="020B0502040204020203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TC-01 缺字段 insert → ValueError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  <a:p>
            <a:r>
              <a:rPr sz="1300" b="0">
                <a:solidFill>
                  <a:srgbClr val="010328"/>
                </a:solidFill>
                <a:latin typeface="微软雅黑"/>
              </a:rPr>
              <a:t>TC-02 索引查询正确 | TC-03 无索引→FULL SCAN</a:t>
            </a:r>
          </a:p>
          <a:p>
            <a:r>
              <a:rPr sz="1300" b="0">
                <a:solidFill>
                  <a:srgbClr val="010328"/>
                </a:solidFill>
                <a:latin typeface="微软雅黑"/>
              </a:rPr>
              <a:t>TC-04 空字段表 → ValueError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def test_index_query(tbl):</a:t>
            </a:r>
            <a:endParaRPr sz="11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r>
              <a:rPr sz="1150" b="0">
                <a:solidFill>
                  <a:srgbClr val="D6DEF6"/>
                </a:solidFill>
                <a:latin typeface="微软雅黑"/>
              </a:rPr>
              <a:t>    assert len(tbl.where(device_id="DEV-02")) == 3</a:t>
            </a:r>
          </a:p>
          <a:p>
            <a:r>
              <a:rPr sz="1150" b="0">
                <a:solidFill>
                  <a:srgbClr val="D6DEF6"/>
                </a:solidFill>
                <a:latin typeface="微软雅黑"/>
              </a:rPr>
              <a:t>def test_no_index(tbl):</a:t>
            </a:r>
          </a:p>
          <a:p>
            <a:r>
              <a:rPr sz="1150" b="0">
                <a:solidFill>
                  <a:srgbClr val="D6DEF6"/>
                </a:solidFill>
                <a:latin typeface="微软雅黑"/>
              </a:rPr>
              <a:t>    assert tbl.explain(temp=3.0) == "FULL SCAN"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◆ GB/T 15532 三层</a:t>
            </a:r>
            <a:endParaRPr sz="14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单元(纯函数) / 集成(pipeline端到端) / 回归(pytest -q)</a:t>
            </a:r>
            <a:endParaRPr sz="1300" b="0">
              <a:solidFill>
                <a:srgbClr val="FF0000"/>
              </a:solidFill>
              <a:latin typeface="微软雅黑" panose="020B0502040204020203" charset="-122"/>
            </a:endParaRPr>
          </a:p>
          <a:p>
            <a:r>
              <a:rPr sz="1300" b="0">
                <a:solidFill>
                  <a:srgbClr val="010328"/>
                </a:solidFill>
                <a:latin typeface="微软雅黑"/>
              </a:rPr>
              <a:t>缺陷记录: 本轮无遗留；退出码 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33 / 63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