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6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5" r:id="rId47"/>
    <p:sldId id="297" r:id="rId49"/>
    <p:sldId id="298" r:id="rId50"/>
    <p:sldId id="300" r:id="rId52"/>
    <p:sldId id="301" r:id="rId53"/>
    <p:sldId id="303" r:id="rId55"/>
    <p:sldId id="304" r:id="rId56"/>
    <p:sldId id="308" r:id="rId60"/>
    <p:sldId id="310" r:id="rId62"/>
    <p:sldId id="311" r:id="rId63"/>
    <p:sldId id="313" r:id="rId65"/>
    <p:sldId id="317" r:id="rId69"/>
    <p:sldId id="318" r:id="rId70"/>
    <p:sldId id="319" r:id="rId71"/>
    <p:sldId id="320" r:id="rId72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3" r:id="rId85"/>
    <p:sldId id="334" r:id="rId86"/>
    <p:sldId id="336" r:id="rId88"/>
    <p:sldId id="337" r:id="rId89"/>
    <p:sldId id="368" r:id="rId74"/>
    <p:sldId id="369" r:id="rId68"/>
    <p:sldId id="370" r:id="rId76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6" r:id="rId98"/>
    <p:sldId id="347" r:id="rId99"/>
    <p:sldId id="348" r:id="rId100"/>
    <p:sldId id="355" r:id="rId107"/>
    <p:sldId id="360" r:id="rId112"/>
    <p:sldId id="361" r:id="rId113"/>
    <p:sldId id="362" r:id="rId114"/>
    <p:sldId id="366" r:id="rId118"/>
    <p:sldId id="367" r:id="rId119"/>
    <p:sldId id="372" r:id="rId78"/>
    <p:sldId id="373" r:id="rId6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60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5" Type="http://schemas.openxmlformats.org/officeDocument/2006/relationships/slide" Target="slides/slide35.xml"/><Relationship Id="rId66" Type="http://schemas.openxmlformats.org/officeDocument/2006/relationships/slide" Target="slides/slide72.xml"/><Relationship Id="rId67" Type="http://schemas.openxmlformats.org/officeDocument/2006/relationships/slide" Target="slides/slide70.xml"/><Relationship Id="rId68" Type="http://schemas.openxmlformats.org/officeDocument/2006/relationships/slide" Target="slides/slide52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38.xml"/><Relationship Id="rId72" Type="http://schemas.openxmlformats.org/officeDocument/2006/relationships/slide" Target="slides/slide39.xml"/><Relationship Id="rId73" Type="http://schemas.openxmlformats.org/officeDocument/2006/relationships/slide" Target="slides/slide40.xml"/><Relationship Id="rId74" Type="http://schemas.openxmlformats.org/officeDocument/2006/relationships/slide" Target="slides/slide51.xml"/><Relationship Id="rId75" Type="http://schemas.openxmlformats.org/officeDocument/2006/relationships/slide" Target="slides/slide41.xml"/><Relationship Id="rId76" Type="http://schemas.openxmlformats.org/officeDocument/2006/relationships/slide" Target="slides/slide53.xml"/><Relationship Id="rId77" Type="http://schemas.openxmlformats.org/officeDocument/2006/relationships/slide" Target="slides/slide42.xml"/><Relationship Id="rId78" Type="http://schemas.openxmlformats.org/officeDocument/2006/relationships/slide" Target="slides/slide71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7" Type="http://schemas.openxmlformats.org/officeDocument/2006/relationships/slide" Target="slides/slide64.xml"/><Relationship Id="rId112" Type="http://schemas.openxmlformats.org/officeDocument/2006/relationships/slide" Target="slides/slide65.xml"/><Relationship Id="rId113" Type="http://schemas.openxmlformats.org/officeDocument/2006/relationships/slide" Target="slides/slide66.xml"/><Relationship Id="rId114" Type="http://schemas.openxmlformats.org/officeDocument/2006/relationships/slide" Target="slides/slide67.xml"/><Relationship Id="rId118" Type="http://schemas.openxmlformats.org/officeDocument/2006/relationships/slide" Target="slides/slide68.xml"/><Relationship Id="rId119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开场30秒：本次课《带着C语言底子学Python》，80分钟＝2课时×40分钟。课前已发工单+starter+微课知识卡，资讯·计划线上完成。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详解B1·C→Python四映射：先读定义→场景为什么用它→看代码实例→扩展给A层。C/D层掌握前三格，A层加扩展格。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详解B2·引用语义：先读定义→场景为什么用它→看代码实例→扩展给A层。C/D层掌握前三格，A层加扩展格。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详解B3·列表扩容与字典：先读定义→场景为什么用它→看代码实例→扩展给A层。C/D层掌握前三格，A层加扩展格。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详解B4·try/except替代错误码：先读定义→场景为什么用它→看代码实例→扩展给A层。C/D层掌握前三格，A层加扩展格。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详解B5·类=struct+函数：先读定义→场景为什么用它→看代码实例→扩展给A层。C/D层掌握前三格，A层加扩展格。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详解B6·缩进规范：先读定义→场景为什么用它→看代码实例→扩展给A层。C/D层掌握前三格，A层加扩展格。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现场演示《引用vs拷贝(C人必踩)》：三步走——先整段跑通看结果，再逐行讲关键语句，最后现场改一个参数看输出变化（演10分钟的核心素材）。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现场演示《异常读取》：三步走——先整段跑通看结果，再逐行讲关键语句，最后现场改一个参数看输出变化（演10分钟的核心素材）。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工单发布话术：'数字化转型办公室发来工单P1.1《Python基础练习五题》，及格线是≥，优秀线看A层标准'——念完发starter。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错误速查：现场演示第一条——制造「b改a也变」，带着学生按'现象→原因→解决'三步排查。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预习知识点：Python基础回顾(C→Python迁移)；conda环境创建与激活 | 课中检查知识点：五题闯关全过；能conda activate pp03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带着C语言底子学Python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 · try/except替代错误码层层上抛——应用：try:conn=connect() except TimeoutError as e:log(e);retry()——异常分层捕获不丢栈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P1.1《Python基础练习五题》——本课工单即考核单元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目标：能够独立完成5个Python基础练习题（及格≥3题正确运行）；代码PEP 8规范达75%；具备基本的调试排错能力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目标：建立多语言工程视野，体会“语言是工具、问题是中心”的工程观，为快速学习新语言建立方法论。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Python基础回顾(C→Python迁移)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conda环境创建与激活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课中检查｜上次课（W0）抽查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开课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首考：本次课quiz+预习快问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任务背景：实习第一天，吴工丢来一份《新员工Python能力测评》：'你C语言底子不错，今天把这五道题过了，明天进项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知识详解：C→Python四映射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C→Python四映射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四映射=C户口迁Python：声明→动态/大括号→缩进/指针→引用/printf→f-string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C老手最快上手路径——心里有C对照着学少走弯路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int x=5 → x=5；printf("%d",x) → print(f'{x}')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误区：Python变量无需声明≠无需理解类型——类型还在，只是贴在值上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知识详解：引用语义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引用语义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b=a不复制货只抄门牌号——两人开同一扇门，动b就是动a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函数传参/复制数据时的隐性共享——改b连a一起变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 = a.copy()浅拷贝；copy.deepcopy(a)深拷贝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误区：以为=是复制——嵌套列表必须deepcopy，浅拷贝只拷外壳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知识应用（2）：引用语义：b=a后改b会动a(列表不拷贝)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引用语义：b=a后改b会动a(列表不拷贝)。在两江智造产线上的用法：import copy; b=copy.deepcopy(a)——浅拷贝改b动a，深拷贝才安全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copy; b=copy.deepcopy(a)——浅拷贝改b动a，深拷贝才安全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知识详解：列表扩容与字典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列表扩容与字典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列表append=货架自动加长；字典O(1)=储物柜直取不开抽屉翻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采集缓冲攒够1000条批量入库——工程节奏控制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buffer.append(row)；if len(buffer)&gt;=1000: flush()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误区：C的malloc预分配习惯搬来——Python列表自增长已优化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知识应用（3）：列表append动态扩容；字典O(1)查找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列表append动态扩容；字典O(1)查找。在两江智造产线上的用法：buffer.append(row); len(buffer)&gt;=1000时批量写库——无需预分配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buffer.append(row); len(buffer)&gt;=1000时批量写库——无需预分配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知识详解：try/except替代错误码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try/except替代错误码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C层层if判错误码=快递每站验货；Python异常=坏件直接退回总站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连接超时/文件缺失——错误处理集中化不污染主逻辑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conn=connect() except TimeoutError: 重试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误区：异常当goto滥用——只对'真异常'用，正常分支别进try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知识应用（4）：try/except替代错误码层层上抛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try/except替代错误码层层上抛。在两江智造产线上的用法：try:conn=connect() except TimeoutError as e:log(e);retry()——异常分层捕获不丢栈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try:conn=connect() except TimeoutError as e:log(e);retry()——异常分层捕获不丢栈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知识详解：类=struct+函数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类=struct+函数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C的struct=数据仓库；Python类=仓库+员工——数据行为一体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设备采集器封装——数据与操作不分离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Device: self.code=…; def start(self):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误区：类当struct用只放数据不放方法——封装价值损失一半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知识应用（5）：类=struct+函数指针的升级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类=struct+函数指针的升级。在两江智造产线上的用法：class Device: code=''; def start(self):...——数据+行为打包，比C的struct+函数指针更安全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 code=''; def start(self):...——数据+行为打包，比C的struct+函数指针更安全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知识详解：缩进规范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缩进规范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缩进即语法块=用磅秤分装不许手掂——4空格统一禁Tab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从C大括号迁来的最大习惯差异——Tab混用直接TabError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PyCharm设置显示空白字符——一眼辨Tab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误区：混用Tab与4空格本地能跑提交报错——IDE统一转换开起来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知识应用（6）：缩进统一4空格禁Tab混用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缩进统一4空格禁Tab混用。在两江智造产线上的用法：见工单starter与教师参考实现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五题渐进练习全通过pytest断言——应用：见工单starter与教师参考实现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异常保护文件读取——应用：见工单starter与教师参考实现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编写C→Python迁移笔记——应用：见工单starter与教师参考实现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带着C语言底子学Python（1）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C与Python对比导览：解释型vs编译型、缩进vs大括号、动态类型vs静态类型；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基础语法迁移：变量、运算符、控制流（if/while/for/break/continue）；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函数定义与调用：与C函数的对照（默认参数、关键字参数）；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指针→对象：Python引用语义与C指针的异同。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关键代码：引用vs拷贝(C人必踩)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 = [1, 2, 3]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 = a              # 引用!类似指针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b.append(4)        # a也变了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 = list(a)        # 真拷贝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关键代码：异常读取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with open(path, encoding="utf-8") as f: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f.read()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FileNotFoundError: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"FILE_NOT_FOUND"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决策：题3容器选型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元组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按ID查设备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保持顺序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ID不可变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本课决策题：决策：题3容器选型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实施任务：工单P1.1《Python基础练习五题》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题1-2: 换算器/一元二次(含分支)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题3: 设备增删改查(字典)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题4: PLC子类(scan_ms)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≥3题正确+PEP8≥75%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5题全对+PEP8≥85%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两题跟做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跟做题1/2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改参数再跑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记录一处差异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能运行出结果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三题保底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换算器+方程+字典管理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断言通过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注释补全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题1-3正确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五题全对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完成题1-5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过内置断言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命名规范检查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五题+测试用例+讲解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每题附3边界断言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pytest全绿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挑1条向全班讲解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PEP8≥85%+笔记10条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每题附3个边界断言（空输入/极值/异常），pytest跑绿)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题1-2: 换算器/一元二次(含分支)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题3: 设备增删改查(字典)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题4: PLC子类(scan_ms)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缩进混用Tab/空格是迁移第一坑，统一4空格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b=a后改b会动a——拷贝用list(a)或a.copy()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f-string替代printf，类型自动转换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b改a也变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list(a)或a.copy()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混用Tab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跨编辑器报错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统一4空格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=当==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条件失效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比较用==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D·学徒（≥60）：两题跟做——跟做保底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C·操作员（≥70）：三题保底——基础完成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B·组长（≥80）：五题全对——标准达成+帮带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A·师傅（≥90）：五题+测试用例+讲解——进阶拓展+费曼讲解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步骤1：题1-2: 换算器/一元二次(含分支)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步骤2：题3: 设备增删改查(字典)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步骤3：题4: PLC子类(scan_ms)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P1.1 p11_exercises：本次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51 / 69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916686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≥3题正确运行；PEP 8≥75%；有基础注释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正确 5/5 题｜PEP 8 子集达标率 100.0%（检查项通过 4794/4795）≥ 75.0%｜有 docstring 的公开函数 53/53、模块 13/13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535174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535174"/>
            <a:ext cx="54864" cy="91668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61747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174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9918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4题；命名有意义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62661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62661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82646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第4题 正确、正确 5/5（线 ≥4）｜命名有意义达标率 100.0%（合格 72/72）≥ 90.0%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91668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5题全对；PEP 8≥85%；结构清晰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607308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607308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正确 5/5｜PEP 8 子集达标率 100.0%（检查项通过 4794/4795）≥ 85.0%｜结构：四件套 4/4、一题一函数 5/5、src 模块 docstring 12/12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96562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96562"/>
            <a:ext cx="54864" cy="91668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7885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7885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6057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优秀+每题附测试用例与《迁移笔记》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588001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588001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4033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每题 pytest 用例 题1 24｜题2 17｜题3 26｜题4 19｜题5 18（线 ≥1）｜迁移笔记 存在=是 正文 15 条（≥10）逐题易错点 5/5 必备章节=是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出处：工程化项目/p11_exercises/output/report.txt 第 54 节「分层达标」——本机 2026-10-28 05:06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工程化项目/p11_exercises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P1.1 分层达标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52 / 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11_exercises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45" y="1792224"/>
            <a:ext cx="10783260" cy="3849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p11_exercises：分层达标 第 54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P1.1 · 测试全绿证据＋pytest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53 / 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pytest 全量实跑：本机真实运行输出，非示例、非节选</a:t>
            </a:r>
          </a:p>
        </p:txBody>
      </p:sp>
      <p:pic>
        <p:nvPicPr>
          <p:cNvPr id="12" name="Picture 11" descr="p11_exercises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5275"/>
            <a:ext cx="11237976" cy="19891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290972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pytest：190 passed in 12.95s（本机实跑，非示例）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656732"/>
            <a:ext cx="11237976" cy="82296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4656732"/>
            <a:ext cx="54864" cy="8229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739028"/>
            <a:ext cx="109087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本项目四档只有一套阶梯口径（课堂 D/C/B/A 即工单及格/良好/优秀/超优），逐字实测见上一页截图；本页补的是测试全绿证据。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工程化项目/p11_exercises &amp;&amp; python -m pytest -q -o addopts=''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工单提交：截图需含终端标题栏的文件名与完整输出，退出码 0 才算全绿。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P1.1 五题闯关完成态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退出码 0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每题函数有实现与注释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截图含文件名与输出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69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87966"/>
            <a:ext cx="4600000" cy="122406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带着C语言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底子学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b改a也变 · 混用Tab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C的int a[10]对应Python什么？引用语义和指针区别？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排错题：出现「b改a也变」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原因：引用语义；解决：list(a)或a.copy()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知识：C→Python映射：声明→动态/大括号；引用语义：b=a后改b会动a(列表不拷贝；列表append动态扩容；字典O(1)查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交付：工单P1.1《Python基础练习五题》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requirements.txt的作用？conda环境为什么不必进.gitignore？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