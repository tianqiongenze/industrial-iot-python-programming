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5" r:id="rId59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301" r:id="rId53"/>
    <p:sldId id="302" r:id="rId54"/>
    <p:sldId id="304" r:id="rId56"/>
    <p:sldId id="309" r:id="rId61"/>
    <p:sldId id="311" r:id="rId63"/>
    <p:sldId id="312" r:id="rId64"/>
    <p:sldId id="369" r:id="rId67"/>
    <p:sldId id="370" r:id="rId66"/>
    <p:sldId id="371" r:id="rId65"/>
    <p:sldId id="316" r:id="rId68"/>
    <p:sldId id="317" r:id="rId69"/>
    <p:sldId id="318" r:id="rId70"/>
    <p:sldId id="319" r:id="rId71"/>
    <p:sldId id="378" r:id="rId78"/>
    <p:sldId id="379" r:id="rId57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68" r:id="rId120"/>
    <p:sldId id="336" r:id="rId88"/>
    <p:sldId id="337" r:id="rId89"/>
    <p:sldId id="372" r:id="rId62"/>
    <p:sldId id="380" r:id="rId80"/>
    <p:sldId id="373" r:id="rId60"/>
    <p:sldId id="374" r:id="rId74"/>
    <p:sldId id="338" r:id="rId90"/>
    <p:sldId id="339" r:id="rId91"/>
    <p:sldId id="340" r:id="rId92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  <p:sldId id="376" r:id="rId76"/>
    <p:sldId id="377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40.xml"/><Relationship Id="rId58" Type="http://schemas.openxmlformats.org/officeDocument/2006/relationships/slide" Target="slides/slide72.xml"/><Relationship Id="rId59" Type="http://schemas.openxmlformats.org/officeDocument/2006/relationships/slide" Target="slides/slide2.xml"/><Relationship Id="rId60" Type="http://schemas.openxmlformats.org/officeDocument/2006/relationships/slide" Target="slides/slide54.xml"/><Relationship Id="rId61" Type="http://schemas.openxmlformats.org/officeDocument/2006/relationships/slide" Target="slides/slide29.xml"/><Relationship Id="rId62" Type="http://schemas.openxmlformats.org/officeDocument/2006/relationships/slide" Target="slides/slide53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4.xml"/><Relationship Id="rId66" Type="http://schemas.openxmlformats.org/officeDocument/2006/relationships/slide" Target="slides/slide33.xml"/><Relationship Id="rId67" Type="http://schemas.openxmlformats.org/officeDocument/2006/relationships/slide" Target="slides/slide32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38.xml"/><Relationship Id="rId72" Type="http://schemas.openxmlformats.org/officeDocument/2006/relationships/slide" Target="slides/slide41.xml"/><Relationship Id="rId73" Type="http://schemas.openxmlformats.org/officeDocument/2006/relationships/slide" Target="slides/slide42.xml"/><Relationship Id="rId74" Type="http://schemas.openxmlformats.org/officeDocument/2006/relationships/slide" Target="slides/slide55.xml"/><Relationship Id="rId75" Type="http://schemas.openxmlformats.org/officeDocument/2006/relationships/slide" Target="slides/slide43.xml"/><Relationship Id="rId76" Type="http://schemas.openxmlformats.org/officeDocument/2006/relationships/slide" Target="slides/slide71.xml"/><Relationship Id="rId77" Type="http://schemas.openxmlformats.org/officeDocument/2006/relationships/slide" Target="slides/slide44.xml"/><Relationship Id="rId78" Type="http://schemas.openxmlformats.org/officeDocument/2006/relationships/slide" Target="slides/slide39.xml"/><Relationship Id="rId79" Type="http://schemas.openxmlformats.org/officeDocument/2006/relationships/slide" Target="slides/slide45.xml"/><Relationship Id="rId80" Type="http://schemas.openxmlformats.org/officeDocument/2006/relationships/slide" Target="slides/slide73.xml"/><Relationship Id="rId81" Type="http://schemas.openxmlformats.org/officeDocument/2006/relationships/slide" Target="slides/slide46.xml"/><Relationship Id="rId82" Type="http://schemas.openxmlformats.org/officeDocument/2006/relationships/slide" Target="slides/slide47.xml"/><Relationship Id="rId84" Type="http://schemas.openxmlformats.org/officeDocument/2006/relationships/slide" Target="slides/slide48.xml"/><Relationship Id="rId86" Type="http://schemas.openxmlformats.org/officeDocument/2006/relationships/slide" Target="slides/slide49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7" Type="http://schemas.openxmlformats.org/officeDocument/2006/relationships/slide" Target="slides/slide65.xml"/><Relationship Id="rId112" Type="http://schemas.openxmlformats.org/officeDocument/2006/relationships/slide" Target="slides/slide66.xml"/><Relationship Id="rId113" Type="http://schemas.openxmlformats.org/officeDocument/2006/relationships/slide" Target="slides/slide67.xml"/><Relationship Id="rId114" Type="http://schemas.openxmlformats.org/officeDocument/2006/relationships/slide" Target="slides/slide68.xml"/><Relationship Id="rId118" Type="http://schemas.openxmlformats.org/officeDocument/2006/relationships/slide" Target="slides/slide69.xml"/><Relationship Id="rId119" Type="http://schemas.openxmlformats.org/officeDocument/2006/relationships/slide" Target="slides/slide70.xml"/><Relationship Id="rId120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开场30秒：本次课《用特征矩阵训练诊断大脑》，80分钟＝2课时×40分钟。课前已发工单+starter+微课知识卡，资讯·计划线上完成。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详解B1·建模五步流：先读定义→场景为什么用它→看代码实例→扩展给A层。C/D层掌握前三格，A层加扩展格。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详解B2·混淆矩阵业务化：先读定义→场景为什么用它→看代码实例→扩展给A层。C/D层掌握前三格，A层加扩展格。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详解B3·F1与交叉验证：先读定义→场景为什么用它→看代码实例→扩展给A层。C/D层掌握前三格，A层加扩展格。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详解B4·推理服务化：先读定义→场景为什么用它→看代码实例→扩展给A层。C/D层掌握前三格，A层加扩展格。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详解B5·warmup与p95：先读定义→场景为什么用它→看代码实例→扩展给A层。C/D层掌握前三格，A层加扩展格。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详解B6·服务健康自检：先读定义→场景为什么用它→看代码实例→扩展给A层。C/D层掌握前三格，A层加扩展格。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现场演示《推理服务核心》：三步走——先整段跑通看结果，再逐行讲关键语句，最后现场改一个参数看输出变化（演10分钟的核心素材）。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工单发布话术：'数字化转型办公室发来工单P6.1《故障诊断模型》，及格线是F，优秀线看A层标准'——念完发starter。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错误速查：现场演示第一条——制造「预测恒同一类」，带着学生按'现象→原因→解决'三步排查。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用特征矩阵训练诊断大脑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F1宏平均；交叉验证防偶然——应用：见工单starter与教师参考实现 · joblib保存+版本命名——应用：见工单starter与教师参考实现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P6.1《故障诊断模型》——本课工单即考核单元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目标：建立“数据→特征→模型→服务”的端到端工程视野，培养模型版本管理与可复现的工程规范意识。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项目3+项目6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scikit-learn五步流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模型保存(joblib)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推理服务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四表仓库可查询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任务背景：收官。方总监把P2.2的特征和P5的仓库摆上桌：'最后一步，让数据学会预判。'——工单P6：训练故障诊断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建立“数据→特征→模型→服务”的端到端工程视野，培养模型版本管理与可复现的工程规范意识。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对应工单P6.1评分：功能40%+技术25%+规范20%+素养15%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知识详解：建模五步流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建模五步流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scikit-learn标准作业程序——顺序即纪律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joblib.dump(model, 'model_v20260926.joblib')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知识详解：混淆矩阵业务化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混淆矩阵业务化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故障诊断评估不能只看准确率——错在哪类才关键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FN=漏报真故障(代价高) → 阈值向召回偏移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知识详解：F1与交叉验证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F1与交叉验证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类别不平衡(故障样本少)时的诚实指标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知识详解：推理服务化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推理服务化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服务化=模型坐上窗口：POST JSON特征进→predict→JSON结论出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模型从notebook走向服务——部署第一步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http.server处理POST /predict，标准库即可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误区：接口没schema约定——请求字段错一个静默出错结论，契约先行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知识详解：warmup与p95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warmup与p95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warmup=发动机热车：首次调用加载模型慢，预热后再测；p95=95%请求的耗时线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延迟验收口径：p95不是平均值——体感由慢请求决定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先curl一次预热，再压100次取95分位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误区：只报平均延迟——1次10秒卡住用户体感，均值全被掩盖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知识应用（5）：推理服务：POST JSON→预测→返回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推理服务：POST JSON→预测→返回。在两江智造产线上的用法：见工单starter与教师参考实现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知识详解：服务健康自检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服务健康自检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/health=服务的心电监护：GET返回模型版本与状态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部署后'活着吗'的标准问法——运维可见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{'status':'ok','model':'v20260926'}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误区：health与metrics混一谈——health管活没活，metrics管好不好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模型接入P5库联动——应用：见工单starter与教师参考实现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推理服务封装与压测——应用：见工单starter与教师参考实现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特征顺序对齐校验——应用：见工单starter与教师参考实现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用特征矩阵训练诊断大脑（1）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机器学习工作流：数据集划分→训练→验证→调参→保存模型；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Scikit-learn分类器：逻辑回归、随机森林、SVM；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模型评估：交叉验证、混淆矩阵、精确率/召回率/F1；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工单P6.1实操：使用P2.2特征矩阵训练设备故障诊断模型（F1≥0.80）并接入P5数据库形成诊断服务。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关键代码：推理服务核心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do_POST(self):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body = json.loads(self.rfile.read(int(self.headers["Content-Length"])))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feats = body["features"]; assert len(feats) ==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pred = int(model.predict([feats])[0])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self._send(200, {"prediction": pred,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"label": "磨损" if pred else "正常"})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工程化代码：训练·评估门禁·推理抽成纯函数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训练 / 评估门禁 / 保存载入（joblib）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train(X, y, test_size=0.25, seed=42):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Xtr, Xte, ytr, yte = train_test_split(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X, y, test_size=test_size,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stratify=y, random_state=seed)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m = RandomForestClassifier(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n_estimators=100, random_state=0).fit(Xtr, ytr)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m, {"macro_f1": f1_score(yte, m.predict(Xte),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average="macro")}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gate(metrics, min_f1=0.80):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"""评估门禁：macro-F1 低于阈值即不通过"""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metrics["macro_f1"] &gt;= min_f1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save_model(model, path, metrics):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os.makedirs(os.path.dirname(os.path.abspath(path)),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exist_ok=True)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joblib.dump(model, path); return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训练集占比/门禁阈值/数据源全在 config/rules.yaml——业务规则与代码分离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种子固定结果可复现；改 min_f1/test_size 不动逻辑——模型验收口径集中一处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兜底；非法配置启动即校验并拒绝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合成数据可复现 | TC-02 F1≥0.80→通过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低分→不通过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缺模型 → FileNotFoundError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决策：模型选型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随机森林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本课决策题：决策：模型选型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建模五步流｜五步流=产线SOP：划分→训练→交叉验证→调参→joblib保存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混淆矩阵业务化｜混淆矩阵=体检报告四格：对角线判对；FN漏检与FP误报代价不对称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F1与交叉验证｜F1=精确与召回的调和平均（谁短谁说了算）；CV=5防一次划分运气好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推理服务化｜服务化=模型坐上窗口：POST JSON特征进→predict→J…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warmup与p95｜warmup=发动机热车：首次调用加载模型慢，预热后再测；p95=…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服务健康自检｜/health=服务的心电监护：GET返回模型版本与状态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误区：模型文件叫model.pkl——带版本/日期命名，回滚审计全靠它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误区：把混淆矩阵翻译成钱——漏检损失vs误报停机损失，算给业务听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误区：单次划分90%就报喜——五折均值才有说服力，方差也要报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预测恒同一类 → feature_names.json对齐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模型加载失败 → 记录sklearn版本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服务卡死 → 教学够用/生产Litestar+Granian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及格线我能过吗——F1≥0.80并保存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优秀线我够吗——对比+调参记录+接入数据库联动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技能点我能独立做出来吗——诊断模型训练与F1达标；模型接入P5库联动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建模五步流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scikit-learn标准作业程序——顺序即纪律 joblib.dump(model, 'model_v20260926.joblib')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混淆矩阵业务化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故障诊断评估不能只看准确率——错在哪类才关键 FN=漏报真故障(代价高) → 阈值向召回偏移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F1与交叉验证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类别不平衡(故障样本少)时的诚实指标 cross_val_score(model, X, y, cv=5).mean()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实施任务：工单P6.1《故障诊断模型》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五步流: 划分→训练→交叉验证→调参→保存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混淆矩阵+报告(F1≥0.80)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joblib保存model_v1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F1≥0.80并保存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对比+调参记录+接入数据库联动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调用体验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发一次预测请求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看返回JSON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能发请求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基线模型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RF训练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joblib保存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F1达标能保存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训练+服务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五步流训练保存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接入数据库联动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curl测试/predict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F1≥0.80+可调用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ONNX对比+P7立项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导出ONNX测延迟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三模型对比报告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P7综合项目立项书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延迟量化对比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模型对比报告：LR/RF/GBM三模型F1+耗时+可解释性三维评价)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五步流: 划分→训练→交叉验证→调参→保存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混淆矩阵+报告(F1≥0.80)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joblib保存model_v1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特征列序与训练完全一致：feature_names.json对齐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F1≥0.80及格线，调参记录留痕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接入P5库：新记录→特征→预测→结果回写诊断字段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预测恒同一类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特征顺序错位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feature_names.json对齐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模型加载失败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版本不匹配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记录sklearn版本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服务卡死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单线程长阻塞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教学够用/生产Litestar+Granian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D·学徒（≥60）：调用体验——跟做保底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C·操作员（≥70）：基线模型——基础完成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B·组长（≥80）：训练+服务——标准达成+帮带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A·师傅（≥90）：ONNX对比+P7立项——进阶拓展+费曼讲解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P6 模型训练完成态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F1 ≥ 0.80（训练日志可见）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model_v1.joblib 已保存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评估报告产出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102423"/>
            <a:ext cx="7863840" cy="223253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73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诊断模型F1≥0.80并保存；推理服务可调通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测试集 macro-F1=1.0000 ≥ 门禁 0.80｜model_v1.joblib + manifest 已落盘｜服务真打一发：/health 与 /predict 均 200（客户端共发 105 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接入数据库联动；延迟记录完整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46584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46584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P5 库联动回写 diagnosis 3 条｜延迟记录完整：客户端共发 105 次（含 warmup 5 次）逐条计时 100 条，服务端 stats 同步记录 105 条（两边条数相等=True），计时条数 ≥ 阈值 50（config: min_latency_records）且 mean/p50/p95/p99/max 六项齐备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55 / 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66_ml_servic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83" y="1792224"/>
            <a:ext cx="9696785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p66_ml_service：工单验收四档对照 第 84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56 / 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上：p66_ml_service 分层达标逐字输出（见上一页）｜下：pytest 全量实跑（退出码 0，全绿）</a:t>
            </a:r>
          </a:p>
        </p:txBody>
      </p:sp>
      <p:pic>
        <p:nvPicPr>
          <p:cNvPr id="12" name="Picture 11" descr="p66_ml_servic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04" y="1792224"/>
            <a:ext cx="8981543" cy="23082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37056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92 行起）：四档逐字原文，未改写</a:t>
            </a:r>
          </a:p>
        </p:txBody>
      </p:sp>
      <p:pic>
        <p:nvPicPr>
          <p:cNvPr id="14" name="Picture 13" descr="p66_ml_servic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04" y="4411376"/>
            <a:ext cx="8981543" cy="12304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pytest：56 passed in 131.77s (0:02:11)（本机实跑，非示例）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提交物与评分（工单P6.1）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学号_姓名_P6.1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预测恒同一类 · 模型加载失败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工单P6.1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排错题：出现「预测恒同一类」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原因：特征顺序错位；解决：feature_names.json对齐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五步流：划分/训练/CV/调参/保存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知识：五步流：划分/训练/CV/调参/保存；混淆矩阵对角=对；业务代价看漏检；F1宏平均；交叉验证防偶然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交付：工单P6.1《故障诊断模型》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B/A 档续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模型对比+调参记录；服务异常处理(404/参数错)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500126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500126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对比模型 4 个（GBM/LR/RF/RF-tuned）｜GridSearch best_params={'max_depth': '4', 'n_estimators': '50'}｜异常分支逐条实测：探针 8 条全 通过，其中 400/404 类 6/6 条按契约返回（实到状态码 200/400/404）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优秀+ONNX导出或版本对比实验；P7综合项目立项书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3441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3441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前置优秀档=通过｜ONNX 导出=不可得（离线无 skl2onnx，如实报告）｜版本对比实验：教师包 model_v1.joblib 与本轮 model_v1.joblib 在同一批 10 条特征上逐条比预测，一致 10 条（不一致行 无）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出处：工程化项目/p66_ml_service/output/report.txt 第 84 节「工单验收四档对照」——本机 2026-10-28 05:10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工程化项目/p66_ml_service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