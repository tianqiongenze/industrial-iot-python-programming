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4" r:id="rId6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7" r:id="rId49"/>
    <p:sldId id="300" r:id="rId52"/>
    <p:sldId id="303" r:id="rId55"/>
    <p:sldId id="306" r:id="rId58"/>
    <p:sldId id="311" r:id="rId63"/>
    <p:sldId id="313" r:id="rId65"/>
    <p:sldId id="314" r:id="rId66"/>
    <p:sldId id="316" r:id="rId68"/>
    <p:sldId id="320" r:id="rId72"/>
    <p:sldId id="321" r:id="rId73"/>
    <p:sldId id="322" r:id="rId74"/>
    <p:sldId id="323" r:id="rId75"/>
    <p:sldId id="324" r:id="rId76"/>
    <p:sldId id="326" r:id="rId78"/>
    <p:sldId id="328" r:id="rId80"/>
    <p:sldId id="330" r:id="rId82"/>
    <p:sldId id="332" r:id="rId84"/>
    <p:sldId id="333" r:id="rId85"/>
    <p:sldId id="335" r:id="rId87"/>
    <p:sldId id="337" r:id="rId89"/>
    <p:sldId id="339" r:id="rId91"/>
    <p:sldId id="340" r:id="rId92"/>
    <p:sldId id="371" r:id="rId70"/>
    <p:sldId id="372" r:id="rId71"/>
    <p:sldId id="373" r:id="rId69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9" r:id="rId101"/>
    <p:sldId id="350" r:id="rId102"/>
    <p:sldId id="351" r:id="rId103"/>
    <p:sldId id="358" r:id="rId110"/>
    <p:sldId id="363" r:id="rId115"/>
    <p:sldId id="364" r:id="rId116"/>
    <p:sldId id="365" r:id="rId117"/>
    <p:sldId id="369" r:id="rId121"/>
    <p:sldId id="370" r:id="rId122"/>
    <p:sldId id="375" r:id="rId64"/>
    <p:sldId id="376" r:id="rId6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9" Type="http://schemas.openxmlformats.org/officeDocument/2006/relationships/slide" Target="slides/slide25.xml"/><Relationship Id="rId52" Type="http://schemas.openxmlformats.org/officeDocument/2006/relationships/slide" Target="slides/slide26.xml"/><Relationship Id="rId55" Type="http://schemas.openxmlformats.org/officeDocument/2006/relationships/slide" Target="slides/slide27.xml"/><Relationship Id="rId58" Type="http://schemas.openxmlformats.org/officeDocument/2006/relationships/slide" Target="slides/slide28.xml"/><Relationship Id="rId62" Type="http://schemas.openxmlformats.org/officeDocument/2006/relationships/slide" Target="slides/slide68.xml"/><Relationship Id="rId63" Type="http://schemas.openxmlformats.org/officeDocument/2006/relationships/slide" Target="slides/slide29.xml"/><Relationship Id="rId64" Type="http://schemas.openxmlformats.org/officeDocument/2006/relationships/slide" Target="slides/slide67.xml"/><Relationship Id="rId65" Type="http://schemas.openxmlformats.org/officeDocument/2006/relationships/slide" Target="slides/slide30.xml"/><Relationship Id="rId66" Type="http://schemas.openxmlformats.org/officeDocument/2006/relationships/slide" Target="slides/slide31.xml"/><Relationship Id="rId67" Type="http://schemas.openxmlformats.org/officeDocument/2006/relationships/slide" Target="slides/slide66.xml"/><Relationship Id="rId68" Type="http://schemas.openxmlformats.org/officeDocument/2006/relationships/slide" Target="slides/slide32.xml"/><Relationship Id="rId69" Type="http://schemas.openxmlformats.org/officeDocument/2006/relationships/slide" Target="slides/slide49.xml"/><Relationship Id="rId70" Type="http://schemas.openxmlformats.org/officeDocument/2006/relationships/slide" Target="slides/slide47.xml"/><Relationship Id="rId71" Type="http://schemas.openxmlformats.org/officeDocument/2006/relationships/slide" Target="slides/slide48.xml"/><Relationship Id="rId72" Type="http://schemas.openxmlformats.org/officeDocument/2006/relationships/slide" Target="slides/slide33.xml"/><Relationship Id="rId73" Type="http://schemas.openxmlformats.org/officeDocument/2006/relationships/slide" Target="slides/slide34.xml"/><Relationship Id="rId74" Type="http://schemas.openxmlformats.org/officeDocument/2006/relationships/slide" Target="slides/slide35.xml"/><Relationship Id="rId75" Type="http://schemas.openxmlformats.org/officeDocument/2006/relationships/slide" Target="slides/slide36.xml"/><Relationship Id="rId76" Type="http://schemas.openxmlformats.org/officeDocument/2006/relationships/slide" Target="slides/slide37.xml"/><Relationship Id="rId78" Type="http://schemas.openxmlformats.org/officeDocument/2006/relationships/slide" Target="slides/slide38.xml"/><Relationship Id="rId80" Type="http://schemas.openxmlformats.org/officeDocument/2006/relationships/slide" Target="slides/slide39.xml"/><Relationship Id="rId82" Type="http://schemas.openxmlformats.org/officeDocument/2006/relationships/slide" Target="slides/slide40.xml"/><Relationship Id="rId84" Type="http://schemas.openxmlformats.org/officeDocument/2006/relationships/slide" Target="slides/slide41.xml"/><Relationship Id="rId85" Type="http://schemas.openxmlformats.org/officeDocument/2006/relationships/slide" Target="slides/slide42.xml"/><Relationship Id="rId87" Type="http://schemas.openxmlformats.org/officeDocument/2006/relationships/slide" Target="slides/slide43.xml"/><Relationship Id="rId89" Type="http://schemas.openxmlformats.org/officeDocument/2006/relationships/slide" Target="slides/slide44.xml"/><Relationship Id="rId91" Type="http://schemas.openxmlformats.org/officeDocument/2006/relationships/slide" Target="slides/slide45.xml"/><Relationship Id="rId92" Type="http://schemas.openxmlformats.org/officeDocument/2006/relationships/slide" Target="slides/slide46.xml"/><Relationship Id="rId93" Type="http://schemas.openxmlformats.org/officeDocument/2006/relationships/slide" Target="slides/slide50.xml"/><Relationship Id="rId94" Type="http://schemas.openxmlformats.org/officeDocument/2006/relationships/slide" Target="slides/slide51.xml"/><Relationship Id="rId95" Type="http://schemas.openxmlformats.org/officeDocument/2006/relationships/slide" Target="slides/slide52.xml"/><Relationship Id="rId96" Type="http://schemas.openxmlformats.org/officeDocument/2006/relationships/slide" Target="slides/slide53.xml"/><Relationship Id="rId97" Type="http://schemas.openxmlformats.org/officeDocument/2006/relationships/slide" Target="slides/slide54.xml"/><Relationship Id="rId98" Type="http://schemas.openxmlformats.org/officeDocument/2006/relationships/slide" Target="slides/slide55.xml"/><Relationship Id="rId99" Type="http://schemas.openxmlformats.org/officeDocument/2006/relationships/slide" Target="slides/slide56.xml"/><Relationship Id="rId101" Type="http://schemas.openxmlformats.org/officeDocument/2006/relationships/slide" Target="slides/slide57.xml"/><Relationship Id="rId102" Type="http://schemas.openxmlformats.org/officeDocument/2006/relationships/slide" Target="slides/slide58.xml"/><Relationship Id="rId103" Type="http://schemas.openxmlformats.org/officeDocument/2006/relationships/slide" Target="slides/slide59.xml"/><Relationship Id="rId110" Type="http://schemas.openxmlformats.org/officeDocument/2006/relationships/slide" Target="slides/slide60.xml"/><Relationship Id="rId115" Type="http://schemas.openxmlformats.org/officeDocument/2006/relationships/slide" Target="slides/slide61.xml"/><Relationship Id="rId116" Type="http://schemas.openxmlformats.org/officeDocument/2006/relationships/slide" Target="slides/slide62.xml"/><Relationship Id="rId117" Type="http://schemas.openxmlformats.org/officeDocument/2006/relationships/slide" Target="slides/slide63.xml"/><Relationship Id="rId121" Type="http://schemas.openxmlformats.org/officeDocument/2006/relationships/slide" Target="slides/slide64.xml"/><Relationship Id="rId12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开场30秒：本次课《向量化：让计算快100倍》，80分钟＝2课时×40分钟。课前已发工单+starter+微课知识卡，资讯·计划线上完成。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详解B1·ndarray同构数组：先读定义→场景为什么用它→看代码实例→扩展给A层。C/D层掌握前三格，A层加扩展格。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详解B2·向量化：先读定义→场景为什么用它→看代码实例→扩展给A层。C/D层掌握前三格，A层加扩展格。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详解B3·广播：先读定义→场景为什么用它→看代码实例→扩展给A层。C/D层掌握前三格，A层加扩展格。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详解B4·rfft频域：先读定义→场景为什么用它→看代码实例→扩展给A层。C/D层掌握前三格，A层加扩展格。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详解B5·峭度与偏度：先读定义→场景为什么用它→看代码实例→扩展给A层。C/D层掌握前三格，A层加扩展格。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详解B6·主频=谱峰位置：先读定义→场景为什么用它→看代码实例→扩展给A层。C/D层掌握前三格，A层加扩展格。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详解B7·标准化防泄漏：先读定义→场景为什么用它→看代码实例→扩展给A层。C/D层掌握前三格，A层加扩展格。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现场演示《FFT特征》：三步走——先整段跑通看结果，再逐行讲关键语句，最后现场改一个参数看输出变化（演10分钟的核心素材）。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现场演示《峭度(冲击敏感)》：三步走——先整段跑通看结果，再逐行讲关键语句，最后现场改一个参数看输出变化（演10分钟的核心素材）。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工单发布话术：'数字化转型办公室发来工单P2.2《NumPy故障特征提取系统》，及格线是3，优秀线看A层标准'——念完发starter。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错误速查：现场演示第一条——制造「频域能量翻倍」，带着学生按'现象→原因→解决'三步排查。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向量化：让计算快100倍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向量化：让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计算快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 · rfft单边谱；幅值×2/n补偿——应用：见工单starter与教师参考实现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P2.2《NumPy故障特征提取系统》——本课工单即考核单元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目标：能够完成30维故障特征提取（计算正确、向量化实现）；处理1000样本&lt;100ms；代码PEP 8≥75%；输出特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目标：体会“性能工程”价值（向量化100倍提速），培养用数学工具刻画工业问题的抽象能力。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NumPy数组运算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向量化与广播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FFT频域概念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课中检查｜上次课（W3）抽查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七步管道质量≥85%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题目：x**2向量化为什么比for快100倍？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任务背景：振动数据洗干净了，但中台要的是'能喂给AI的特征'。吴工给出特征字典模板：'30个特征，向量化实现，10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知识详解：ndarray同构数组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ndarray同构数组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ndarray=同规格集装箱阵列：同类型/shape量形状/dtype标材质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向量化计算的地基——30维特征的容器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= np.array([[78.5, 4.2, …], …]); X.shape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误区：往ndarray塞混合类型——异构先用Pandas再取.values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知识详解：向量化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向量化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向量化=整箱叉车vs逐件搬砖：底层C一次处理整块内存快10-100倍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3000行特征提取&lt;100ms的验收指标靠它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(X - X.mean(axis=0)) / X.std(axis=0) 整列标准化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误区：以为for循环只是慢一点——数据量大时是分钟vs毫秒的量级差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知识应用（2）：向量化：C级循环替代Python层for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向量化：C级循环替代Python层for。在两江智造产线上的用法：见工单starter与教师参考实现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知识详解：广播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广播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广播=小矩阵自动复印对齐：列均值(30,)摊到3000行每行相减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每个样本减同一均值——一行代码全样本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- X.mean(axis=0) 形状(3000,30)-(30,)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误区：维度不匹配想当然——从右往左对齐，缺的补1，不匹配报错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知识详解：rfft频域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rfft频域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rfft=声音拆音叉：时序信号拆成正弦成分——频域找主频指纹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振动信号找主频——频域指纹识别故障模式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 = np.abs(np.fft.rfft(x)); 幅值×2/n补偿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误区：fft结果直接用——复数要取abs才是幅值，忘×2/n小一半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知识详解：峭度与偏度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峭度与偏度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峭度=冲击探测器(尖峰多则大)；偏度=歪斜度(拖尾朝哪边)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无需标注的无监督健康指标——轴承点蚀高峭度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from scipy.stats import kurtosis; kurtosis(x)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误区：峭度&gt;3才有冲击成分——正态分布基准是3不是0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知识详解：主频=谱峰位置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主频=谱峰位置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主频=频谱最高峰的位置——设备的'嗓音音调'，故障会变调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不同故障对应不同特征频率——频域诊断的钥匙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spec.argmax()取谱峰下标×频率分辨率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误区：只看最高峰——谐波峰也可能异常，二倍频常是松动信号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知识详解：标准化防泄漏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B07 · 标准化防泄漏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scaler只fit训练集=考官先定评分标准，考生(测试集)只准用同标准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数据泄漏是模型虚高的头号元凶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scaler.fit(X_train); X_test_s = scaler.transform(X_test)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误区：fit在测试集上=偷看答案——线上线下不一致的根源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FFT频域特征计算——应用：见工单starter与教师参考实现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计时基准测试(&lt;100ms)——应用：见工单starter与教师参考实现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箱线图可视化类别区分度——应用：见工单starter与教师参考实现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向量化：让计算快100倍（1）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NumPy基础：ndarray、dtype、shape、reshape；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索引、切片、布尔筛选；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向量化计算与广播机制（与纯Python循环性能对比演示）；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统计计算：均值、方差、相关系数、协方差矩阵。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关键代码：FFT特征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spectrum(x, fs=100):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amp = np.abs(np.fft.rfft(x)) * 2 / len(x)   # 单边+补偿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np.fft.rfftfreq(len(x), 1/fs), amp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freqs, amp = spectrum(sig)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dom_freq = freqs[amp.argmax()]     # 主频率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关键代码：峭度(冲击敏感)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kurtosis(x):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((x-x.mean())**4).mean() / x.std()**4 - 3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决策：实现策略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出错风险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纯向量化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apply逐样本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本课决策题：决策：实现策略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实施任务：工单P2.2《NumPy故障特征提取系统》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跑通示例特征(mean/std/max/ptp/rms)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补时域5个(var/crest/峭度/裕度)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spectrum()单边幅值谱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30特征正确+向量化为主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&lt;100ms+特征字典含物理含义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示例研读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跑通5示例特征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改一个公式看数值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抄写特征字典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能讲5个示例含义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15维保底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5示例+补10时域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spectrum()单边谱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矩阵形状断言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时域正确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30维全实现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补时域10个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补频域15个(FFT)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标准化+箱线图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&lt;100ms+向量化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相关去冗余+性能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相关矩阵热力图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去|r|&gt;0.95特征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性能优化对比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&lt;50ms+字典完整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相关系数矩阵热力图：剔除|r|&gt;0.95的冗余特征并说明取舍)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跑通示例特征(mean/std/max/ptp/rms)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补时域5个(var/crest/峭度/裕度)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spectrum()单边幅值谱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rfft已含共轭对称，别再取一半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幅值×2/n补偿能量，物理量纲才对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峭度/偏度公式版本写进特征字典，避免口径混战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频域能量翻倍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rfft+补偿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100ms超标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用了apply/循环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纯向量化重写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公式口径混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峭度定义版本不一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字典里注明公式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D·学徒（≥60）：示例研读——跟做保底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C·操作员（≥70）：15维保底——基础完成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B·组长（≥80）：30维全实现——标准达成+帮带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A·师傅（≥90）：相关去冗余+性能——进阶拓展+费曼讲解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P2.2 p22_feature_factory：本次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47 / 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916686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30特征计算正确；向量化为主；标准化正确；PEP 8≥75%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2681" y="164592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2681" y="164592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主特征 30/30、重名 0、缺列 0｜向量化 AST 扫描 12 个特征函数逐样本循环 0 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535174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535174"/>
            <a:ext cx="54864" cy="91668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61747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174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9918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1000样本&lt;100ms；特征字典含物理含义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62661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62661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82646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1000 窗 ≤ C 档线 100 ms（config: perf.target_ms，实测毫秒只写 runtime/timing.json 以免破坏 output/ 逐字节复现）｜特征字典 35 条物理含义空白 0 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91668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&lt;50ms；广播运用充分；箱线图输出；文档完整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32681" y="3607308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2681" y="3607308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实测 ≤ B 档线 50 ms（config: perf.excellent_ms）｜箱线图 output/boxplot.png｜docs/ 过程文档 8 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96562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96562"/>
            <a:ext cx="54864" cy="91668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7885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7885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6057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优秀+衍生特征5个+相关性特征选择(去冗余)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32681" y="458800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2681" y="458800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4033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前置优秀档=达标｜衍生 5/5 列｜去冗余 保留 19 + 剔除 11 = 主特征 30（分区完整=True）｜剔除项均带 kept 赢家与 |r| 证据=True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出处：工程化项目/p22_feature_factory/output/report.txt 第 76 节「工单验收四档对照」——本机 2026-10-28 05:08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工程化项目/p22_feature_factory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P2.2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48 /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22_feature_factory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3437"/>
            <a:ext cx="11237976" cy="3787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47210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p22_feature_factory：工单验收四档对照 第 76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P2.2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49 /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上：p22_feature_factory 分层达标逐字输出（见上一页）｜下：pytest 全量实跑（退出码 0，全绿）</a:t>
            </a:r>
          </a:p>
        </p:txBody>
      </p:sp>
      <p:pic>
        <p:nvPicPr>
          <p:cNvPr id="12" name="Picture 11" descr="p22_feature_factory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678" y="1792224"/>
            <a:ext cx="6387595" cy="26636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492427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分层达标（第 68 行起）：四档逐字原文，未改写</a:t>
            </a:r>
          </a:p>
        </p:txBody>
      </p:sp>
      <p:pic>
        <p:nvPicPr>
          <p:cNvPr id="14" name="Picture 13" descr="p22_feature_factory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678" y="4766747"/>
            <a:ext cx="6387595" cy="8751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pytest：61 passed in 47.65s（本机实跑，非示例）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P5 数据仓库完成态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批量插入万行 &lt; 5 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索引生效（EXPLAIN 走索引）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血缘查询可用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  <p:pic>
        <p:nvPicPr>
          <p:cNvPr id="16" name="Picture 15" descr="shot_w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00" y="2210763"/>
            <a:ext cx="4600000" cy="97847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向量化：让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计算快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频域能量翻倍 · 100ms超标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排错题：出现「频域能量翻倍」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原因：忘×2/n或没取单边；解决：rfft+补偿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知识：ndarray同构多维数组；shape/；向量化：C级循环替代Python层for；广播：形状对齐自动扩展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交付：工单P2.2《NumPy故障特征提取系统》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