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7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75" r:id="rId21"/>
    <p:sldId id="311" r:id="rId63"/>
    <p:sldId id="369" r:id="rId15"/>
    <p:sldId id="370" r:id="rId16"/>
    <p:sldId id="371" r:id="rId17"/>
    <p:sldId id="378" r:id="rId24"/>
    <p:sldId id="379" r:id="rId25"/>
    <p:sldId id="380" r:id="rId26"/>
    <p:sldId id="320" r:id="rId72"/>
    <p:sldId id="368" r:id="rId120"/>
    <p:sldId id="372" r:id="rId18"/>
    <p:sldId id="373" r:id="rId19"/>
    <p:sldId id="374" r:id="rId20"/>
    <p:sldId id="339" r:id="rId91"/>
    <p:sldId id="366" r:id="rId118"/>
    <p:sldId id="367" r:id="rId119"/>
    <p:sldId id="376" r:id="rId22"/>
    <p:sldId id="377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5" Type="http://schemas.openxmlformats.org/officeDocument/2006/relationships/slide" Target="slides/slide4.xml"/><Relationship Id="rId16" Type="http://schemas.openxmlformats.org/officeDocument/2006/relationships/slide" Target="slides/slide5.xml"/><Relationship Id="rId17" Type="http://schemas.openxmlformats.org/officeDocument/2006/relationships/slide" Target="slides/slide6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2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63" Type="http://schemas.openxmlformats.org/officeDocument/2006/relationships/slide" Target="slides/slide3.xml"/><Relationship Id="rId72" Type="http://schemas.openxmlformats.org/officeDocument/2006/relationships/slide" Target="slides/slide7.xml"/><Relationship Id="rId91" Type="http://schemas.openxmlformats.org/officeDocument/2006/relationships/slide" Target="slides/slide12.xml"/><Relationship Id="rId118" Type="http://schemas.openxmlformats.org/officeDocument/2006/relationships/slide" Target="slides/slide13.xml"/><Relationship Id="rId119" Type="http://schemas.openxmlformats.org/officeDocument/2006/relationships/slide" Target="slides/slide14.xml"/><Relationship Id="rId120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开场30秒：本次课《把模型部署到产线边缘》，80分钟＝2课时×40分钟。课前已发工单+starter+微课知识卡，资讯·计划线上完成。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工单发布话术：'数字化转型办公室发来工单P6.2《缺陷检测模型部署》，及格线是推，优秀线看A层标准'——念完发starter。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项目3+项目6 | 预习知识点：scikit-learn五步流；模型保存(joblib)；推理服务 | 课中检查知识点：F1≥0.80；/predict可调通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Python程序设计（项目实战）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数字化转型办公室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把模型部署到产线边缘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第八周 · 第16次课（2课时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 + conda环境(pp03) + Git/GitHub（每周提交）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把模型部署到产线边缘（1）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深度学习轻量化：CNN/LSTM基础回顾、迁移学习概念；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模型导出与部署：ONNX格式、推理接口封装；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边缘部署要点：性能（延迟/吞吐）、模型版本管理；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工单P6.2实操：基于教师端训练产出的预训练缺陷检测模型（离线模型包，训练过程演示回放），学生聚焦评估调参、推理服务封装与性能测试；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1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0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课程总结与综合项目（P7，扩展周可选）说明。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工程化代码：同一接口·双后端实现（决策矩阵落地）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# kv.py —— Redis 优先，diskcache 进程外等价回退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# 教学: 同一接口 get/put/incr，两种后端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/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import time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from config import DISK_CACHE, REDIS_URL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/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class RedisKV: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name = "redis"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def __init__(self, url):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    import redis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    self.r = redis.Redis.from_url(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        url, socket_connect_timeout=1)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def put(self, k, v, ttl=60):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    return self.r.setex(k, ttl, v)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def get(self, k):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    return self.r.get(k)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def incr(self, k, ttl=3600):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    """原子计数：API限流(每IP每时N次)"""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    return self.r.incr(k, 1)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19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工程化设计：存储引擎抉择 —— 决策矩阵留痕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B侧 · 存储引擎全面 · 会选型</a:t>
            </a:r>
            <a:endParaRPr sz="20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◆ 选引擎三问</a:t>
            </a:r>
            <a:endParaRPr sz="1400" b="1">
              <a:solidFill>
                <a:srgbClr val="0545E8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数据关系复杂?→关系型(SQLite/SQLAlchemy)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r>
              <a:rPr sz="1300" b="0">
                <a:solidFill>
                  <a:srgbClr val="010328"/>
                </a:solidFill>
                <a:latin typeface="微软雅黑"/>
              </a:rPr>
              <a:t>时序采样密集?→时序库(duckdb)</a:t>
            </a:r>
          </a:p>
          <a:p>
            <a:r>
              <a:rPr sz="1300" b="0">
                <a:solidFill>
                  <a:srgbClr val="010328"/>
                </a:solidFill>
                <a:latin typeface="微软雅黑"/>
              </a:rPr>
              <a:t>KV热点/限流?→Redis/diskcache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◆ 决策矩阵</a:t>
            </a:r>
            <a:endParaRPr sz="1400" b="1">
              <a:solidFill>
                <a:srgbClr val="0475B6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本课矩阵: 引擎/数据特征/当示例/回退B案——机房离线时 Redis→diskcache 同接口回退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① 关系 SQLite   device/points/alerts</a:t>
            </a:r>
            <a:endParaRPr sz="11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>② 时序 duckdb   vibration 采样</a:t>
            </a: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>③ 图   kuzu     topology 拓扑</a:t>
            </a: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>④ KV   Redis/diskcache 限流缓存</a:t>
            </a: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>⑤ 向量 chroma   语义检索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◆ 决策要点</a:t>
            </a:r>
            <a:endParaRPr sz="14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决策矩阵=记录为何选它/弃它(理由+回切条件)；验收点名考'为什么这么选'</a:t>
            </a:r>
            <a:endParaRPr sz="1300" b="0">
              <a:solidFill>
                <a:srgbClr val="FF0000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19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工程化测试：单测怎么证可靠（GB/T 15532）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测试计划与报告 · 双后端等价</a:t>
            </a:r>
            <a:endParaRPr sz="20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◆ 接口单测</a:t>
            </a:r>
            <a:endParaRPr sz="1400" b="1">
              <a:solidFill>
                <a:srgbClr val="0545E8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复现: python -m pytest -q ｜ 用例≥6 全绿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r>
              <a:rPr sz="1300" b="0">
                <a:solidFill>
                  <a:srgbClr val="010328"/>
                </a:solidFill>
                <a:latin typeface="微软雅黑"/>
              </a:rPr>
              <a:t>同一接口 Redis 与 diskcache 行为一致——接口契约被测试钉住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◆ 用例清单</a:t>
            </a:r>
            <a:endParaRPr sz="1400" b="1">
              <a:solidFill>
                <a:srgbClr val="0475B6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TC-01 put/get 往返一致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r>
              <a:rPr sz="1300" b="0">
                <a:solidFill>
                  <a:srgbClr val="010328"/>
                </a:solidFill>
                <a:latin typeface="微软雅黑"/>
              </a:rPr>
              <a:t>TC-02 incr 原子计数</a:t>
            </a:r>
          </a:p>
          <a:p>
            <a:r>
              <a:rPr sz="1300" b="0">
                <a:solidFill>
                  <a:srgbClr val="010328"/>
                </a:solidFill>
                <a:latin typeface="微软雅黑"/>
              </a:rPr>
              <a:t>TC-03 Redis断→diskcache 回退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def test_kv_roundtrip(kv):</a:t>
            </a:r>
            <a:endParaRPr sz="11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>    kv.put("k", "v"); assert kv.get("k") == "v"</a:t>
            </a: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>def test_fallback():</a:t>
            </a: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>    assert RedisKV.unavailable \</a:t>
            </a: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>           or use_diskcache() is True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◆ GB/T 15532 三层</a:t>
            </a:r>
            <a:endParaRPr sz="14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单元(接口) / 集成(多库端到端) / 回归(pytest -q)</a:t>
            </a:r>
            <a:endParaRPr sz="1300" b="0">
              <a:solidFill>
                <a:srgbClr val="FF0000"/>
              </a:solidFill>
              <a:latin typeface="微软雅黑" panose="020B0502040204020203" charset="-122"/>
            </a:endParaRPr>
          </a:p>
          <a:p>
            <a:r>
              <a:rPr sz="1300" b="0">
                <a:solidFill>
                  <a:srgbClr val="010328"/>
                </a:solidFill>
                <a:latin typeface="微软雅黑"/>
              </a:rPr>
              <a:t>缺陷记录: 本轮无遗留；退出码 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19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实施任务：工单P6.2《缺陷检测模型部署》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预训练模型包本地推理(≥10样本)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POST /predict服务封装(JSON入出)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延迟测试+版本命名(model_v1)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推理服务可调通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异常处理(404/参数错)+延迟记录+P7立项(超优)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19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2000" cy="68580"/>
          </a:xfrm>
          <a:prstGeom prst="roundRect">
            <a:avLst>
              <a:gd name="adj" fmla="val 5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73152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0B5E54"/>
                </a:solidFill>
              </a:rPr>
              <a:t>工单实战 · 完成效果图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3108960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31089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</a:rPr>
              <a:t>TARGET · 完成后长这样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41024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B2B28"/>
                </a:solidFill>
              </a:rPr>
              <a:t>P6.2 推理服务压测完成态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30000"/>
          </a:xfrm>
          <a:prstGeom prst="roundRect">
            <a:avLst>
              <a:gd name="adj" fmla="val 5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67928" y="1627632"/>
            <a:ext cx="31485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B5E54"/>
                </a:solidFill>
              </a:rPr>
              <a:t>四个自检点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67928" y="2066543"/>
            <a:ext cx="3148584" cy="658368"/>
          </a:xfrm>
          <a:prstGeom prst="roundRect">
            <a:avLst>
              <a:gd name="adj" fmla="val 1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695944" y="2157983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95944" y="2157983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79992" y="2130551"/>
            <a:ext cx="2471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B28"/>
                </a:solidFill>
              </a:rPr>
              <a:t>推理接口可调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67928" y="2807207"/>
            <a:ext cx="3148584" cy="658368"/>
          </a:xfrm>
          <a:prstGeom prst="roundRect">
            <a:avLst>
              <a:gd name="adj" fmla="val 1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695944" y="2898647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95944" y="2898647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2871215"/>
            <a:ext cx="2471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B28"/>
                </a:solidFill>
              </a:rPr>
              <a:t>healthz 返回 ok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67928" y="3547871"/>
            <a:ext cx="3148584" cy="658368"/>
          </a:xfrm>
          <a:prstGeom prst="roundRect">
            <a:avLst>
              <a:gd name="adj" fmla="val 1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695944" y="3639311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95944" y="3639311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79992" y="3611879"/>
            <a:ext cx="2471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B28"/>
                </a:solidFill>
              </a:rPr>
              <a:t>p95 &lt; 200ms（本机）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67928" y="4288535"/>
            <a:ext cx="3148584" cy="658368"/>
          </a:xfrm>
          <a:prstGeom prst="roundRect">
            <a:avLst>
              <a:gd name="adj" fmla="val 1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95944" y="4379975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95944" y="4379975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79992" y="4352543"/>
            <a:ext cx="2471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B28"/>
                </a:solidFill>
              </a:rPr>
              <a:t>warmup 已执行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5488" y="5138928"/>
            <a:ext cx="786384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75488" y="5138928"/>
            <a:ext cx="54864" cy="868680"/>
          </a:xfrm>
          <a:prstGeom prst="roundRect">
            <a:avLst>
              <a:gd name="adj" fmla="val 5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5212080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B2B28"/>
                </a:solidFill>
              </a:rPr>
              <a:t>怎么看：终端退出码 0 + 关键数字在及格线以上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5541264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C6E6A"/>
                </a:solidFill>
              </a:rPr>
              <a:t>截图提交：运行窗口含文件名与输出，截全屏交工单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5488" y="6419088"/>
            <a:ext cx="11241024" cy="9000"/>
          </a:xfrm>
          <a:prstGeom prst="roundRect">
            <a:avLst>
              <a:gd name="adj" fmla="val 5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2452297"/>
            <a:ext cx="7863840" cy="153278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本次实跑结果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1881187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18811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REAL RUN · 四档逐字实测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P6.1/P6.2 p66_ml_service：本次 D/C/B/A 四档实测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12 / 19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1554480"/>
            <a:ext cx="11237976" cy="75591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554480"/>
            <a:ext cx="54864" cy="755913"/>
          </a:xfrm>
          <a:prstGeom prst="roundRect">
            <a:avLst>
              <a:gd name="adj" fmla="val 50000"/>
            </a:avLst>
          </a:prstGeom>
          <a:solidFill>
            <a:srgbClr val="5C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1792" y="1636776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5C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" y="163677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1618488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及格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诊断模型F1≥0.80并保存；推理服务可调通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32681" y="1645920"/>
            <a:ext cx="1052766" cy="237744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32681" y="1645920"/>
            <a:ext cx="105276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本节实测项 通过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1901952"/>
            <a:ext cx="10671047" cy="3535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测试集 macro-F1=1.0000 ≥ 门禁 0.80｜model_v1.joblib + manifest 已落盘｜服务真打一发：/health 与 /predict 均 200（客户端共发 105 次）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5488" y="2374401"/>
            <a:ext cx="11237976" cy="9702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75488" y="2374401"/>
            <a:ext cx="54864" cy="970276"/>
          </a:xfrm>
          <a:prstGeom prst="roundRect">
            <a:avLst>
              <a:gd name="adj" fmla="val 50000"/>
            </a:avLst>
          </a:prstGeom>
          <a:solidFill>
            <a:srgbClr val="15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1792" y="2456697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15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2456697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" y="2438409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良好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接入数据库联动；延迟记录完整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532681" y="2465841"/>
            <a:ext cx="1052766" cy="237744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32681" y="2465841"/>
            <a:ext cx="105276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本节实测项 通过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" y="2721873"/>
            <a:ext cx="10671047" cy="567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P5 库联动回写 diagnosis 3 条｜延迟记录完整：客户端共发 105 次（含 warmup 5 次）逐条计时 100 条，服务端 stats 同步记录 105 条（两边条数相等=True），计时条数 ≥ 阈值 50（config: min_latency_records）且 mean/p50/p95/p99/max 六项齐备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3408686"/>
            <a:ext cx="11237976" cy="9702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5488" y="3408686"/>
            <a:ext cx="54864" cy="970276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1792" y="3490982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" y="349098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3472694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优秀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模型对比+调参记录；服务异常处理(404/参数错)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532681" y="3500126"/>
            <a:ext cx="1052766" cy="237744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32681" y="3500126"/>
            <a:ext cx="105276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本节实测项 通过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2688" y="3756158"/>
            <a:ext cx="10671047" cy="567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对比模型 4 个（GBM/LR/RF/RF-tuned）｜GridSearch best_params={'max_depth': '4', 'n_estimators': '50'}｜异常分支逐条实测：探针 8 条全 通过，其中 400/404 类 6/6 条按契约返回（实到状态码 200/400/404）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75488" y="4442971"/>
            <a:ext cx="11237976" cy="9702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75488" y="4442971"/>
            <a:ext cx="54864" cy="97027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21792" y="4525267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1792" y="4525267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2688" y="4506979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超优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优秀+ONNX导出或版本对比实验；P7综合项目立项书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532681" y="4534411"/>
            <a:ext cx="1052766" cy="237744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532681" y="4534411"/>
            <a:ext cx="105276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本节实测项 通过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2688" y="4790443"/>
            <a:ext cx="10671047" cy="567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前置优秀档=通过｜ONNX 导出=不可得（离线无 skl2onnx，如实报告）｜版本对比实验：教师包 model_v1.joblib 与本轮 model_v1.joblib 在同一批 10 条特征上逐条比预测，一致 10 条（不一致行 无）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75488" y="5477255"/>
            <a:ext cx="11237976" cy="941832"/>
          </a:xfrm>
          <a:prstGeom prst="roundRect">
            <a:avLst>
              <a:gd name="adj" fmla="val 5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75488" y="5477255"/>
            <a:ext cx="54864" cy="9418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6656" y="5550407"/>
            <a:ext cx="10908792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出处：工程化项目/p66_ml_service/output/report.txt 第 84 节「工单验收四档对照」——本机 2026-10-28 05:10 实跑落盘，上表数字逐字摘录、未改写。</a:t>
            </a:r>
          </a:p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复现：cd 工程化项目/p66_ml_service &amp;&amp; python run.py &amp;&amp; python -m pytest -q -o addopts=''</a:t>
            </a:r>
          </a:p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口径：表中「判定」沿用报告原词——绿=达标/通过，黄=仅本节取证项通过（未取证子项在报告里逐条点名），红=未达标。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运行留证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2027872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20278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SCREENSHOT · 终端逐字截图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P6.1/P6.2 工单验收四档对照 · 四档逐字输出截图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13 / 19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517904"/>
            <a:ext cx="112379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>
                <a:solidFill>
                  <a:srgbClr val="5C6E6A"/>
                </a:solidFill>
              </a:rPr>
              <a:t>终端窗口截图：由 report.txt 本节逐字渲染，未手工改写</a:t>
            </a:r>
          </a:p>
        </p:txBody>
      </p:sp>
      <p:pic>
        <p:nvPicPr>
          <p:cNvPr id="12" name="Picture 11" descr="p66_ml_service_workor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6083" y="1792224"/>
            <a:ext cx="9696785" cy="38496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" y="5678424"/>
            <a:ext cx="11237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50" b="0">
                <a:solidFill>
                  <a:srgbClr val="5C6E6A"/>
                </a:solidFill>
              </a:rPr>
              <a:t>▲ p66_ml_service：工单验收四档对照 第 84 行起的四档逐字原文（绿=达标/通过，黄=仅本节取证项，橙=未实测项）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运行留证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2027872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20278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SCREENSHOT · 终端逐字截图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P6.1/P6.2 · 另一套阶梯逐字输出＋pytest 全量实跑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14 / 19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517904"/>
            <a:ext cx="112379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>
                <a:solidFill>
                  <a:srgbClr val="5C6E6A"/>
                </a:solidFill>
              </a:rPr>
              <a:t>上：p66_ml_service 分层达标逐字输出（见上一页）｜下：pytest 全量实跑（退出码 0，全绿）</a:t>
            </a:r>
          </a:p>
        </p:txBody>
      </p:sp>
      <p:pic>
        <p:nvPicPr>
          <p:cNvPr id="12" name="Picture 11" descr="p66_ml_service_classro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3704" y="1792224"/>
            <a:ext cx="8981543" cy="230825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" y="4137056"/>
            <a:ext cx="11237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50" b="0">
                <a:solidFill>
                  <a:srgbClr val="5C6E6A"/>
                </a:solidFill>
              </a:rPr>
              <a:t>▲ 分层达标（第 92 行起）：四档逐字原文，未改写</a:t>
            </a:r>
          </a:p>
        </p:txBody>
      </p:sp>
      <p:pic>
        <p:nvPicPr>
          <p:cNvPr id="14" name="Picture 13" descr="p66_ml_service_py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3704" y="4411376"/>
            <a:ext cx="8981543" cy="123047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75488" y="5678423"/>
            <a:ext cx="11237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50" b="0">
                <a:solidFill>
                  <a:srgbClr val="5C6E6A"/>
                </a:solidFill>
              </a:rPr>
              <a:t>▲ pytest：56 passed in 131.77s (0:02:11)（本机实跑，非示例）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完成工单P6.1《设备故障诊断模型》：及格标准F1≥0.80+接入数据库；优秀标准模型对比+调参优化+诊断报告；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完成工单P6.2《缺陷检测模型部署》：及格标准推理服务可用；优秀标准延迟达标+版本管理规范；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（选做）规划P7综合项目方案：智能产线监控/故障预测/供应链追溯/数据中台四选一。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19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下次课预告（第9周）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会按场景选存储引擎并写决策矩阵留痕——应用：见工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五库各自解决什么问题？为什么不用一库走天下？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本讲对应工单：《Python程序设计-项目实战》分层任务工单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本课重难点地图 · 老师划重点（动手前必看）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19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动手前先看这页：重点要会什么、难点会卡在哪、哪里最容易错、学没学会怎么自测。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1783080"/>
            <a:ext cx="5532120" cy="312724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1783080"/>
            <a:ext cx="5532120" cy="36576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1819656"/>
            <a:ext cx="53126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重点 · 必会必考（本课知识点全景）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" y="2267712"/>
            <a:ext cx="5257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◆ B01 建模五步流｜五步流=产线SOP：划分→训练→交叉验证→调参→joblib保存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B02 混淆矩阵业务化｜混淆矩阵=体检报告四格：对角线判对；FN漏检与FP误报代价不对称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B03 F1与交叉验证｜F1=精确与召回的调和平均（谁短谁说了算）；CV=5防一次划分运气好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B04 推理服务化｜服务化=模型坐上窗口：POST JSON特征进→predict→J…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B05 warmup与p95｜warmup=发动机热车：首次调用加载模型慢，预热后再测；p95=…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B06 服务健康自检｜/health=服务的心电监护：GET返回模型版本与状态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44768" y="1783080"/>
            <a:ext cx="5586984" cy="148132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44768" y="1783080"/>
            <a:ext cx="5586984" cy="365760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54496" y="1819656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难点 · 易卡壳（下一页逐个击破）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2231136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误区：模型文件叫model.pkl——带版本/日期命名，回滚审计全靠它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误区：把混淆矩阵翻译成钱——漏检损失vs误报停机损失，算给业务听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误区：单次划分90%就报喜——五折均值才有说服力，方差也要报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44768" y="3401568"/>
            <a:ext cx="558698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144768" y="3401568"/>
            <a:ext cx="5586984" cy="365760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54496" y="3438144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高频易错 · 动手前先记住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9360" y="3849624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✗ 预测恒同一类 → feature_names.json对齐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模型加载失败 → 记录sklearn版本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服务卡死 → 教学够用/生产Litestar+Granian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5047488"/>
            <a:ext cx="11274552" cy="120700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57200" y="5047488"/>
            <a:ext cx="11274552" cy="36576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6928" y="5084064"/>
            <a:ext cx="110550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达标自问 · 学没学会，问自己这四句（当堂评分同口径）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1792" y="5458968"/>
            <a:ext cx="1097280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① 及格线我能过吗——推理服务可调通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② 优秀线我够吗——异常处理(404/参数错)+延迟记录+P7立项(超优)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③ 技能点我能独立做出来吗——诊断模型训练与F1达标；模型接入P5库联动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④ 报错了先查「常见错误速查」页再举手——错误信息逐字读一遍，八成自己能修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6281928"/>
            <a:ext cx="9601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6B7280"/>
                </a:solidFill>
                <a:latin typeface="微软雅黑"/>
              </a:rPr>
              <a:t>素材来源：同周《第15次课-用特征矩阵训练诊断大脑》知识卡与避坑清单（逐字摘录）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难点逐个击破 · 零基础照做就能会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19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每个难点四步走：先看「为什么容易栽」对号入座 → 记住「一招破解」→ 照「动手验证」做一遍 → 做不出回知识详解页。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17830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17830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1828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难点1：B01 建模五步流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误区：模型文件叫model.pkl——带版本/日期命名，回滚审计全靠它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34255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34255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五步流=产线SOP：划分→训练→交叉验证→调参→joblib保存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10143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10143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scikit-learn标准作业程序——顺序即纪律 joblib.dump(model, 'model_v20260926.joblib')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33832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57200" y="33832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8368" y="3429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难点2：B02 混淆矩阵业务化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误区：把混淆矩阵翻译成钱——漏检损失vs误报停机损失，算给业务听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34255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34255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混淆矩阵=体检报告四格：对角线判对；FN漏检与FP误报代价不对称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10143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10143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故障诊断评估不能只看准确率——错在哪类才关键 FN=漏报真故障(代价高) → 阈值向召回偏移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49834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57200" y="49834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8368" y="5029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难点3：B03 F1与交叉验证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8368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8368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误区：单次划分90%就报喜——五折均值才有说服力，方差也要报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334255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334255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F1=精确与召回的调和平均（谁短谁说了算）；CV=5防一次划分运气好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10143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10143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类别不平衡(故障样本少)时的诚实指标 cross_val_score(model, X, y, cv=5).mean()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承上启下 · 动手前避坑清单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19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本讲是动手冲刺课：先把上周完整讲解里的高频翻车点过一遍，再开工——每条都是历届学生真实踩过的坑。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1783080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1783080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1847088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预测恒同一类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2167128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原因：特征顺序错位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解决：feature_names.json对齐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99632" y="1783080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99632" y="1783080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0" y="1847088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模型加载失败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2167128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原因：版本不匹配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解决：记录sklearn版本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3973068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3973068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68" y="4037076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服务卡死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4357116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原因：单线程长阻塞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解决：教学够用/生产Litestar+Granian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281928"/>
            <a:ext cx="9601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6B7280"/>
                </a:solidFill>
                <a:latin typeface="微软雅黑"/>
              </a:rPr>
              <a:t>素材来源：同周《第15次课-用特征矩阵训练诊断大脑》知识卡与避坑清单（逐字摘录）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