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8" r:id="rId50"/>
    <p:sldId id="301" r:id="rId53"/>
    <p:sldId id="304" r:id="rId56"/>
    <p:sldId id="309" r:id="rId61"/>
    <p:sldId id="311" r:id="rId63"/>
    <p:sldId id="312" r:id="rId64"/>
    <p:sldId id="314" r:id="rId66"/>
    <p:sldId id="318" r:id="rId70"/>
    <p:sldId id="319" r:id="rId71"/>
    <p:sldId id="320" r:id="rId72"/>
    <p:sldId id="321" r:id="rId73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4" r:id="rId86"/>
    <p:sldId id="335" r:id="rId87"/>
    <p:sldId id="369" r:id="rId121"/>
    <p:sldId id="337" r:id="rId89"/>
    <p:sldId id="338" r:id="rId90"/>
    <p:sldId id="370" r:id="rId69"/>
    <p:sldId id="371" r:id="rId68"/>
    <p:sldId id="372" r:id="rId67"/>
    <p:sldId id="339" r:id="rId91"/>
    <p:sldId id="340" r:id="rId92"/>
    <p:sldId id="341" r:id="rId93"/>
    <p:sldId id="343" r:id="rId95"/>
    <p:sldId id="344" r:id="rId96"/>
    <p:sldId id="345" r:id="rId97"/>
    <p:sldId id="347" r:id="rId99"/>
    <p:sldId id="348" r:id="rId100"/>
    <p:sldId id="349" r:id="rId101"/>
    <p:sldId id="356" r:id="rId108"/>
    <p:sldId id="361" r:id="rId113"/>
    <p:sldId id="362" r:id="rId114"/>
    <p:sldId id="363" r:id="rId115"/>
    <p:sldId id="367" r:id="rId119"/>
    <p:sldId id="368" r:id="rId1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50" Type="http://schemas.openxmlformats.org/officeDocument/2006/relationships/slide" Target="slides/slide25.xml"/><Relationship Id="rId53" Type="http://schemas.openxmlformats.org/officeDocument/2006/relationships/slide" Target="slides/slide26.xml"/><Relationship Id="rId56" Type="http://schemas.openxmlformats.org/officeDocument/2006/relationships/slide" Target="slides/slide27.xml"/><Relationship Id="rId61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6" Type="http://schemas.openxmlformats.org/officeDocument/2006/relationships/slide" Target="slides/slide31.xml"/><Relationship Id="rId67" Type="http://schemas.openxmlformats.org/officeDocument/2006/relationships/slide" Target="slides/slide65.xml"/><Relationship Id="rId68" Type="http://schemas.openxmlformats.org/officeDocument/2006/relationships/slide" Target="slides/slide64.xml"/><Relationship Id="rId69" Type="http://schemas.openxmlformats.org/officeDocument/2006/relationships/slide" Target="slides/slide63.xml"/><Relationship Id="rId70" Type="http://schemas.openxmlformats.org/officeDocument/2006/relationships/slide" Target="slides/slide32.xml"/><Relationship Id="rId71" Type="http://schemas.openxmlformats.org/officeDocument/2006/relationships/slide" Target="slides/slide33.xml"/><Relationship Id="rId72" Type="http://schemas.openxmlformats.org/officeDocument/2006/relationships/slide" Target="slides/slide34.xml"/><Relationship Id="rId73" Type="http://schemas.openxmlformats.org/officeDocument/2006/relationships/slide" Target="slides/slide35.xml"/><Relationship Id="rId74" Type="http://schemas.openxmlformats.org/officeDocument/2006/relationships/slide" Target="slides/slide36.xml"/><Relationship Id="rId76" Type="http://schemas.openxmlformats.org/officeDocument/2006/relationships/slide" Target="slides/slide37.xml"/><Relationship Id="rId78" Type="http://schemas.openxmlformats.org/officeDocument/2006/relationships/slide" Target="slides/slide38.xml"/><Relationship Id="rId80" Type="http://schemas.openxmlformats.org/officeDocument/2006/relationships/slide" Target="slides/slide39.xml"/><Relationship Id="rId82" Type="http://schemas.openxmlformats.org/officeDocument/2006/relationships/slide" Target="slides/slide40.xml"/><Relationship Id="rId83" Type="http://schemas.openxmlformats.org/officeDocument/2006/relationships/slide" Target="slides/slide41.xml"/><Relationship Id="rId85" Type="http://schemas.openxmlformats.org/officeDocument/2006/relationships/slide" Target="slides/slide42.xml"/><Relationship Id="rId86" Type="http://schemas.openxmlformats.org/officeDocument/2006/relationships/slide" Target="slides/slide43.xml"/><Relationship Id="rId87" Type="http://schemas.openxmlformats.org/officeDocument/2006/relationships/slide" Target="slides/slide44.xml"/><Relationship Id="rId89" Type="http://schemas.openxmlformats.org/officeDocument/2006/relationships/slide" Target="slides/slide46.xml"/><Relationship Id="rId90" Type="http://schemas.openxmlformats.org/officeDocument/2006/relationships/slide" Target="slides/slide47.xml"/><Relationship Id="rId91" Type="http://schemas.openxmlformats.org/officeDocument/2006/relationships/slide" Target="slides/slide48.xml"/><Relationship Id="rId92" Type="http://schemas.openxmlformats.org/officeDocument/2006/relationships/slide" Target="slides/slide49.xml"/><Relationship Id="rId93" Type="http://schemas.openxmlformats.org/officeDocument/2006/relationships/slide" Target="slides/slide50.xml"/><Relationship Id="rId95" Type="http://schemas.openxmlformats.org/officeDocument/2006/relationships/slide" Target="slides/slide51.xml"/><Relationship Id="rId96" Type="http://schemas.openxmlformats.org/officeDocument/2006/relationships/slide" Target="slides/slide52.xml"/><Relationship Id="rId97" Type="http://schemas.openxmlformats.org/officeDocument/2006/relationships/slide" Target="slides/slide53.xml"/><Relationship Id="rId99" Type="http://schemas.openxmlformats.org/officeDocument/2006/relationships/slide" Target="slides/slide54.xml"/><Relationship Id="rId100" Type="http://schemas.openxmlformats.org/officeDocument/2006/relationships/slide" Target="slides/slide55.xml"/><Relationship Id="rId101" Type="http://schemas.openxmlformats.org/officeDocument/2006/relationships/slide" Target="slides/slide56.xml"/><Relationship Id="rId108" Type="http://schemas.openxmlformats.org/officeDocument/2006/relationships/slide" Target="slides/slide57.xml"/><Relationship Id="rId113" Type="http://schemas.openxmlformats.org/officeDocument/2006/relationships/slide" Target="slides/slide58.xml"/><Relationship Id="rId114" Type="http://schemas.openxmlformats.org/officeDocument/2006/relationships/slide" Target="slides/slide59.xml"/><Relationship Id="rId115" Type="http://schemas.openxmlformats.org/officeDocument/2006/relationships/slide" Target="slides/slide60.xml"/><Relationship Id="rId119" Type="http://schemas.openxmlformats.org/officeDocument/2006/relationships/slide" Target="slides/slide61.xml"/><Relationship Id="rId120" Type="http://schemas.openxmlformats.org/officeDocument/2006/relationships/slide" Target="slides/slide62.xml"/><Relationship Id="rId12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开场30秒：本次课《产线驾驶舱：5个KPI一屏掌握》，80分钟＝2课时×40分钟。课前已发工单+starter+微课知识卡，资讯·计划线上完成。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情境说书（30秒，口头讲，不必逐字念）：方总监向集团汇报需要'看得见的数据'。下周 executive meeting 要演示——工单P3：产线KPI仪表盘+自动日报，给管理层一双数据的眼睛。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详解B1·Streamlit脚本式交互：先读定义→场景为什么用它→看代码实例→扩展给A层。C/D层掌握前三格，A层加扩展格。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详解B2·cache缓存：先读定义→场景为什么用它→看代码实例→扩展给A层。C/D层掌握前三格，A层加扩展格。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详解B3·st.metric指标卡：先读定义→场景为什么用它→看代码实例→扩展给A层。C/D层掌握前三格，A层加扩展格。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详解B4·Plotly交互图：先读定义→场景为什么用它→看代码实例→扩展给A层。C/D层掌握前三格，A层加扩展格。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详解B5·Jinja2模板：先读定义→场景为什么用它→看代码实例→扩展给A层。C/D层掌握前三格，A层加扩展格。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详解B6·四段式日报：先读定义→场景为什么用它→看代码实例→扩展给A层。C/D层掌握前三格，A层加扩展格。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现场演示《KPI指标卡》：三步走——先整段跑通看结果，再逐行讲关键语句，最后现场改一个参数看输出变化（演10分钟的核心素材）。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现场演示《模板渲染》：三步走——先整段跑通看结果，再逐行讲关键语句，最后现场改一个参数看输出变化（演10分钟的核心素材）。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工单发布话术：'数字化转型办公室发来工单P3.1《产线KPI实时仪表盘》，及格线是5，优秀线看A层标准'——念完发starter。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错误速查：现场演示第一条——制造「交互后变慢」，带着学生按'现象→原因→解决'三步排查。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产线驾驶舱：5个KPI一屏掌握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产线驾驶舱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：5个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 · Plotly交互图表嵌入——应用：见工单starter与教师参考实现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P3.1《产线KPI实时仪表盘》——本课工单即考核单元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目标：能够搭建含5个KPI的交互式仪表盘；能够自动生成图文并茂的HTML+PDF日报；报告生成&lt;2分钟（优秀&lt;1分钟）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目标：建立“数据产品”意识——可视化是给决策者用的产品，培养用户视角与美学素养。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matplotlib绘图(subplot/bar)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Streamlit/Plotly概览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课中检查｜上次课（W4）抽查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30维特征&lt;100ms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题目：Streamlit每次交互后脚本如何重跑？缓存用哪个装饰器？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任务背景：方总监向集团汇报需要'看得见的数据'。下周 executive meeting 要演示——工单P3：产线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对应工单P3.1评分：功能40%+技术25%+规范20%+素养15%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知识详解：Streamlit脚本式交互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Streamlit脚本式交互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Streamlit=整页重放的幻灯片：每次点交互从头跑一遍脚本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零前端基础出交互页面——数据分析师的浏览器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st.title('产线KPI'); st.sidebar.selectbox('设备', devs)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误区：用Web框架思维写全局状态——重跑虽笨但可预测，cache治重算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知识应用（1）：Streamlit脚本式交互；sidebar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Streamlit脚本式交互；sidebar筛选。在两江智造产线上的用法：见工单starter与教师参考实现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知识详解：cache缓存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cache缓存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@st.cache_data=给函数盖'已算'章：参数不变直接取上次结果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读库/重计算函数加缓存——交互秒开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@st.cache_data def load(): return pd.read_sql(…)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误区：数据更新了还拿旧缓存——记得clear或设TTL过期时间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知识详解：st.metric指标卡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st.metric指标卡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st.metric=大字报KPI卡：数字+涨跌箭头一眼看板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KPI仪表盘的第一视觉元素——OEE/停机/产量三卡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c1.metric('OEE','87%',delta='+2%')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误区：delta正负好坏想当然——停机数上升是坏事，delta_color要对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知识详解：Plotly交互图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Plotly交互图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Plotly=会动会说话的图：悬停看数/框选放大/图例开关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仪表盘交互图表——静态图给不了的能力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px.line(df, x='ts', y='temp') → st.plotly_chart(fig)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误区：matplotlib对象塞给plotly_chart——两套体系不互通，统一用一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知识详解：Jinja2模板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Jinja2模板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Jinja2=填空合同：{{变量}}挖坑，render时数据填坑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HTML日报模板一次写好，数据每天自动填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Template('…{{kpi}}…').render(kpi='87%')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误区：模板里拼SQL/逻辑——模板只管样式，逻辑留在Python侧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知识详解：四段式日报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四段式日报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四段式=新闻倒金字塔：概览→分析→异常→附表（与02课W10同口径）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跨课统一口径：P3日报与02课PDF日报同构——一次学会两处复用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概览一段+分析一图+异常一表+附录数据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误区：两课各写一套格式——统一模板思维，资产可迁移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时间/设备联动筛选——应用：见工单starter与教师参考实现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HTML+PDF双格式日报——应用：见工单starter与教师参考实现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生成耗时基准(&lt;2min)——应用：见工单starter与教师参考实现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产线驾驶舱：5个KPI一屏掌握（1）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Matplotlib基础：折线图、柱状图、箱线图、热力图；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Plotly交互式图表与Dash框架入门；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工单P3.1实操：搭建产线KPI实时仪表盘（产量趋势/良率仪表/设备状态灯/告警统计/效率对标5项KPI，含时间筛选）。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关键代码：KPI指标卡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c1, c2, c3, c4 = st.columns(4)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c1.metric("总产量", f"{int(df.output.sum()):,}")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c2.metric("平均良率", f"{df['yield'].mean():.1%}")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c3.metric("设备在线", f"{df.device_id.nunique()}/4")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关键代码：模板渲染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jinja2 import Template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html = Template(open("report.tpl").read()).render(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total=total, yield_=y, anomalies=alerts)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决策：可视化框架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上手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本课决策题：决策：可视化框架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实施任务：工单P3.1《产线KPI实时仪表盘》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跑通starter最小仪表盘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5个KPI: 趋势/良率/状态灯/告警/对标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侧栏筛选(日期+设备)+cache_data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5KPI可用+时间筛选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联动流畅+Plotly交互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starter跑通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改一个KPI数值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页面能开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二选一交付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完成5KPI版仪表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或HTML日报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仪表盘或日报达基线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仪表盘+日报双交付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Streamlit五KPI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筛选联动+缓存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Jinja2+PDF日报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5KPI+四段PDF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钻取+定时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点击钻取明细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schedule定时生成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移动端适配检查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7指标+加载&lt;2s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数据钻取：点击折线点弹出该时段明细表（st.data_frame联动）)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跑通starter最小仪表盘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5个KPI: 趋势/良率/状态灯/告警/对标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侧栏筛选(日期+设备)+cache_data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Plotly图记得st.plotly_chart(py.plotly_fig)渲染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时间筛选用st.date_input的区间值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缓存键=数据文件mtime，自动失效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交互后变慢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@st.cache_data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Jinja2空白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变量名不匹配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对照模板逐个核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f-string遇yield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保留字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df['yield']取列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D·学徒（≥60）：starter跑通——跟做保底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C·操作员（≥70）：二选一交付——基础完成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B·组长（≥80）：仪表盘+日报双交付——标准达成+帮带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A·师傅（≥90）：钻取+定时——进阶拓展+费曼讲解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步骤1：跑通starter最小仪表盘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步骤2：5个KPI: 趋势/良率/状态灯/告警/对标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步骤3：侧栏筛选(日期+设备)+cache_data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P3 仪表盘运行态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streamlit 本地启动无报错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5 个 KPI 卡显示数字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图表可交互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浏览器 8500 端口可访问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32448"/>
            <a:ext cx="7863840" cy="23724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产线驾驶舱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：5个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交互后变慢 · Jinja2空白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排错题：出现「交互后变慢」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原因：没缓存；解决：@st.cache_data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Streamlit脚本式交互；sidebar筛选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知识：Streamlit脚本式交互；sideb；@st.cache_data缓存重计算；st.metric指标卡(KPI)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交付：工单P3.1《产线KPI实时仪表盘》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P3.1/P3.2 p33_kpi_cockpit：本次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48 / 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8254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825497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KPI可用+时间筛选；日报四部分完整+PDF正确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423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必做 KPI 5/5 全有值；时间筛选：同一 core.filter_records 缩到单日 2026-03-01 命中 47 行（全量 1186）；四段 生产概览 / 详细分析 / 异常识别 / 数据附表 全部见于 daily_report.html；PDF daily_report.pdf 校验通过：42190 B / 4 页，%PDF- 头与 %%EOF 尾齐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443985"/>
            <a:ext cx="11237976" cy="100787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443985"/>
            <a:ext cx="54864" cy="1007874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526281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262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07993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联动筛选流畅；日报生成&lt;2分钟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535425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535425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791457"/>
            <a:ext cx="10671047" cy="6055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联动程序化验证（同一 core.filter_records）：单日命中 47/1186 行；仅选 DEV-01 命中 296 行、总产量 14939＜全量 60273（筛选真的驱动重算）；app.py on_select="rerun" 接线 2 处 → core.drill_rows 联动明细 30 行（回路非空）；AppTest 无头真执行 app.py 并断言切换单日后命中变小（tests/test_dashboard.py，非肉眼验收）；日报耗时档位 &lt;1s（预算 120s，判定行不含毫秒，精确秒数在 timing.txt/runtime/）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8254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825497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≥7指标+钻取交互；异常自动识别；美观度≥4/5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607308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607308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423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指标实得 9 个；钻取：复放选择事件 x=['2026-03-03', '2026-03-05', '2026-03-07'] → 联动明细 30 行（上限 30）指纹 crc32=e89f637a（跨 PYTHONHASHSEED 稳定）；异常自动识别命中 357 条（temp&gt;90.0 或 vib&gt;4.5，逐条附处置建议）；美观度 5/5（≥4 达标；标题层级 1/1、单位标注 1/1、配色 1/1、图例 1/1、响应式 1/1；扣分项：无）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05373"/>
            <a:ext cx="11237976" cy="100787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05373"/>
            <a:ext cx="54864" cy="100787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487669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48766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469381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优秀+定时自动生成(mailto/计划任务)+移动端适配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496813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496813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752845"/>
            <a:ext cx="10671047" cy="6055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继承优秀(B)：达标；定时：schedule.at=07:30 解析为每日 07:30，下次触发为真实 datetime 且晚于此刻（墙钟值写 runtime/schedule_state.txt 与 output/timing.txt，不进判定行）；计划任务 4 件产物已渲染（crontab/systemd/launchd/mailto，写 runtime/schedule/）；mailto 收件人 line-lead@example.com 且 subject/body 齐；移动端：viewport=True flex=True media=True 窄屏断点 600px（config 上限 768px）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6"/>
            <a:ext cx="11237976" cy="941831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6"/>
            <a:ext cx="54864" cy="941831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8"/>
            <a:ext cx="10908792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出处：工程化项目/p33_kpi_cockpit/output/report.txt 第 15 节「分层达标」——本机 2026-10-28 05:08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工程化项目/p33_kpi_cockpit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P3.1/P3.2 分层达标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49 /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33_kpi_cockpit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19" y="1792224"/>
            <a:ext cx="9231712" cy="3849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p33_kpi_cockpit：分层达标 第 15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P3.1/P3.2 · 测试全绿证据＋pytest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50 /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pytest 全量实跑：本机真实运行输出，非示例、非节选</a:t>
            </a:r>
          </a:p>
        </p:txBody>
      </p:sp>
      <p:pic>
        <p:nvPicPr>
          <p:cNvPr id="12" name="Picture 11" descr="p33_kpi_cockpit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5275"/>
            <a:ext cx="11237976" cy="19891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290972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pytest：270 passed in 18.75s（本机实跑，非示例）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656732"/>
            <a:ext cx="11237976" cy="82296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4656732"/>
            <a:ext cx="54864" cy="8229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739028"/>
            <a:ext cx="109087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本项目四档只有一套阶梯口径（课堂 D/C/B/A 即工单及格/良好/优秀/超优），逐字实测见上一页截图；本页补的是测试全绿证据。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工程化项目/p33_kpi_cockpit &amp;&amp; python -m pytest -q -o addopts=''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工单提交：截图需含终端标题栏的文件名与完整输出，退出码 0 才算全绿。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