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373" r:id="rId65"/>
    <p:sldId id="257" r:id="rId9"/>
    <p:sldId id="259" r:id="rId11"/>
    <p:sldId id="260" r:id="rId12"/>
    <p:sldId id="261" r:id="rId13"/>
    <p:sldId id="263" r:id="rId15"/>
    <p:sldId id="264" r:id="rId16"/>
    <p:sldId id="266" r:id="rId18"/>
    <p:sldId id="267" r:id="rId19"/>
    <p:sldId id="271" r:id="rId23"/>
    <p:sldId id="273" r:id="rId25"/>
    <p:sldId id="274" r:id="rId26"/>
    <p:sldId id="275" r:id="rId27"/>
    <p:sldId id="276" r:id="rId28"/>
    <p:sldId id="277" r:id="rId29"/>
    <p:sldId id="278" r:id="rId30"/>
    <p:sldId id="280" r:id="rId32"/>
    <p:sldId id="281" r:id="rId33"/>
    <p:sldId id="282" r:id="rId34"/>
    <p:sldId id="287" r:id="rId39"/>
    <p:sldId id="289" r:id="rId41"/>
    <p:sldId id="290" r:id="rId42"/>
    <p:sldId id="292" r:id="rId44"/>
    <p:sldId id="295" r:id="rId47"/>
    <p:sldId id="298" r:id="rId50"/>
    <p:sldId id="301" r:id="rId53"/>
    <p:sldId id="304" r:id="rId56"/>
    <p:sldId id="309" r:id="rId61"/>
    <p:sldId id="311" r:id="rId63"/>
    <p:sldId id="312" r:id="rId64"/>
    <p:sldId id="314" r:id="rId66"/>
    <p:sldId id="318" r:id="rId70"/>
    <p:sldId id="319" r:id="rId71"/>
    <p:sldId id="320" r:id="rId72"/>
    <p:sldId id="321" r:id="rId73"/>
    <p:sldId id="322" r:id="rId74"/>
    <p:sldId id="324" r:id="rId76"/>
    <p:sldId id="326" r:id="rId78"/>
    <p:sldId id="328" r:id="rId80"/>
    <p:sldId id="330" r:id="rId82"/>
    <p:sldId id="331" r:id="rId83"/>
    <p:sldId id="333" r:id="rId85"/>
    <p:sldId id="334" r:id="rId86"/>
    <p:sldId id="335" r:id="rId87"/>
    <p:sldId id="369" r:id="rId121"/>
    <p:sldId id="337" r:id="rId89"/>
    <p:sldId id="338" r:id="rId90"/>
    <p:sldId id="370" r:id="rId69"/>
    <p:sldId id="371" r:id="rId68"/>
    <p:sldId id="372" r:id="rId67"/>
    <p:sldId id="339" r:id="rId91"/>
    <p:sldId id="340" r:id="rId92"/>
    <p:sldId id="341" r:id="rId93"/>
    <p:sldId id="343" r:id="rId95"/>
    <p:sldId id="344" r:id="rId96"/>
    <p:sldId id="345" r:id="rId97"/>
    <p:sldId id="347" r:id="rId99"/>
    <p:sldId id="348" r:id="rId100"/>
    <p:sldId id="349" r:id="rId101"/>
    <p:sldId id="356" r:id="rId108"/>
    <p:sldId id="361" r:id="rId113"/>
    <p:sldId id="362" r:id="rId114"/>
    <p:sldId id="363" r:id="rId115"/>
    <p:sldId id="367" r:id="rId119"/>
    <p:sldId id="368" r:id="rId120"/>
    <p:sldId id="374" r:id="rId62"/>
    <p:sldId id="375" r:id="rId7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3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2" Type="http://schemas.openxmlformats.org/officeDocument/2006/relationships/slide" Target="slides/slide17.xml"/><Relationship Id="rId33" Type="http://schemas.openxmlformats.org/officeDocument/2006/relationships/slide" Target="slides/slide18.xml"/><Relationship Id="rId34" Type="http://schemas.openxmlformats.org/officeDocument/2006/relationships/slide" Target="slides/slide19.xml"/><Relationship Id="rId39" Type="http://schemas.openxmlformats.org/officeDocument/2006/relationships/slide" Target="slides/slide20.xml"/><Relationship Id="rId41" Type="http://schemas.openxmlformats.org/officeDocument/2006/relationships/slide" Target="slides/slide21.xml"/><Relationship Id="rId42" Type="http://schemas.openxmlformats.org/officeDocument/2006/relationships/slide" Target="slides/slide22.xml"/><Relationship Id="rId44" Type="http://schemas.openxmlformats.org/officeDocument/2006/relationships/slide" Target="slides/slide23.xml"/><Relationship Id="rId47" Type="http://schemas.openxmlformats.org/officeDocument/2006/relationships/slide" Target="slides/slide24.xml"/><Relationship Id="rId50" Type="http://schemas.openxmlformats.org/officeDocument/2006/relationships/slide" Target="slides/slide25.xml"/><Relationship Id="rId53" Type="http://schemas.openxmlformats.org/officeDocument/2006/relationships/slide" Target="slides/slide26.xml"/><Relationship Id="rId56" Type="http://schemas.openxmlformats.org/officeDocument/2006/relationships/slide" Target="slides/slide27.xml"/><Relationship Id="rId61" Type="http://schemas.openxmlformats.org/officeDocument/2006/relationships/slide" Target="slides/slide28.xml"/><Relationship Id="rId62" Type="http://schemas.openxmlformats.org/officeDocument/2006/relationships/slide" Target="slides/slide67.xml"/><Relationship Id="rId63" Type="http://schemas.openxmlformats.org/officeDocument/2006/relationships/slide" Target="slides/slide29.xml"/><Relationship Id="rId64" Type="http://schemas.openxmlformats.org/officeDocument/2006/relationships/slide" Target="slides/slide30.xml"/><Relationship Id="rId65" Type="http://schemas.openxmlformats.org/officeDocument/2006/relationships/slide" Target="slides/slide66.xml"/><Relationship Id="rId66" Type="http://schemas.openxmlformats.org/officeDocument/2006/relationships/slide" Target="slides/slide31.xml"/><Relationship Id="rId67" Type="http://schemas.openxmlformats.org/officeDocument/2006/relationships/slide" Target="slides/slide50.xml"/><Relationship Id="rId68" Type="http://schemas.openxmlformats.org/officeDocument/2006/relationships/slide" Target="slides/slide49.xml"/><Relationship Id="rId69" Type="http://schemas.openxmlformats.org/officeDocument/2006/relationships/slide" Target="slides/slide48.xml"/><Relationship Id="rId70" Type="http://schemas.openxmlformats.org/officeDocument/2006/relationships/slide" Target="slides/slide32.xml"/><Relationship Id="rId71" Type="http://schemas.openxmlformats.org/officeDocument/2006/relationships/slide" Target="slides/slide33.xml"/><Relationship Id="rId72" Type="http://schemas.openxmlformats.org/officeDocument/2006/relationships/slide" Target="slides/slide34.xml"/><Relationship Id="rId73" Type="http://schemas.openxmlformats.org/officeDocument/2006/relationships/slide" Target="slides/slide35.xml"/><Relationship Id="rId74" Type="http://schemas.openxmlformats.org/officeDocument/2006/relationships/slide" Target="slides/slide36.xml"/><Relationship Id="rId75" Type="http://schemas.openxmlformats.org/officeDocument/2006/relationships/slide" Target="slides/slide68.xml"/><Relationship Id="rId76" Type="http://schemas.openxmlformats.org/officeDocument/2006/relationships/slide" Target="slides/slide37.xml"/><Relationship Id="rId78" Type="http://schemas.openxmlformats.org/officeDocument/2006/relationships/slide" Target="slides/slide38.xml"/><Relationship Id="rId80" Type="http://schemas.openxmlformats.org/officeDocument/2006/relationships/slide" Target="slides/slide39.xml"/><Relationship Id="rId82" Type="http://schemas.openxmlformats.org/officeDocument/2006/relationships/slide" Target="slides/slide40.xml"/><Relationship Id="rId83" Type="http://schemas.openxmlformats.org/officeDocument/2006/relationships/slide" Target="slides/slide41.xml"/><Relationship Id="rId85" Type="http://schemas.openxmlformats.org/officeDocument/2006/relationships/slide" Target="slides/slide42.xml"/><Relationship Id="rId86" Type="http://schemas.openxmlformats.org/officeDocument/2006/relationships/slide" Target="slides/slide43.xml"/><Relationship Id="rId87" Type="http://schemas.openxmlformats.org/officeDocument/2006/relationships/slide" Target="slides/slide44.xml"/><Relationship Id="rId89" Type="http://schemas.openxmlformats.org/officeDocument/2006/relationships/slide" Target="slides/slide46.xml"/><Relationship Id="rId90" Type="http://schemas.openxmlformats.org/officeDocument/2006/relationships/slide" Target="slides/slide47.xml"/><Relationship Id="rId91" Type="http://schemas.openxmlformats.org/officeDocument/2006/relationships/slide" Target="slides/slide51.xml"/><Relationship Id="rId92" Type="http://schemas.openxmlformats.org/officeDocument/2006/relationships/slide" Target="slides/slide52.xml"/><Relationship Id="rId93" Type="http://schemas.openxmlformats.org/officeDocument/2006/relationships/slide" Target="slides/slide53.xml"/><Relationship Id="rId95" Type="http://schemas.openxmlformats.org/officeDocument/2006/relationships/slide" Target="slides/slide54.xml"/><Relationship Id="rId96" Type="http://schemas.openxmlformats.org/officeDocument/2006/relationships/slide" Target="slides/slide55.xml"/><Relationship Id="rId97" Type="http://schemas.openxmlformats.org/officeDocument/2006/relationships/slide" Target="slides/slide56.xml"/><Relationship Id="rId99" Type="http://schemas.openxmlformats.org/officeDocument/2006/relationships/slide" Target="slides/slide57.xml"/><Relationship Id="rId100" Type="http://schemas.openxmlformats.org/officeDocument/2006/relationships/slide" Target="slides/slide58.xml"/><Relationship Id="rId101" Type="http://schemas.openxmlformats.org/officeDocument/2006/relationships/slide" Target="slides/slide59.xml"/><Relationship Id="rId108" Type="http://schemas.openxmlformats.org/officeDocument/2006/relationships/slide" Target="slides/slide60.xml"/><Relationship Id="rId113" Type="http://schemas.openxmlformats.org/officeDocument/2006/relationships/slide" Target="slides/slide61.xml"/><Relationship Id="rId114" Type="http://schemas.openxmlformats.org/officeDocument/2006/relationships/slide" Target="slides/slide62.xml"/><Relationship Id="rId115" Type="http://schemas.openxmlformats.org/officeDocument/2006/relationships/slide" Target="slides/slide63.xml"/><Relationship Id="rId119" Type="http://schemas.openxmlformats.org/officeDocument/2006/relationships/slide" Target="slides/slide64.xml"/><Relationship Id="rId120" Type="http://schemas.openxmlformats.org/officeDocument/2006/relationships/slide" Target="slides/slide65.xml"/><Relationship Id="rId121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开场30秒：本次课《产线驾驶舱：5个KPI一屏掌握》，80分钟＝2课时×40分钟。课前已发工单+starter+微课知识卡，资讯·计划线上完成。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情境说书（30秒，口头讲，不必逐字念）：方总监向集团汇报需要'看得见的数据'。下周 executive meeting 要演示——工单P3：产线KPI仪表盘+自动日报，给管理层一双数据的眼睛。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详解B1·Streamlit脚本式交互：先读定义→场景为什么用它→看代码实例→扩展给A层。C/D层掌握前三格，A层加扩展格。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应用页1：把知识点放回产线场景——先看代码输出，再回看定义，强化'学以致用'。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详解B2·cache缓存：先读定义→场景为什么用它→看代码实例→扩展给A层。C/D层掌握前三格，A层加扩展格。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详解B3·st.metric指标卡：先读定义→场景为什么用它→看代码实例→扩展给A层。C/D层掌握前三格，A层加扩展格。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详解B4·Plotly交互图：先读定义→场景为什么用它→看代码实例→扩展给A层。C/D层掌握前三格，A层加扩展格。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详解B5·Jinja2模板：先读定义→场景为什么用它→看代码实例→扩展给A层。C/D层掌握前三格，A层加扩展格。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详解B6·四段式日报：先读定义→场景为什么用它→看代码实例→扩展给A层。C/D层掌握前三格，A层加扩展格。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现场演示《KPI指标卡》：三步走——先整段跑通看结果，再逐行讲关键语句，最后现场改一个参数看输出变化（演10分钟的核心素材）。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现场演示《模板渲染》：三步走——先整段跑通看结果，再逐行讲关键语句，最后现场改一个参数看输出变化（演10分钟的核心素材）。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工单发布话术：'数字化转型办公室发来工单P3.1《产线KPI实时仪表盘》，及格线是5，优秀线看A层标准'——念完发starter。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错误速查：现场演示第一条——制造「交互后变慢」，带着学生按'现象→原因→解决'三步排查。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核对清单：把工单步骤变成checklist，做完勾选——防漏做。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项目6 | 预习知识点：matplotlib绘图(subplot/bar)；Streamlit/Plotly概览 | 课中检查知识点：5+KPI仪表盘可交互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6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8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Python程序设计（项目实战）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产线驾驶舱：5个KPI一屏掌握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第五周 · 第9次课（2课时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 ·  理实一体  ·  配套：分层工单+starter  ·  本课主用：PyCharm CE + conda环境(pp03) + Git/GitHub（每周提交）</a:t>
            </a:r>
          </a:p>
        </p:txBody>
      </p:sp>
      <p:pic>
        <p:nvPicPr>
          <p:cNvPr id="7" name="Picture 6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本次课议程（六部分 · 80分钟）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课程定位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课前已读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性质·岗位·证书：为什么学这门课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课堂流程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约2′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80分钟时间盒与ABCD分层节奏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目标与资讯·情境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约5′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带着目标进课堂+两江智造本课剧情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知识精讲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基础知识大卡+代码演示（先例后理）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任务实施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六步法核心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工单发布·分层执行·避坑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/>
              </a:rPr>
              <a:t>06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/>
              </a:rPr>
              <a:t>检查与评价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/>
              </a:rPr>
              <a:t>约15′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三层质检·当堂评分·课后任务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0000" y="6350000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资讯·计划已于课前线上完成——课堂从决策/演示直接开始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65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01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课程定位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本课在课程体系中的位置（课程标准摘录）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课程定位：Python程序设计（项目实战）（课程标准摘录）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课程性质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自包含工程应用课：C语言底子直接上工业项目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面向岗位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数据工程师、数据分析、AI应用、采集技术员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对接证书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Python开发、数据应用与服务（1+X）、AI应用实践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/>
              </a:rPr>
              <a:t>课程衔接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前置仅需C语言 → 本课(第1-8周) → 后：毕业设计/平台实习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65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本课知识图谱（先见森林，再见树木）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产线驾驶舱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：5个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5条分支导览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基础知识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Streamlit脚本式交互；sidebar筛选——应用：见工单starter与教师参考实现 · @st.cache_data缓存重计算——应用：见工单starter与教师参考实现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继续夯实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st.metric指标卡(KPI)——应用：见工单starter与教师参考实现 · Plotly交互图表嵌入——应用：见工单starter与教师参考实现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搭建5+KPI仪表盘——应用：见工单starter与教师参考实现 · 时间/设备联动筛选——应用：见工单starter与教师参考实现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分层任务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D跟做保底 · C基础完成 · B标准达成 · A进阶拓展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课堂评价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功能40% · 技术25% · 规范20% · 素养15%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知识地图分支详解（二）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技能线：搭建5+KPI仪表盘——应用：见工单starter与教师参考实现；时间/设备联动筛选——应用：见工单starter与教师参考实现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分层任务线：D跟做→C独立→B帮带→A拓展（每4周动态升降）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课堂评价线：功能40%+技术25%+规范20%+素养15%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三条线闭环：技能靠任务练，任务按评价收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65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岗课赛证对照（本课坐标）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数字化转型办公室：数据工程师、数据分析工程师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P3.1《产线KPI实时仪表盘》——本课工单即考核单元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Python开发职业技能等级证书（工信部）——工程模板/数据处理对应中级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赛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世界职业院校技能大赛（人工智能赛道）数据采集/处理赛项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65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02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课堂流程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80分钟时间盒与个人节奏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65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本次课流程（80分钟时间盒）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资讯·计划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课前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线上导学单+预习自测（已完成的打√）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决策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备选方案对比 → 决策矩阵打分 → 结论公示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30min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骨架贯通：体验→应用，完成工单核心功能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检查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5min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三层质检：自检—互检—师查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实施二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25min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优化迭代：冲优秀标准/拓展任务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评价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/>
              </a:rPr>
              <a:t>10min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D/C/B/A量表评分 + 课后任务布置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/>
              </a:rPr>
              <a:t>每课时40分钟 · 共80分钟（六步法课堂化）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65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03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目标与资讯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带着目标进课堂（Predict·预测）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知识目标：怎么学·怎么证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目标：掌握Matplotlib/Plotly的常用图表绘制；理解Dash仪表盘组件结构；掌握Jinja2模板与PDF报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怎么学：知识卡先例后理→快查核对→应用页回到产线场景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怎么证：课前quiz+随堂自测+工单'技术质量25%'项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达标线：能复述定义+能说出产线例子=过关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能力目标：怎么练·怎么证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目标：能够搭建含5个KPI的交互式仪表盘；能够自动生成图文并茂的HTML+PDF日报；报告生成&lt;2分钟（优秀&lt;1分钟）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怎么练：starter跟做（D）→独立完成（C）→规范+帮带（B）→拓展（A）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怎么证：工单'功能40%'全项+运行截图贴过程记录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达标线：代码能跑+输出符合工单样例=过关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65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素质目标：怎么养·怎么证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目标：建立“数据产品”意识——可视化是给决策者用的产品，培养用户视角与美学素养。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怎么养：规范命名/及时提交/报错必究——每个工单都在练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怎么证：Git提交历史（每周≥1次）+工单'素养15%'项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达标线：提交记录连续+命名规范=过关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65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Streamlit每次交互后脚本如何重跑？缓存用哪个装饰器？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模板仓库已克隆更新；导学单与实施计划已提交平台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65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课前预习与检查（教材衔接 · 上次课回顾）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📖 课前预习｜下次课教材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《Python程序设计项目化教》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项目6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matplotlib绘图(subplot/bar)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Streamlit/Plotly概览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✓ 课中检查｜上次课（W4）抽查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/>
              </a:rPr>
              <a:t>抽查1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30维特征&lt;100ms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/>
              </a:rPr>
              <a:t>抽查方式：随机2人白板演示/口述——答对记过程分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65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课前测逐题精讲（错得最多的那道）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题目：Streamlit每次交互后脚本如何重跑？缓存用哪个装饰器？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正确思路：从'考哪个知识卡'入手——先定位再作答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常见错误：背概念不看场景；看到代码就慌，先读注释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本课回收：这道题的考点会在知识卡X和随堂自测中再次出现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65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数字化转型办公室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方总监向集团汇报需要'看得见的数据'。下周 executive meeting 要演示——工单P3：产线KPI仪表盘+自动日报，给管理层一双数据的眼睛。</a:t>
            </a:r>
          </a:p>
        </p:txBody>
      </p:sp>
      <p:pic>
        <p:nvPicPr>
          <p:cNvPr id="9" name="Picture 8" descr="W5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65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剧情拆解：任务 → 冲突 → 你的决策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任务背景：方总监向集团汇报需要'看得见的数据'。下周 executive meeting 要演示——工单P3：产线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冲突点：产线数据量大/格式杂/时限紧——手工做不完，必须编程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决策点：先做什么再做什么？数据从哪来？输出给谁看？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带着这三个问题进入知识精讲——每个知识点都是解药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65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三维目标 → 怎么算达标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知识目标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掌握Matplotlib/Plotly的常用图表绘制；理解Dash仪表盘组件结构；掌握Jinja2模板与PDF报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能力目标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能够搭建含5个KPI的交互式仪表盘；能够自动生成图文并茂的HTML+PDF日报；报告生成&lt;2分钟（优秀&lt;1分钟）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素质目标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建立“数据产品”意识——可视化是给决策者用的产品，培养用户视角与美学素养。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达标口径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对应工单P3.1评分：功能40%+技术25%+规范20%+素养15%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65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04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知识精讲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基础知识 → 详解 → 技能 → 代码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65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知识详解：Streamlit脚本式交互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B01 · Streamlit脚本式交互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Streamlit=整页重放的幻灯片：每次点交互从头跑一遍脚本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零前端基础出交互页面——数据分析师的浏览器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st.title('产线KPI'); st.sidebar.selectbox('设备', devs)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误区：用Web框架思维写全局状态——重跑虽笨但可预测，cache治重算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65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知识应用（1）：Streamlit脚本式交互；sidebar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◆ 两江智造应用场景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Streamlit脚本式交互；sidebar筛选。在两江智造产线上的用法：见工单starter与教师参考实现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65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知识详解：cache缓存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B02 · cache缓存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@st.cache_data=给函数盖'已算'章：参数不变直接取上次结果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读库/重计算函数加缓存——交互秒开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@st.cache_data def load(): return pd.read_sql(…)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误区：数据更新了还拿旧缓存——记得clear或设TTL过期时间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65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知识详解：st.metric指标卡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B03 · st.metric指标卡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st.metric=大字报KPI卡：数字+涨跌箭头一眼看板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KPI仪表盘的第一视觉元素——OEE/停机/产量三卡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c1.metric('OEE','87%',delta='+2%')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误区：delta正负好坏想当然——停机数上升是坏事，delta_color要对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65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知识详解：Plotly交互图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B04 · Plotly交互图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Plotly=会动会说话的图：悬停看数/框选放大/图例开关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仪表盘交互图表——静态图给不了的能力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px.line(df, x='ts', y='temp') → st.plotly_chart(fig)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误区：matplotlib对象塞给plotly_chart——两套体系不互通，统一用一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知识详解：Jinja2模板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B05 · Jinja2模板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Jinja2=填空合同：{{变量}}挖坑，render时数据填坑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HTML日报模板一次写好，数据每天自动填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Template('…{{kpi}}…').render(kpi='87%')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误区：模板里拼SQL/逻辑——模板只管样式，逻辑留在Python侧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知识详解：四段式日报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/>
              </a:rPr>
              <a:t>B06 · 四段式日报</a:t>
            </a: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定义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四段式=新闻倒金字塔：概览→分析→异常→附表（与02课W10同口径）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使用场景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跨课统一口径：P3日报与02课PDF日报同构——一次学会两处复用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/>
              </a:rPr>
              <a:t>概览一段+分析一图+异常一表+附录数据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扩展与优化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误区：两课各写一套格式——统一模板思维，资产可迁移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65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技能点：做完你应该会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搭建5+KPI仪表盘——应用：见工单starter与教师参考实现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时间/设备联动筛选——应用：见工单starter与教师参考实现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HTML+PDF双格式日报——应用：见工单starter与教师参考实现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S4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生成耗时基准(&lt;2min)——应用：见工单starter与教师参考实现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产线驾驶舱：5个KPI一屏掌握（1）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Matplotlib基础：折线图、柱状图、箱线图、热力图；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Plotly交互式图表与Dash框架入门；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工单P3.1实操：搭建产线KPI实时仪表盘（产量趋势/良率仪表/设备状态灯/告警统计/效率对标5项KPI，含时间筛选）。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65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关键代码：KPI指标卡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c1, c2, c3, c4 = st.columns(4)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c1.metric("总产量", f"{int(df.output.sum()):,}")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c2.metric("平均良率", f"{df['yield'].mean():.1%}")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c3.metric("设备在线", f"{df.device_id.nunique()}/4")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65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关键代码：模板渲染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from jinja2 import Template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html = Template(open("report.tpl").read()).render(</a:t>
            </a: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/>
              </a:rPr>
              <a:t>    total=total, yield_=y, anomalies=alerts)</a:t>
            </a: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65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05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任务实施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工单 · 分层 · 步骤 · 避坑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65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决策：可视化框架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框架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上手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交互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0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部署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Streamlit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7" name="Rectangle 16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90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1" name="Rectangle 20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Dash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5" name="Rectangle 24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7" name="Rectangle 26"/>
          <p:cNvSpPr/>
          <p:nvPr/>
        </p:nvSpPr>
        <p:spPr>
          <a:xfrm>
            <a:off x="90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纯HTML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/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决策结论写入工单，答辩必答；实施失误回溯决策复盘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65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23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决策怎么下：方案对比三问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本课决策题：决策：可视化框架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问①可行吗——每个方案的实现路径走得通吗（技术风险）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问②值吗——开发时间/运行速度/可维护性三角权衡（工程账）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问③谁拍板——组内数据说话，理由写进工单（决策追责制）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规则：没有记录的决策=没有决策——写下来才算数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65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实施任务：工单P3.1《产线KPI实时仪表盘》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跑通starter最小仪表盘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5个KPI: 趋势/良率/状态灯/告警/对标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侧栏筛选(日期+设备)+cache_data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5KPI可用+时间筛选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联动流畅+Plotly交互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65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D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学徒 · 跟做保底层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starter跑通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streamlit run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改一个KPI数值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截图到工单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页面能开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65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C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操作员 · 基础完成层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二选一交付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跑通starter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完成5KPI版仪表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或HTML日报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仪表盘或日报达基线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65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B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组长 · 标准达成层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仪表盘+日报双交付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Streamlit五KPI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筛选联动+缓存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Jinja2+PDF日报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5KPI+四段PDF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65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分层工单 · A 层任务卡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师傅 · 进阶拓展层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目标: 钻取+定时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点击钻取明细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schedule定时生成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移动端适配检查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/>
              </a:rPr>
              <a:t>✔ 达标标准: 7指标+加载&lt;2s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/>
              </a:rPr>
              <a:t>(A层加码: 数据钻取：点击折线点弹出该时段明细表（st.data_frame联动）)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65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实施步骤与注意事项（做）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/>
              </a:rPr>
              <a:t>实施步骤</a:t>
            </a: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跑通starter最小仪表盘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0000" y="29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0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20000" y="29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5个KPI: 趋势/良率/状态灯/告警/对标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0000" y="33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3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20000" y="32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侧栏筛选(日期+设备)+cache_data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/>
              </a:rPr>
              <a:t>⚠ 注意事项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Plotly图记得st.plotly_chart(py.plotly_fig)渲染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时间筛选用st.date_input的区间值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缓存键=数据文件mtime，自动失效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65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常见错误速查（避坑清单）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交互后变慢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没缓存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@st.cache_data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Jinja2空白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变量名不匹配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对照模板逐个核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⚠ f-string遇yield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原因: 保留字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/>
              </a:rPr>
              <a:t>✔ 解决: df['yield']取列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65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ABCD四层任务总览（先看全貌再领任务）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D·学徒（≥60）：starter跑通——跟做保底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C·操作员（≥70）：二选一交付——基础完成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B·组长（≥80）：仪表盘+日报双交付——标准达成+帮带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A·师傅（≥90）：钻取+定时——进阶拓展+费曼讲解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规则：每人按工单勾选自己的层；每4周按达标情况动态升降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65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操作核对清单（做完一条勾一条）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步骤1：跑通starter最小仪表盘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步骤2：5个KPI: 趋势/良率/状态灯/告警/对标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步骤3：侧栏筛选(日期+设备)+cache_data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全部勾完→同桌互查签字→提交工单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65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提交前最后一查（90秒）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代码能从头跑到尾不报错（python xx.py再跑一遍）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输出格式符合工单样例（对齐/单位/小数位）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文件命名：学号_姓名_工单号.py（不对=扣规范分）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运行截图已贴工单过程记录栏（过程性证据）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□ conda环境正确（提示符显示(pp03）再运行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65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P3 仪表盘运行态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streamlit 本地启动无报错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5 个 KPI 卡显示数字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图表可交互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浏览器 8500 端口可访问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pic>
        <p:nvPicPr>
          <p:cNvPr id="32" name="Picture 3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2032448"/>
            <a:ext cx="7863840" cy="2372480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06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检查与评价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三层质检 · 评分 · 课后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65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过程检查（三层质检）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1  自检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对照工单checklist逐项自查并截图留证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2  互检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组间交换检查，互检表记录问题≥1条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/>
              </a:rPr>
              <a:t>3  师查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教师抽查复核，重点盯D层完成度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复盘追问：如果当初选另一个方案，结果会怎样？（决策追责）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65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p33_kpi_cockpit：本次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48 / 65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8254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825497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KPI可用+时间筛选；日报四部分完整+PDF正确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423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必做 KPI 5/5 全有值；时间筛选：同一 core.filter_records 缩到单日 2026-03-01 命中 47 行（全量 1186）；四段 生产概览 / 详细分析 / 异常识别 / 数据附表 全部见于 daily_report.html；PDF daily_report.pdf 校验通过：42190 B / 4 页，%PDF- 头与 %%EOF 尾齐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443985"/>
            <a:ext cx="11237976" cy="100787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443985"/>
            <a:ext cx="54864" cy="1007874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526281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526281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507993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联动筛选流畅；日报生成&lt;2分钟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535425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535425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91457"/>
            <a:ext cx="10671047" cy="6055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联动程序化验证（同一 core.filter_records）：单日命中 47/1186 行；仅选 DEV-01 命中 296 行、总产量 14939＜全量 60273（筛选真的驱动重算）；app.py on_select="rerun" 接线 2 处 → core.drill_rows 联动明细 30 行（回路非空）；AppTest 无头真执行 app.py 并断言切换单日后命中变小（tests/test_dashboard.py，非肉眼验收）；日报耗时档位 &lt;1s（预算 120s，判定行不含毫秒，精确秒数在 timing.txt/runtime/）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515868"/>
            <a:ext cx="11237976" cy="825497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515868"/>
            <a:ext cx="54864" cy="825497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598163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598163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579875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≥7指标+钻取交互；异常自动识别；美观度≥4/5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607308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607308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863339"/>
            <a:ext cx="10671047" cy="4231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指标实得 9 个；钻取：复放选择事件 x=['2026-03-03', '2026-03-05', '2026-03-07'] → 联动明细 30 行（上限 30）指纹 crc32=e89f637a（跨 PYTHONHASHSEED 稳定）；异常自动识别命中 357 条（temp&gt;90.0 或 vib&gt;4.5，逐条附处置建议）；美观度 5/5（≥4 达标；标题层级 1/1、单位标注 1/1、配色 1/1、图例 1/1、响应式 1/1；扣分项：无）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05373"/>
            <a:ext cx="11237976" cy="100787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05373"/>
            <a:ext cx="54864" cy="1007874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487669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487669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469381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优秀+定时自动生成(mailto/计划任务)+移动端适配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496813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496813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52845"/>
            <a:ext cx="10671047" cy="60553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继承优秀(B)：达标；定时：schedule.at=07:30 解析为每日 07:30，下次触发为真实 datetime 且晚于此刻（墙钟值写 runtime/schedule_state.txt 与 output/timing.txt，不进判定行）；计划任务 4 件产物已渲染（crontab/systemd/launchd/mailto，写 runtime/schedule/）；mailto 收件人 line-lead@example.com 且 subject/body 齐；移动端：viewport=True flex=True media=True 窄屏断点 600px（config 上限 768px）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6"/>
            <a:ext cx="11237976" cy="941831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6"/>
            <a:ext cx="54864" cy="941831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8"/>
            <a:ext cx="10908792" cy="7955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出处：工程化项目/p33_kpi_cockpit/output/report.txt 第 15 节「分层达标」——本机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工程化项目/p33_kpi_cockpit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49 / 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33_kpi_cockpit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78619" y="1792224"/>
            <a:ext cx="9231712" cy="384962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78424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p33_kpi_cockpit：分层达标 第 15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P3.1/P3.2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50 / 65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33_kpi_cockpit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265275"/>
            <a:ext cx="11237976" cy="198912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290972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pytest：270 passed in 18.75s（本机实跑，非示例）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656732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656732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739028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工程化项目/p33_kpi_cockpit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提交物与评分（工单P3.1）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提交清单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1. 程序/notebook（含运行输出）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2. 分层工单纸件（勾层+自评）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3. 决策矩阵照片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4. 过程记录/避坑笔记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命名: 学号_姓名_P3.1</a:t>
            </a: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评分构成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功能完成 40%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技术质量 25%（指标达标）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代码规范 20%（PEP 8）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工程素养 15%（留痕/协作）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/>
              </a:rPr>
              <a:t>D≥60 / C≥70 / B≥80 / A≥90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65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总结评价与课后任务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评价（10分钟）：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按D/C/B/A量表当堂评分；工单24小时内反馈评语与改进建议。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1. 完成工单P3.1《产线KPI实时仪表盘》：及格标准5个KPI+时间筛选可用；优秀标准≥7指标+钻取交互+加载&lt;2秒；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2. 完成工单P3.2《每日生产分析报告系统》：及格标准四部分完整+PDF正确；优秀标准异常自动识别+&lt;1分钟+美观度≥4/5；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/>
              </a:rPr>
              <a:t>3. 预习TCP/IP与MQTT协议基础。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/>
              </a:rPr>
              <a:t>见下次课工单任务书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52 / 65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素养目标（课程思政融入点）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责任感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工程责任：代码可维护、文档完整、测试先行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绿色计算：向量化省算力, 批量写入降开销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/>
              </a:rPr>
              <a:t>数据伦理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/>
              </a:rPr>
              <a:t>职业规划：以项目档案袋对接岗位与竞赛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53 / 65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工单评分细则（四级量表）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等级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达标线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对应要求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A·师傅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≥90分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进阶拓展完成+2分钟费曼展示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B·组长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≥80分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全功能+代码规范+帮带D/C层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C·操作员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≥70分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基础功能完成+错误速查自查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/>
              </a:rPr>
              <a:t>D·学徒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≥60分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跟做完成核心步骤+达标自评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/>
              </a:rPr>
              <a:t>功能40%+技术质量25%+代码规范20%+工程素养15%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54 / 65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高频FAQ（先自查再举手）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pandas读取大CSV慢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usecols选列+chunksize分块读，见W3微课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Modbus连接拒绝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先起plc_simulator再连5020；确认host是教师机IP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streamlit页面不刷新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改代码后浏览器右上Rerun或按R键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65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资源导航（卡住时按顺序查）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P3.1任务书——步骤/及格线/评分细则都在里面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starter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学生代码框架/——TODO注释即步骤提示，未填也能跑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软件指南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../软件操作指南/——PyCharm/Jupyter/Git/Anaconda六份图文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Jupyter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Jupyter实训/——本周notebook师生版，先跑教师版看答案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Git提交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做完按Ctrl+K提交推送——每周至少1次，工程素养分依据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65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/>
              </a:rPr>
              <a:t>07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/>
              </a:rPr>
              <a:t>拓展与自测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/>
              </a:rPr>
              <a:t>把今天的能力圈再画大一圈</a:t>
            </a: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01</a:t>
            </a: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/>
              </a:rPr>
              <a:t>06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65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产业应用案例（学这个能干什么）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真实场景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三个系统的数据格式不统一，周报要人工合并两小时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用什么解决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Pandas管道+Streamlit仪表盘，一键刷新自动出周报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本课对应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P3.1的技能点即其最小实现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延伸方向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下一步：模型预警（P6）/智能运维平台（P7选做）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65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课程思政：如盐入水（30秒一个点）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工匠精神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报错必究——每个红色报错都是产线隐患的预演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数据诚信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指标不许造假——改数字骗过测试=产线事故的起点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协作素养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ABCD轮换履职——师傅带徒弟，贡献表如实填报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职业底线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代码抄作业=岗位上的'无证驾驶'，害人害己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65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全课知识图谱回顾（一图收束）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产线驾驶舱</a:t>
            </a: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/>
              </a:rPr>
              <a:t>：5个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/>
              </a:rPr>
              <a:t>4条分支导览</a:t>
            </a: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知识回顾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Streamlit脚本式交互；sidebar筛选——应用：见工单starter与教师参考实现 · @st.cache_data缓存重计算——应用：见工单starter与教师参考实现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技能回顾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搭建5+KPI仪表盘——应用：见工单starter与教师参考实现 · 时间/设备联动筛选——应用：见工单starter与教师参考实现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易错回顾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交互后变慢 · Jinja2空白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/>
              </a:rPr>
              <a:t>交付物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/>
              </a:rPr>
              <a:t>工单P3.1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65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多解法一瞥（同一任务的不同打法）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解法A·直白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按工单步骤顺序实现——好懂好调试，D/C层路线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解法B·工程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函数封装+异常处理——可复用，B层路线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解法C·进阶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向量化/推导式/设计模式——性能优雅，A层路线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怎么选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先让它跑起来→再让它对→最后让它快（KISS原则）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65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自测答案与讲解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课前快问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Streamlit每次交互后脚本如何重跑？缓存用哪个装饰器？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排错题：出现「交互后变慢」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原因：没缓存；解决：@st.cache_data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复述题：用自己的话说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Streamlit脚本式交互；sidebar筛选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/>
              </a:rPr>
              <a:t>错题怎么办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/>
              </a:rPr>
              <a:t>回看对应知识卡+应用页，再跑一遍starter验证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65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今日一图流总结（贴脑墙上）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知识：Streamlit脚本式交互；sideb；@st.cache_data缓存重计算；st.metric指标卡(KPI)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技能：搭建5+KPI仪表盘——应用：见工单starter与教师参考实现；时间/设备联动筛选——应用：见工单starter与教师参考实现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交付：工单P3.1《产线KPI实时仪表盘》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习惯：做完就Ctrl+K提交Git——每周至少1次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明日：课前微课+导学单（下次课quiz从中出题）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65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Python程序设计（项目实战）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65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下次课预告（第6周）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三线程骨架贯通(采集/订阅/处理)——应用：见工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为什么‘共享list.append’有隐患而Queue安全？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