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8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3" r:id="rId18"/>
    <p:sldId id="311" r:id="rId63"/>
    <p:sldId id="376" r:id="rId21"/>
    <p:sldId id="377" r:id="rId22"/>
    <p:sldId id="378" r:id="rId23"/>
    <p:sldId id="379" r:id="rId24"/>
    <p:sldId id="380" r:id="rId25"/>
    <p:sldId id="321" r:id="rId73"/>
    <p:sldId id="369" r:id="rId121"/>
    <p:sldId id="370" r:id="rId15"/>
    <p:sldId id="381" r:id="rId26"/>
    <p:sldId id="371" r:id="rId16"/>
    <p:sldId id="372" r:id="rId17"/>
    <p:sldId id="340" r:id="rId92"/>
    <p:sldId id="367" r:id="rId119"/>
    <p:sldId id="368" r:id="rId120"/>
    <p:sldId id="374" r:id="rId19"/>
    <p:sldId id="375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11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2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12.xml"/><Relationship Id="rId63" Type="http://schemas.openxmlformats.org/officeDocument/2006/relationships/slide" Target="slides/slide3.xml"/><Relationship Id="rId73" Type="http://schemas.openxmlformats.org/officeDocument/2006/relationships/slide" Target="slides/slide9.xml"/><Relationship Id="rId92" Type="http://schemas.openxmlformats.org/officeDocument/2006/relationships/slide" Target="slides/slide15.xml"/><Relationship Id="rId119" Type="http://schemas.openxmlformats.org/officeDocument/2006/relationships/slide" Target="slides/slide16.xml"/><Relationship Id="rId120" Type="http://schemas.openxmlformats.org/officeDocument/2006/relationships/slide" Target="slides/slide17.xml"/><Relationship Id="rId121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开场30秒：本次课《每天早上8点的生产日报》，80分钟＝2课时×40分钟。课前已发工单+starter+微课知识卡，资讯·计划线上完成。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工单发布话术：'数字化转型办公室发来工单P3.2《每日生产分析报告系统》，及格线是四，优秀线看A层标准'——念完发starter。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项目6 | 预习知识点：matplotlib绘图(subplot/bar)；Streamlit/Plotly概览 | 课中检查知识点：5+KPI仪表盘可交互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每天早上8点的生产日报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第10次课（2课时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每天早上8点的生产日报（1）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Jinja2 HTML报表模板与CSS样式；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reportlab生成PDF（图表+图像+表格混排）；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邮件发送自动化（smtplib）；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工单P3.2实操：设计每日生产分析报告系统（概览/详细分析/异常识别/数据表四部分，生成&lt;1分钟）。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B28"/>
                </a:solidFill>
              </a:rPr>
              <a:t>本课重难点地图 · 老师划重点（动手前必看）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重点 · 必会必考（本课知识点全景）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</a:rPr>
              <a:t>◆ B01 Streamlit脚本式交互｜Streamlit=整页重放的幻灯片：每次点交互从头跑一遍脚本</a:t>
            </a:r>
          </a:p>
          <a:p>
            <a:r>
              <a:rPr sz="950" b="0">
                <a:solidFill>
                  <a:srgbClr val="2B2F36"/>
                </a:solidFill>
              </a:rPr>
              <a:t>◆ B02 cache缓存｜@st.cache_data=给函数盖'已算'章：参数不变直接取上…</a:t>
            </a:r>
          </a:p>
          <a:p>
            <a:r>
              <a:rPr sz="950" b="0">
                <a:solidFill>
                  <a:srgbClr val="2B2F36"/>
                </a:solidFill>
              </a:rPr>
              <a:t>◆ B03 st.metric指标卡｜st.metric=大字报KPI卡：数字+涨跌箭头一眼看板</a:t>
            </a:r>
          </a:p>
          <a:p>
            <a:r>
              <a:rPr sz="950" b="0">
                <a:solidFill>
                  <a:srgbClr val="2B2F36"/>
                </a:solidFill>
              </a:rPr>
              <a:t>◆ B04 Plotly交互图｜Plotly=会动会说话的图：悬停看数/框选放大/图例开关</a:t>
            </a:r>
          </a:p>
          <a:p>
            <a:r>
              <a:rPr sz="950" b="0">
                <a:solidFill>
                  <a:srgbClr val="2B2F36"/>
                </a:solidFill>
              </a:rPr>
              <a:t>◆ B05 Jinja2模板｜Jinja2=填空合同：{{变量}}挖坑，render时数据填坑</a:t>
            </a:r>
          </a:p>
          <a:p>
            <a:r>
              <a:rPr sz="950" b="0">
                <a:solidFill>
                  <a:srgbClr val="2B2F36"/>
                </a:solidFill>
              </a:rPr>
              <a:t>◆ B06 四段式日报｜四段式=新闻倒金字塔：概览→分析→异常→附表（与02课W10同口径）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难点 · 易卡壳（下一页逐个击破）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▲ 误区：用Web框架思维写全局状态——重跑虽笨但可预测，cache治重算</a:t>
            </a:r>
          </a:p>
          <a:p>
            <a:r>
              <a:rPr sz="900" b="0">
                <a:solidFill>
                  <a:srgbClr val="2B2F36"/>
                </a:solidFill>
              </a:rPr>
              <a:t>▲ 误区：数据更新了还拿旧缓存——记得clear或设TTL过期时间</a:t>
            </a:r>
          </a:p>
          <a:p>
            <a:r>
              <a:rPr sz="900" b="0">
                <a:solidFill>
                  <a:srgbClr val="2B2F36"/>
                </a:solidFill>
              </a:rPr>
              <a:t>▲ 误区：delta正负好坏想当然——停机数上升是坏事，delta_color要对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高频易错 · 动手前先记住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✗ 交互后变慢 → @st.cache_data</a:t>
            </a:r>
          </a:p>
          <a:p>
            <a:r>
              <a:rPr sz="900" b="0">
                <a:solidFill>
                  <a:srgbClr val="2B2F36"/>
                </a:solidFill>
              </a:rPr>
              <a:t>✗ Jinja2空白 → 对照模板逐个核</a:t>
            </a:r>
          </a:p>
          <a:p>
            <a:r>
              <a:rPr sz="900" b="0">
                <a:solidFill>
                  <a:srgbClr val="2B2F36"/>
                </a:solidFill>
              </a:rPr>
              <a:t>✗ f-string遇yield → df['yield']取列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达标自问 · 学没学会，问自己这四句（当堂评分同口径）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① 及格线我能过吗——四部分完整+PDF正确</a:t>
            </a:r>
          </a:p>
          <a:p>
            <a:r>
              <a:rPr sz="900" b="0">
                <a:solidFill>
                  <a:srgbClr val="2B2F36"/>
                </a:solidFill>
              </a:rPr>
              <a:t>② 优秀线我够吗——异常自动识别+&lt;1分钟+美观≥4/5</a:t>
            </a:r>
          </a:p>
          <a:p>
            <a:r>
              <a:rPr sz="900" b="0">
                <a:solidFill>
                  <a:srgbClr val="2B2F36"/>
                </a:solidFill>
              </a:rPr>
              <a:t>③ 技能点我能独立做出来吗——搭建5+KPI仪表盘；时间/设备联动筛选</a:t>
            </a:r>
          </a:p>
          <a:p>
            <a:r>
              <a:rPr sz="900" b="0">
                <a:solidFill>
                  <a:srgbClr val="2B2F36"/>
                </a:solidFill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</a:rPr>
              <a:t>素材来源：同周《第9次课-产线驾驶舱：5个KPI一…》知识卡与避坑清单（逐字摘录）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B28"/>
                </a:solidFill>
              </a:rPr>
              <a:t>难点逐个击破 · 零基础照做就能会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</a:rPr>
              <a:t>难点1：B01 Streamlit脚本式交互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</a:rPr>
              <a:t>为什么容易栽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误区：用Web框架思维写全局状态——重跑虽笨但可预测，cache治重算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</a:rPr>
              <a:t>一招破解（记住这句）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Streamlit=整页重放的幻灯片：每次点交互从头跑一遍脚本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</a:rPr>
              <a:t>动手验证（照做一遍）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零前端基础出交互页面——数据分析师的浏览器 st.title('产线KPI'); st.sidebar.selectbox('设备', devs)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</a:rPr>
              <a:t>难点2：B02 cache缓存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</a:rPr>
              <a:t>为什么容易栽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误区：数据更新了还拿旧缓存——记得clear或设TTL过期时间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</a:rPr>
              <a:t>一招破解（记住这句）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@st.cache_data=给函数盖'已算'章：参数不变直接取上次结果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</a:rPr>
              <a:t>动手验证（照做一遍）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读库/重计算函数加缓存——交互秒开 @st.cache_data def load(): return pd.read_sql(…)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</a:rPr>
              <a:t>难点3：B03 st.metric指标卡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</a:rPr>
              <a:t>为什么容易栽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误区：delta正负好坏想当然——停机数上升是坏事，delta_color要对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</a:rPr>
              <a:t>一招破解（记住这句）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st.metric=大字报KPI卡：数字+涨跌箭头一眼看板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</a:rPr>
              <a:t>动手验证（照做一遍）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KPI仪表盘的第一视觉元素——OEE/停机/产量三卡 c1.metric('OEE','87%',delta='+2%')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B28"/>
                </a:solidFill>
              </a:rPr>
              <a:t>承上启下 · 动手前避坑清单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</a:rPr>
              <a:t>✗ 交互后变慢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原因：没缓存</a:t>
            </a:r>
          </a:p>
          <a:p>
            <a:r>
              <a:rPr sz="900" b="0">
                <a:solidFill>
                  <a:srgbClr val="2B2F36"/>
                </a:solidFill>
              </a:rPr>
              <a:t>✔ 解决：@st.cache_data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</a:rPr>
              <a:t>✗ Jinja2空白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原因：变量名不匹配</a:t>
            </a:r>
          </a:p>
          <a:p>
            <a:r>
              <a:rPr sz="900" b="0">
                <a:solidFill>
                  <a:srgbClr val="2B2F36"/>
                </a:solidFill>
              </a:rPr>
              <a:t>✔ 解决：对照模板逐个核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</a:rPr>
              <a:t>✗ f-string遇yield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原因：保留字</a:t>
            </a:r>
          </a:p>
          <a:p>
            <a:r>
              <a:rPr sz="900" b="0">
                <a:solidFill>
                  <a:srgbClr val="2B2F36"/>
                </a:solidFill>
              </a:rPr>
              <a:t>✔ 解决：df['yield']取列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</a:rPr>
              <a:t>素材来源：同周《第9次课-产线驾驶舱：5个KPI一…》知识卡与避坑清单（逐字摘录）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B28"/>
                </a:solidFill>
              </a:rPr>
              <a:t>本课知识速览卡 · 边做边对照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本讲是动手冲刺课：知识点在完整讲解课已细讲——这页把它们浓缩成一张速览卡，边做边对照。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1783080"/>
            <a:ext cx="630936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1783080"/>
            <a:ext cx="630936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1819656"/>
            <a:ext cx="6089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知识点速览（逐字摘自同周完整讲解课知识卡）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2267712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</a:rPr>
              <a:t>◆ B01 Streamlit脚本式交互｜Streamlit=整页重放的幻灯片：每次点交互从头跑一遍脚本</a:t>
            </a:r>
          </a:p>
          <a:p>
            <a:r>
              <a:rPr sz="950" b="0">
                <a:solidFill>
                  <a:srgbClr val="2B2F36"/>
                </a:solidFill>
              </a:rPr>
              <a:t>◆ B02 cache缓存｜@st.cache_data=给函数盖'已算'章：参数不变直接取上次结果</a:t>
            </a:r>
          </a:p>
          <a:p>
            <a:r>
              <a:rPr sz="950" b="0">
                <a:solidFill>
                  <a:srgbClr val="2B2F36"/>
                </a:solidFill>
              </a:rPr>
              <a:t>◆ B03 st.metric指标卡｜st.metric=大字报KPI卡：数字+涨跌箭头一眼看板</a:t>
            </a:r>
          </a:p>
          <a:p>
            <a:r>
              <a:rPr sz="950" b="0">
                <a:solidFill>
                  <a:srgbClr val="2B2F36"/>
                </a:solidFill>
              </a:rPr>
              <a:t>◆ B04 Plotly交互图｜Plotly=会动会说话的图：悬停看数/框选放大/图例开关</a:t>
            </a:r>
          </a:p>
          <a:p>
            <a:r>
              <a:rPr sz="950" b="0">
                <a:solidFill>
                  <a:srgbClr val="2B2F36"/>
                </a:solidFill>
              </a:rPr>
              <a:t>◆ B05 Jinja2模板｜Jinja2=填空合同：{{变量}}挖坑，render时数据填坑</a:t>
            </a:r>
          </a:p>
          <a:p>
            <a:r>
              <a:rPr sz="950" b="0">
                <a:solidFill>
                  <a:srgbClr val="2B2F36"/>
                </a:solidFill>
              </a:rPr>
              <a:t>◆ B06 四段式日报｜四段式=新闻倒金字塔：概览→分析→异常→附表（与02课W10同口径）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1783080"/>
            <a:ext cx="4828032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03720" y="1783080"/>
            <a:ext cx="482803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13448" y="181965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本讲达标线（当堂评分同口径）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68312" y="2249424"/>
            <a:ext cx="4526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① 及格(D)：四部分完整+PDF正确</a:t>
            </a:r>
          </a:p>
          <a:p>
            <a:r>
              <a:rPr sz="900" b="0">
                <a:solidFill>
                  <a:srgbClr val="2B2F36"/>
                </a:solidFill>
              </a:rPr>
              <a:t>② 优秀(B+)：异常自动识别+&lt;1分钟+美观≥4/5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03720" y="3886200"/>
            <a:ext cx="4828032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903720" y="3886200"/>
            <a:ext cx="4828032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13448" y="392277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动手前三个提醒（踩坑点摘录）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68312" y="4352544"/>
            <a:ext cx="4526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⚠ @st.cache_data</a:t>
            </a:r>
          </a:p>
          <a:p>
            <a:r>
              <a:rPr sz="900" b="0">
                <a:solidFill>
                  <a:srgbClr val="2B2F36"/>
                </a:solidFill>
              </a:rPr>
              <a:t>⚠ 对照模板逐个核</a:t>
            </a:r>
          </a:p>
          <a:p>
            <a:r>
              <a:rPr sz="900" b="0">
                <a:solidFill>
                  <a:srgbClr val="2B2F36"/>
                </a:solidFill>
              </a:rPr>
              <a:t>⚠ df['yield']取列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</a:rPr>
              <a:t>素材来源：同周《第9次课-产线驾驶舱：5个KPI一…》知识卡与避坑清单（逐字摘录）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B28"/>
                </a:solidFill>
              </a:rPr>
              <a:t>下次课预告 · 带着问题去下一讲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带着问题去下一讲——预习任务与自测问题逐字取自课程安排，课前完成。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1920240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1920240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208483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</a:rPr>
              <a:t>主题：三线程骨架贯通(采集/订阅/处理)——应用：见工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026664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026664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191256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</a:rPr>
              <a:t>预习快问：为什么‘共享list.append’有隐患而Queue安全？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133087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133087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297679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</a:rPr>
              <a:t>课前完成：导学单 + 预习自测 + starter环境自检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239512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239512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404103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</a:rPr>
              <a:t>带着问题：来上课——Predict先于Run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实施任务：工单P3.2《每日生产分析报告系统》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Jinja2渲染HTML四段式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reportlab图文PDF(中文字体)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生成耗时记录(&lt;2min)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四部分完整+PDF正确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异常自动识别+&lt;1分钟+美观≥4/5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E54"/>
                </a:solidFill>
              </a:rPr>
              <a:t>工单实战 · 完成效果图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TARGET · 完成后长这样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B28"/>
                </a:solidFill>
              </a:rPr>
              <a:t>P3 日报自动化完成态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3000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627632"/>
            <a:ext cx="3148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E54"/>
                </a:solidFill>
              </a:rPr>
              <a:t>四个自检点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67928" y="2066543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5944" y="215798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157983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2130551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KPI 计算正确（5 指标）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7928" y="2807207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5944" y="289864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5944" y="289864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871215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B2B28"/>
                </a:solidFill>
              </a:rPr>
              <a:t>P3 日报自动化完成态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67928" y="3547871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5944" y="363931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95944" y="363931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611879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图表嵌入无乱码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67928" y="4288535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5944" y="437997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5944" y="437997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4352543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退出码 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5138928"/>
            <a:ext cx="78638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" y="5138928"/>
            <a:ext cx="54864" cy="8686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B2B28"/>
                </a:solidFill>
              </a:rPr>
              <a:t>怎么看：终端退出码 0 + 关键数字在及格线以上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541264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E6A"/>
                </a:solidFill>
              </a:rPr>
              <a:t>截图提交：运行窗口含文件名与输出，截全屏交工单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382322"/>
            <a:ext cx="7863840" cy="16727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四档逐字实测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P3.1/P3.2 p33_kpi_cockpit：本次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11 /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554480"/>
            <a:ext cx="11237976" cy="8254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554480"/>
            <a:ext cx="54864" cy="825497"/>
          </a:xfrm>
          <a:prstGeom prst="roundRect">
            <a:avLst>
              <a:gd name="adj" fmla="val 50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" y="1636776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367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18488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及格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KPI可用+时间筛选；日报四部分完整+PDF正确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31803" y="1645920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31803" y="1645920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901952"/>
            <a:ext cx="10671047" cy="4231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必做 KPI 5/5 全有值；时间筛选：同一 core.filter_records 缩到单日 2026-03-01 命中 47 行（全量 1186）；四段 生产概览 / 详细分析 / 异常识别 / 数据附表 全部见于 daily_report.html；PDF daily_report.pdf 校验通过：42190 B / 4 页，%PDF- 头与 %%EOF 尾齐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2443985"/>
            <a:ext cx="11237976" cy="100787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" y="2443985"/>
            <a:ext cx="54864" cy="1007874"/>
          </a:xfrm>
          <a:prstGeom prst="roundRect">
            <a:avLst>
              <a:gd name="adj" fmla="val 50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2526281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52628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507993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良好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联动筛选流畅；日报生成&lt;2分钟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31803" y="2535425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31803" y="2535425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791457"/>
            <a:ext cx="10671047" cy="6055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联动程序化验证（同一 core.filter_records）：单日命中 47/1186 行；仅选 DEV-01 命中 296 行、总产量 14939＜全量 60273（筛选真的驱动重算）；app.py on_select="rerun" 接线 2 处 → core.drill_rows 联动明细 30 行（回路非空）；AppTest 无头真执行 app.py 并断言切换单日后命中变小（tests/test_dashboard.py，非肉眼验收）；日报耗时档位 &lt;1s（预算 120s，判定行不含毫秒，精确秒数在 timing.txt/runtime/）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B/A 档续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P3.1/P3.2 p33_kpi_cockpit：本次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12 / 19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3515868"/>
            <a:ext cx="11237976" cy="8254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5488" y="3515868"/>
            <a:ext cx="54864" cy="825497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3598163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59816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579875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优秀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≥7指标+钻取交互；异常自动识别；美观度≥4/5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131803" y="3607308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1803" y="3607308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3863339"/>
            <a:ext cx="10671047" cy="4231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指标实得 9 个；钻取：复放选择事件 x=['2026-03-03', '2026-03-05', '2026-03-07'] → 联动明细 30 行（上限 30）指纹 crc32=e89f637a（跨 PYTHONHASHSEED 稳定）；异常自动识别命中 357 条（temp&gt;90.0 或 vib&gt;4.5，逐条附处置建议）；美观度 5/5（≥4 达标；标题层级 1/1、单位标注 1/1、配色 1/1、图例 1/1、响应式 1/1；扣分项：无）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4405373"/>
            <a:ext cx="11237976" cy="100787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5488" y="4405373"/>
            <a:ext cx="54864" cy="100787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" y="4487669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48766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469381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超优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优秀+定时自动生成(mailto/计划任务)+移动端适配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131803" y="4496813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31803" y="4496813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752845"/>
            <a:ext cx="10671047" cy="6055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继承优秀(B)：达标；定时：schedule.at=07:30 解析为每日 07:30，下次触发为真实 datetime 且晚于此刻（墙钟值写 runtime/schedule_state.txt 与 output/timing.txt，不进判定行）；计划任务 4 件产物已渲染（crontab/systemd/launchd/mailto，写 runtime/schedule/）；mailto 收件人 line-lead@example.com 且 subject/body 齐；移动端：viewport=True flex=True media=True 窄屏断点 600px（config 上限 768px）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5477256"/>
            <a:ext cx="11237976" cy="941831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5488" y="5477256"/>
            <a:ext cx="54864" cy="941831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5550408"/>
            <a:ext cx="10908792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>
                <a:solidFill>
                  <a:srgbClr val="1B2B28"/>
                </a:solidFill>
              </a:rPr>
              <a:t>出处：工程化项目/p33_kpi_cockpit/output/report.txt 第 15 节「分层达标」——本机 2026-10-28 05:08 实跑落盘，上表数字逐字摘录、未改写。</a:t>
            </a:r>
          </a:p>
          <a:p>
            <a:pPr algn="l">
              <a:lnSpc>
                <a:spcPct val="124000"/>
              </a:lnSpc>
            </a:pPr>
            <a:r>
              <a:rPr sz="900" b="0">
                <a:solidFill>
                  <a:srgbClr val="1B2B28"/>
                </a:solidFill>
              </a:rPr>
              <a:t>复现：cd 工程化项目/p33_kpi_cockpit &amp;&amp; python run.py &amp;&amp; python -m pytest -q -o addopts=''</a:t>
            </a:r>
          </a:p>
          <a:p>
            <a:pPr algn="l">
              <a:lnSpc>
                <a:spcPct val="124000"/>
              </a:lnSpc>
            </a:pPr>
            <a:r>
              <a:rPr sz="900" b="0">
                <a:solidFill>
                  <a:srgbClr val="1B2B28"/>
                </a:solidFill>
              </a:rPr>
              <a:t>口径：表中「判定」沿用报告原词——绿=达标/通过，黄=仅本节取证项通过（未取证子项在报告里逐条点名），红=未达标。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P3.1/P3.2 分层达标 · 四档逐字输出截图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13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终端窗口截图：由 report.txt 本节逐字渲染，未手工改写</a:t>
            </a:r>
          </a:p>
        </p:txBody>
      </p:sp>
      <p:pic>
        <p:nvPicPr>
          <p:cNvPr id="12" name="Picture 11" descr="p33_kpi_cockpit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619" y="1792224"/>
            <a:ext cx="9231712" cy="38496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5678424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▲ p33_kpi_cockpit：分层达标 第 15 行起的四档逐字原文（绿=达标/通过，黄=仅本节取证项，橙=未实测项）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P3.1/P3.2 · 测试全绿证据＋pytest 全量实跑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14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pytest 全量实跑：本机真实运行输出，非示例、非节选</a:t>
            </a:r>
          </a:p>
        </p:txBody>
      </p:sp>
      <p:pic>
        <p:nvPicPr>
          <p:cNvPr id="12" name="Picture 11" descr="p33_kpi_cockpit_py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265275"/>
            <a:ext cx="11237976" cy="19891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4290972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▲ pytest：270 passed in 18.75s（本机实跑，非示例）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4656732"/>
            <a:ext cx="11237976" cy="82296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" y="4656732"/>
            <a:ext cx="54864" cy="82296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4739028"/>
            <a:ext cx="1090879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>
                <a:solidFill>
                  <a:srgbClr val="1B2B28"/>
                </a:solidFill>
              </a:rPr>
              <a:t>本项目四档只有一套阶梯口径（课堂 D/C/B/A 即工单及格/良好/优秀/超优），逐字实测见上一页截图；本页补的是测试全绿证据。</a:t>
            </a:r>
          </a:p>
          <a:p>
            <a:pPr algn="l">
              <a:lnSpc>
                <a:spcPct val="126000"/>
              </a:lnSpc>
            </a:pPr>
            <a:r>
              <a:rPr sz="900" b="0">
                <a:solidFill>
                  <a:srgbClr val="1B2B28"/>
                </a:solidFill>
              </a:rPr>
              <a:t>复现：cd 工程化项目/p33_kpi_cockpit &amp;&amp; python -m pytest -q -o addopts=''</a:t>
            </a:r>
          </a:p>
          <a:p>
            <a:pPr algn="l">
              <a:lnSpc>
                <a:spcPct val="126000"/>
              </a:lnSpc>
            </a:pPr>
            <a:r>
              <a:rPr sz="900" b="0">
                <a:solidFill>
                  <a:srgbClr val="1B2B28"/>
                </a:solidFill>
              </a:rPr>
              <a:t>工单提交：截图需含终端标题栏的文件名与完整输出，退出码 0 才算全绿。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完成工单P3.1《产线KPI实时仪表盘》：及格标准5个KPI+时间筛选可用；优秀标准≥7指标+钻取交互+加载&lt;2秒；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完成工单P3.2《每日生产分析报告系统》：及格标准四部分完整+PDF正确；优秀标准异常自动识别+&lt;1分钟+美观度≥4/5；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预习TCP/IP与MQTT协议基础。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三线程骨架贯通(采集/订阅/处理)——应用：见工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为什么‘共享list.append’有隐患而Queue安全？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