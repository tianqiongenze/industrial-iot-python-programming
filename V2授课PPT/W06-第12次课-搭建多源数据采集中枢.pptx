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notesMasters/notesMaster1.xml" ContentType="application/vnd.openxmlformats-officedocument.presentationml.notesMaster+xml"/>
  <Override PartName="/ppt/notesSlides/notesSlide1.xml" ContentType="application/vnd.openxmlformats-officedocument.presentationml.notesSlide+xml"/>
  <Override PartName="/ppt/notesSlides/notesSlide105.xml" ContentType="application/vnd.openxmlformats-officedocument.presentationml.notesSlide+xml"/>
  <Override PartName="/ppt/notesSlides/notesSlide106.xml" ContentType="application/vnd.openxmlformats-officedocument.presentationml.notesSlide+xml"/>
  <Override PartName="/ppt/notesSlides/notesSlide22.xml" ContentType="application/vnd.openxmlformats-officedocument.presentationml.notesSlide+xml"/>
  <Override PartName="/ppt/notesSlides/notesSlide51.xml" ContentType="application/vnd.openxmlformats-officedocument.presentationml.notesSlide+xml"/>
  <Override PartName="/ppt/notesSlides/notesSlide59.xml" ContentType="application/vnd.openxmlformats-officedocument.presentationml.notesSlide+xml"/>
  <Override PartName="/ppt/notesSlides/notesSlide78.xml" ContentType="application/vnd.openxmlformats-officedocument.presentationml.notesSlide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.xml" ContentType="application/vnd.openxmlformats-officedocument.presentationml.slide+xml"/>
  <Override PartName="/ppt/slides/slide20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theme/theme2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374" r:id="rId22"/>
    <p:sldId id="280" r:id="rId32"/>
    <p:sldId id="311" r:id="rId63"/>
    <p:sldId id="377" r:id="rId25"/>
    <p:sldId id="378" r:id="rId26"/>
    <p:sldId id="379" r:id="rId27"/>
    <p:sldId id="319" r:id="rId71"/>
    <p:sldId id="368" r:id="rId16"/>
    <p:sldId id="369" r:id="rId17"/>
    <p:sldId id="370" r:id="rId18"/>
    <p:sldId id="367" r:id="rId119"/>
    <p:sldId id="371" r:id="rId19"/>
    <p:sldId id="372" r:id="rId20"/>
    <p:sldId id="373" r:id="rId21"/>
    <p:sldId id="338" r:id="rId90"/>
    <p:sldId id="365" r:id="rId117"/>
    <p:sldId id="366" r:id="rId118"/>
    <p:sldId id="375" r:id="rId23"/>
    <p:sldId id="376" r:id="rId24"/>
  </p:sldIdLst>
  <p:sldSz cx="12192000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notesMaster" Target="notesMasters/notesMaster1.xml"/><Relationship Id="rId16" Type="http://schemas.openxmlformats.org/officeDocument/2006/relationships/slide" Target="slides/slide6.xml"/><Relationship Id="rId17" Type="http://schemas.openxmlformats.org/officeDocument/2006/relationships/slide" Target="slides/slide7.xml"/><Relationship Id="rId18" Type="http://schemas.openxmlformats.org/officeDocument/2006/relationships/slide" Target="slides/slide8.xml"/><Relationship Id="rId19" Type="http://schemas.openxmlformats.org/officeDocument/2006/relationships/slide" Target="slides/slide10.xml"/><Relationship Id="rId20" Type="http://schemas.openxmlformats.org/officeDocument/2006/relationships/slide" Target="slides/slide11.xml"/><Relationship Id="rId21" Type="http://schemas.openxmlformats.org/officeDocument/2006/relationships/slide" Target="slides/slide12.xml"/><Relationship Id="rId22" Type="http://schemas.openxmlformats.org/officeDocument/2006/relationships/slide" Target="slides/slide2.xml"/><Relationship Id="rId23" Type="http://schemas.openxmlformats.org/officeDocument/2006/relationships/slide" Target="slides/slide16.xml"/><Relationship Id="rId24" Type="http://schemas.openxmlformats.org/officeDocument/2006/relationships/slide" Target="slides/slide17.xml"/><Relationship Id="rId25" Type="http://schemas.openxmlformats.org/officeDocument/2006/relationships/slide" Target="slides/slide18.xml"/><Relationship Id="rId26" Type="http://schemas.openxmlformats.org/officeDocument/2006/relationships/slide" Target="slides/slide19.xml"/><Relationship Id="rId27" Type="http://schemas.openxmlformats.org/officeDocument/2006/relationships/slide" Target="slides/slide20.xml"/><Relationship Id="rId32" Type="http://schemas.openxmlformats.org/officeDocument/2006/relationships/slide" Target="slides/slide3.xml"/><Relationship Id="rId63" Type="http://schemas.openxmlformats.org/officeDocument/2006/relationships/slide" Target="slides/slide4.xml"/><Relationship Id="rId71" Type="http://schemas.openxmlformats.org/officeDocument/2006/relationships/slide" Target="slides/slide5.xml"/><Relationship Id="rId90" Type="http://schemas.openxmlformats.org/officeDocument/2006/relationships/slide" Target="slides/slide13.xml"/><Relationship Id="rId117" Type="http://schemas.openxmlformats.org/officeDocument/2006/relationships/slide" Target="slides/slide14.xml"/><Relationship Id="rId118" Type="http://schemas.openxmlformats.org/officeDocument/2006/relationships/slide" Target="slides/slide15.xml"/><Relationship Id="rId119" Type="http://schemas.openxmlformats.org/officeDocument/2006/relationships/slide" Target="slides/slide9.xml"/></Relationships>
</file>

<file path=ppt/notesMasters/_rels/notes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p="http://schemas.openxmlformats.org/presentationml/2006/main" xmlns:r="http://schemas.openxmlformats.org/officeDocument/2006/relationships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0F89C1C7-3DCD-1040-A9CF-14679D8B5DDD}" type="datetimeFigureOut">
              <a:rPr lang="en-US" smtClean="0"/>
              <a:t>10/17/16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1143000" y="685800"/>
            <a:ext cx="4572000" cy="34290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BB5E49A5-4136-284D-997B-48E1D791AD67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23252185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.xml"/></Relationships>
</file>

<file path=ppt/notesSlides/_rels/notesSlide2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.xml"/></Relationships>
</file>

<file path=ppt/notesSlides/_rels/notesSlide5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.xml"/></Relationships>
</file>

<file path=ppt/notesSlides/_rels/notesSlide5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5.xml"/></Relationships>
</file>

<file path=ppt/notesSlides/_rels/notesSlide7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3.xml"/></Relationships>
</file>

<file path=ppt/notesSlides/_rels/notesSlide10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4.xml"/></Relationships>
</file>

<file path=ppt/notesSlides/_rels/notesSlide10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5.xml"/></Relationships>
</file>

<file path=ppt/notesSlides/notesSlide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开场30秒：本次课《搭建多源数据采集中枢》，80分钟＝2课时×40分钟。课前已发工单+starter+微课知识卡，资讯·计划线上完成。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情境说书（30秒，口头讲，不必逐字念）：中台试运行暴露瓶颈：三个厂区数据源并发接入互相踩踏，还常有连接闪断。吴工画出三线程架构图：'骨架给你，可靠性你来。'——工单P4.1：多源采集系统（2号PLC会随机掉线，正好实测）。</a:t>
            </a:r>
          </a:p>
          <a:p>
            <a:r>
              <a:t>讲完抛出问题：'如果是你，第一步先干什么？'——自然过渡到决策环节。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5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实施内容清单：本页条目与工单步骤一一对应，逐项过一遍即可，细节留到代码演示。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59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工单发布话术：'数字化转型办公室发来工单P4.1《多源数据采集系统》，及格线是三，优秀线看A层标准'——念完发starter。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78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教材衔接：教材：Python程序设计项目化教程（活页式）（任越美 李垒 李江岱 主编，978-7-313-30507-7）— 项目4 | 预习知识点：多线程(threading/Queue)；网络编程(socket/MQTT) | 课中检查知识点：采集率≥95%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05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下课提醒：关机→椅归位→带走工单；教师课后24h内完成反馈。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06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下次课预告：布置课前微课知识卡与导学单，形成学习闭环。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Relationship Id="rId3" Type="http://schemas.openxmlformats.org/officeDocument/2006/relationships/notesSlide" Target="../notesSlides/notesSlide1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Relationship Id="rId3" Type="http://schemas.openxmlformats.org/officeDocument/2006/relationships/notesSlide" Target="../notesSlides/notesSlide22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51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59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Relationship Id="rId3" Type="http://schemas.openxmlformats.org/officeDocument/2006/relationships/image" Target="../media/image3.png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4.png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5.png"/><Relationship Id="rId3" Type="http://schemas.openxmlformats.org/officeDocument/2006/relationships/image" Target="../media/image6.png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78.xml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05.xml"/></Relationships>
</file>

<file path=ppt/slides/_rels/slide1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06.xml"/></Relationships>
</file>

<file path=ppt/slides/_rels/slide1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1783080"/>
          </a:xfrm>
          <a:prstGeom prst="rect">
            <a:avLst/>
          </a:prstGeom>
          <a:solidFill>
            <a:srgbClr val="01032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1783080"/>
            <a:ext cx="12192000" cy="6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00000" y="250000"/>
            <a:ext cx="10792000" cy="11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2200" b="0">
                <a:solidFill>
                  <a:srgbClr val="FFFFFF"/>
                </a:solidFill>
                <a:latin typeface="微软雅黑"/>
              </a:rPr>
              <a:t>Python程序设计（项目实战）</a:t>
            </a:r>
          </a:p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300" b="0">
                <a:solidFill>
                  <a:srgbClr val="BBC6E6"/>
                </a:solidFill>
                <a:latin typeface="微软雅黑"/>
              </a:rPr>
              <a:t>◆ 重庆两江智造集团 · 数字化转型办公室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00000" y="2263140"/>
            <a:ext cx="5992000" cy="9144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3400" b="1">
                <a:solidFill>
                  <a:srgbClr val="010328"/>
                </a:solidFill>
                <a:latin typeface="微软雅黑"/>
              </a:rPr>
              <a:t>搭建多源数据采集中枢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700000" y="3771900"/>
            <a:ext cx="5992000" cy="8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800" b="0">
                <a:solidFill>
                  <a:srgbClr val="0545E8"/>
                </a:solidFill>
                <a:latin typeface="微软雅黑"/>
              </a:rPr>
              <a:t>第六周 · 第12次课（2课时 · 80分钟）</a:t>
            </a:r>
          </a:p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400" b="0">
                <a:solidFill>
                  <a:srgbClr val="44546A"/>
                </a:solidFill>
                <a:latin typeface="微软雅黑"/>
              </a:rPr>
              <a:t>双创中心302实训室  ·  理实一体  ·  配套：分层工单+starter  ·  本课主用：PyCharm CE + conda环境(pp03) + Git/GitHub（每周提交）</a:t>
            </a:r>
          </a:p>
        </p:txBody>
      </p:sp>
      <p:pic>
        <p:nvPicPr>
          <p:cNvPr id="7" name="Picture 6" descr="W6_场景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500000" y="2300000"/>
            <a:ext cx="4100000" cy="3075000"/>
          </a:xfrm>
          <a:prstGeom prst="rect">
            <a:avLst/>
          </a:prstGeom>
        </p:spPr>
      </p:pic>
      <p:sp>
        <p:nvSpPr>
          <p:cNvPr id="8" name="Rectangle 7"/>
          <p:cNvSpPr/>
          <p:nvPr/>
        </p:nvSpPr>
        <p:spPr>
          <a:xfrm>
            <a:off x="700000" y="5623560"/>
            <a:ext cx="1500000" cy="8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700000" y="5760720"/>
            <a:ext cx="10792000" cy="5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200" b="0">
                <a:solidFill>
                  <a:srgbClr val="44546A"/>
                </a:solidFill>
                <a:latin typeface="微软雅黑"/>
              </a:rPr>
              <a:t>重庆现代制造职业学院  智能控制学院 · 工业互联网应用专业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320040"/>
            <a:ext cx="11094720" cy="9144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3000" b="1"/>
              <a:t>安全与合规警示（操作前必读）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731520" y="1371600"/>
            <a:ext cx="10728960" cy="46634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000"/>
              </a:spcAft>
            </a:pPr>
            <a:r>
              <a:rPr sz="1800"/>
              <a:t>1. 上机前确认本工位电源开关与急停位置，确认设备处于安全状态。</a:t>
            </a:r>
          </a:p>
          <a:p>
            <a:pPr>
              <a:spcAft>
                <a:spcPts val="1000"/>
              </a:spcAft>
            </a:pPr>
            <a:r>
              <a:rPr sz="1800"/>
              <a:t>2. 涉及接线的操作一律先断电、后验电、再作业，禁止带电插拔。</a:t>
            </a:r>
          </a:p>
          <a:p>
            <a:pPr>
              <a:spcAft>
                <a:spcPts val="1000"/>
              </a:spcAft>
            </a:pPr>
            <a:r>
              <a:rPr sz="1800"/>
              <a:t>3. 身体任何部位不进入设备运动/散热区域，长发束起，不佩戴悬垂饰物。</a:t>
            </a:r>
          </a:p>
          <a:p>
            <a:pPr>
              <a:spcAft>
                <a:spcPts val="1000"/>
              </a:spcAft>
            </a:pPr>
            <a:r>
              <a:rPr sz="1800"/>
              <a:t>4. 调试程序前先静态检查、再低速小样本试运行，确认无异常后放大规模。</a:t>
            </a:r>
          </a:p>
          <a:p>
            <a:pPr>
              <a:spcAft>
                <a:spcPts val="1000"/>
              </a:spcAft>
            </a:pPr>
            <a:r>
              <a:rPr sz="1800"/>
              <a:t>5. 任何不确定或异常情况，立即停止操作并报告指导教师，不擅自处置。</a:t>
            </a:r>
          </a:p>
          <a:p>
            <a:r>
              <a:rPr sz="1400" b="1"/>
              <a:t>以上任一条违反，本次任务按课程标准「安全规范一票否决」条款记 0 分并中止实训。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1150000"/>
          </a:xfrm>
          <a:prstGeom prst="rect">
            <a:avLst/>
          </a:prstGeom>
          <a:solidFill>
            <a:srgbClr val="01032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1150000"/>
            <a:ext cx="2600000" cy="7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00000" y="300000"/>
            <a:ext cx="10792000" cy="7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2400" b="1">
                <a:solidFill>
                  <a:srgbClr val="FFFFFF"/>
                </a:solidFill>
                <a:latin typeface="微软雅黑"/>
              </a:rPr>
              <a:t>任务情境（集团项目案例）</a:t>
            </a:r>
          </a:p>
        </p:txBody>
      </p:sp>
      <p:sp>
        <p:nvSpPr>
          <p:cNvPr id="5" name="Rectangle 4"/>
          <p:cNvSpPr/>
          <p:nvPr/>
        </p:nvSpPr>
        <p:spPr>
          <a:xfrm>
            <a:off x="800000" y="1780000"/>
            <a:ext cx="10600000" cy="700000"/>
          </a:xfrm>
          <a:prstGeom prst="rect">
            <a:avLst/>
          </a:prstGeom>
          <a:solidFill>
            <a:srgbClr val="01032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1000000" y="1880000"/>
            <a:ext cx="10200000" cy="52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400" b="1">
                <a:solidFill>
                  <a:srgbClr val="FFFFFF"/>
                </a:solidFill>
                <a:latin typeface="微软雅黑"/>
              </a:rPr>
              <a:t>◆ 重庆两江智造集团 · 数字化转型办公室</a:t>
            </a:r>
          </a:p>
        </p:txBody>
      </p:sp>
      <p:sp>
        <p:nvSpPr>
          <p:cNvPr id="7" name="Rectangle 6"/>
          <p:cNvSpPr/>
          <p:nvPr/>
        </p:nvSpPr>
        <p:spPr>
          <a:xfrm>
            <a:off x="800000" y="2580000"/>
            <a:ext cx="6300000" cy="3600000"/>
          </a:xfrm>
          <a:prstGeom prst="rect">
            <a:avLst/>
          </a:prstGeom>
          <a:solidFill>
            <a:srgbClr val="F7F9FD"/>
          </a:solidFill>
          <a:ln>
            <a:solidFill>
              <a:srgbClr val="0545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1000000" y="2740000"/>
            <a:ext cx="5900000" cy="33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30000"/>
              </a:lnSpc>
              <a:spcAft>
                <a:spcPts val="600"/>
              </a:spcAft>
            </a:pPr>
            <a:r>
              <a:rPr sz="1450" b="0">
                <a:solidFill>
                  <a:srgbClr val="010328"/>
                </a:solidFill>
                <a:latin typeface="微软雅黑"/>
              </a:rPr>
              <a:t>中台试运行暴露瓶颈：三个厂区数据源并发接入互相踩踏，还常有连接闪断。吴工画出三线程架构图：'骨架给你，可靠性你来。'——工单P4.1：多源采集系统（2号PLC会随机掉线，正好实测）。</a:t>
            </a:r>
          </a:p>
        </p:txBody>
      </p:sp>
      <p:pic>
        <p:nvPicPr>
          <p:cNvPr id="9" name="Picture 8" descr="W6_场景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250000" y="2580000"/>
            <a:ext cx="4150000" cy="3600000"/>
          </a:xfrm>
          <a:prstGeom prst="rect">
            <a:avLst/>
          </a:prstGeom>
        </p:spPr>
      </p:pic>
      <p:sp>
        <p:nvSpPr>
          <p:cNvPr id="10" name="Rectangle 9"/>
          <p:cNvSpPr/>
          <p:nvPr/>
        </p:nvSpPr>
        <p:spPr>
          <a:xfrm>
            <a:off x="500000" y="6500000"/>
            <a:ext cx="11100000" cy="20000"/>
          </a:xfrm>
          <a:prstGeom prst="rect">
            <a:avLst/>
          </a:prstGeom>
          <a:solidFill>
            <a:srgbClr val="C9D4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500000" y="6540000"/>
            <a:ext cx="7000000" cy="3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000" b="0">
                <a:solidFill>
                  <a:srgbClr val="8A97B5"/>
                </a:solidFill>
                <a:latin typeface="微软雅黑"/>
              </a:rPr>
              <a:t>两江智造集团 · Python程序设计（项目实战）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0600000" y="6540000"/>
            <a:ext cx="1000000" cy="3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lnSpc>
                <a:spcPct val="110000"/>
              </a:lnSpc>
              <a:spcAft>
                <a:spcPts val="600"/>
              </a:spcAft>
            </a:pPr>
            <a:r>
              <a:rPr sz="1000" b="0">
                <a:solidFill>
                  <a:srgbClr val="8A97B5"/>
                </a:solidFill>
                <a:latin typeface="微软雅黑"/>
              </a:rPr>
              <a:t>3 / 20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1150000"/>
          </a:xfrm>
          <a:prstGeom prst="rect">
            <a:avLst/>
          </a:prstGeom>
          <a:solidFill>
            <a:srgbClr val="01032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1150000"/>
            <a:ext cx="2600000" cy="7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600000" y="230000"/>
            <a:ext cx="700000" cy="70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600000" y="255000"/>
            <a:ext cx="700000" cy="66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2400" b="1">
                <a:solidFill>
                  <a:srgbClr val="FFFFFF"/>
                </a:solidFill>
                <a:latin typeface="微软雅黑"/>
              </a:rPr>
              <a:t>1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500000" y="300000"/>
            <a:ext cx="9992000" cy="7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2400" b="1">
                <a:solidFill>
                  <a:srgbClr val="FFFFFF"/>
                </a:solidFill>
                <a:latin typeface="微软雅黑"/>
              </a:rPr>
              <a:t>搭建多源数据采集中枢（1）</a:t>
            </a:r>
          </a:p>
        </p:txBody>
      </p:sp>
      <p:sp>
        <p:nvSpPr>
          <p:cNvPr id="7" name="Rectangle 6"/>
          <p:cNvSpPr/>
          <p:nvPr/>
        </p:nvSpPr>
        <p:spPr>
          <a:xfrm>
            <a:off x="820000" y="2160000"/>
            <a:ext cx="120000" cy="12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1100000" y="2050000"/>
            <a:ext cx="10200000" cy="9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25000"/>
              </a:lnSpc>
              <a:spcAft>
                <a:spcPts val="600"/>
              </a:spcAft>
            </a:pPr>
            <a:r>
              <a:rPr sz="1500" b="0">
                <a:solidFill>
                  <a:srgbClr val="010328"/>
                </a:solidFill>
                <a:latin typeface="微软雅黑"/>
              </a:rPr>
              <a:t>系统架构：3个PLC模拟器→Modbus采集器→数据处理→存储，MQTT订阅云端指令；</a:t>
            </a:r>
          </a:p>
        </p:txBody>
      </p:sp>
      <p:sp>
        <p:nvSpPr>
          <p:cNvPr id="9" name="Rectangle 8"/>
          <p:cNvSpPr/>
          <p:nvPr/>
        </p:nvSpPr>
        <p:spPr>
          <a:xfrm>
            <a:off x="820000" y="3100000"/>
            <a:ext cx="120000" cy="12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1100000" y="2990000"/>
            <a:ext cx="10200000" cy="9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25000"/>
              </a:lnSpc>
              <a:spcAft>
                <a:spcPts val="600"/>
              </a:spcAft>
            </a:pPr>
            <a:r>
              <a:rPr sz="1500" b="0">
                <a:solidFill>
                  <a:srgbClr val="010328"/>
                </a:solidFill>
                <a:latin typeface="微软雅黑"/>
              </a:rPr>
              <a:t>模块设计：ModbusCollector/MQTTSubscriber/DataProcessor三类线程架构；</a:t>
            </a:r>
          </a:p>
        </p:txBody>
      </p:sp>
      <p:sp>
        <p:nvSpPr>
          <p:cNvPr id="11" name="Rectangle 10"/>
          <p:cNvSpPr/>
          <p:nvPr/>
        </p:nvSpPr>
        <p:spPr>
          <a:xfrm>
            <a:off x="820000" y="4040000"/>
            <a:ext cx="120000" cy="12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1100000" y="3930000"/>
            <a:ext cx="10200000" cy="68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25000"/>
              </a:lnSpc>
              <a:spcAft>
                <a:spcPts val="600"/>
              </a:spcAft>
            </a:pPr>
            <a:r>
              <a:rPr sz="1500" b="0">
                <a:solidFill>
                  <a:srgbClr val="010328"/>
                </a:solidFill>
                <a:latin typeface="微软雅黑"/>
              </a:rPr>
              <a:t>工程要点：连接超时重连、数据缓冲、单位转换、异常告警、批量入库；</a:t>
            </a:r>
          </a:p>
        </p:txBody>
      </p:sp>
      <p:sp>
        <p:nvSpPr>
          <p:cNvPr id="13" name="Rectangle 12"/>
          <p:cNvSpPr/>
          <p:nvPr/>
        </p:nvSpPr>
        <p:spPr>
          <a:xfrm>
            <a:off x="820000" y="4720000"/>
            <a:ext cx="120000" cy="12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1100000" y="4610000"/>
            <a:ext cx="10200000" cy="9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25000"/>
              </a:lnSpc>
              <a:spcAft>
                <a:spcPts val="600"/>
              </a:spcAft>
            </a:pPr>
            <a:r>
              <a:rPr sz="1500" b="0">
                <a:solidFill>
                  <a:srgbClr val="010328"/>
                </a:solidFill>
                <a:latin typeface="微软雅黑"/>
              </a:rPr>
              <a:t>工单P4.1实操：基于提供的三线程架构骨架（ModbusCollector/MQTTSubscriber/DataProcessor模板），聚焦协议集成与可靠性开发，完成多源工业数据采集与消息中间件系统（采集率≥95%，吞吐≥1000条/秒）。</a:t>
            </a:r>
          </a:p>
        </p:txBody>
      </p:sp>
      <p:sp>
        <p:nvSpPr>
          <p:cNvPr id="15" name="Rectangle 14"/>
          <p:cNvSpPr/>
          <p:nvPr/>
        </p:nvSpPr>
        <p:spPr>
          <a:xfrm>
            <a:off x="500000" y="6500000"/>
            <a:ext cx="11100000" cy="20000"/>
          </a:xfrm>
          <a:prstGeom prst="rect">
            <a:avLst/>
          </a:prstGeom>
          <a:solidFill>
            <a:srgbClr val="C9D4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500000" y="6540000"/>
            <a:ext cx="7000000" cy="3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000" b="0">
                <a:solidFill>
                  <a:srgbClr val="8A97B5"/>
                </a:solidFill>
                <a:latin typeface="微软雅黑"/>
              </a:rPr>
              <a:t>两江智造集团 · Python程序设计（项目实战）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10600000" y="6540000"/>
            <a:ext cx="1000000" cy="3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lnSpc>
                <a:spcPct val="110000"/>
              </a:lnSpc>
              <a:spcAft>
                <a:spcPts val="600"/>
              </a:spcAft>
            </a:pPr>
            <a:r>
              <a:rPr sz="1000" b="0">
                <a:solidFill>
                  <a:srgbClr val="8A97B5"/>
                </a:solidFill>
                <a:latin typeface="微软雅黑"/>
              </a:rPr>
              <a:t>4 / 20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1150000"/>
          </a:xfrm>
          <a:prstGeom prst="rect">
            <a:avLst/>
          </a:prstGeom>
          <a:solidFill>
            <a:srgbClr val="01032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1150000"/>
            <a:ext cx="2600000" cy="7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00000" y="300000"/>
            <a:ext cx="10792000" cy="7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2400" b="1">
                <a:solidFill>
                  <a:srgbClr val="FFFFFF"/>
                </a:solidFill>
                <a:latin typeface="微软雅黑"/>
              </a:rPr>
              <a:t>实施任务：工单P4.1《多源数据采集系统》</a:t>
            </a:r>
          </a:p>
        </p:txBody>
      </p:sp>
      <p:sp>
        <p:nvSpPr>
          <p:cNvPr id="5" name="Rectangle 4"/>
          <p:cNvSpPr/>
          <p:nvPr/>
        </p:nvSpPr>
        <p:spPr>
          <a:xfrm>
            <a:off x="800000" y="1950000"/>
            <a:ext cx="6300000" cy="3900000"/>
          </a:xfrm>
          <a:prstGeom prst="rect">
            <a:avLst/>
          </a:prstGeom>
          <a:solidFill>
            <a:srgbClr val="F3F6F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1000000" y="2100000"/>
            <a:ext cx="5900000" cy="36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30000"/>
              </a:lnSpc>
              <a:spcAft>
                <a:spcPts val="600"/>
              </a:spcAft>
            </a:pPr>
            <a:r>
              <a:rPr sz="1500" b="1">
                <a:solidFill>
                  <a:srgbClr val="0545E8"/>
                </a:solidFill>
                <a:latin typeface="微软雅黑"/>
              </a:rPr>
              <a:t>实施步骤</a:t>
            </a:r>
          </a:p>
          <a:p>
            <a:pPr algn="l">
              <a:lnSpc>
                <a:spcPct val="130000"/>
              </a:lnSpc>
              <a:spcAft>
                <a:spcPts val="600"/>
              </a:spcAft>
            </a:pPr>
            <a:r>
              <a:rPr sz="1400" b="0">
                <a:solidFill>
                  <a:srgbClr val="010328"/>
                </a:solidFill>
                <a:latin typeface="微软雅黑"/>
              </a:rPr>
              <a:t>1. MQTTSubscriber订阅device/+/status</a:t>
            </a:r>
          </a:p>
          <a:p>
            <a:pPr algn="l">
              <a:lnSpc>
                <a:spcPct val="130000"/>
              </a:lnSpc>
              <a:spcAft>
                <a:spcPts val="600"/>
              </a:spcAft>
            </a:pPr>
            <a:r>
              <a:rPr sz="1400" b="0">
                <a:solidFill>
                  <a:srgbClr val="010328"/>
                </a:solidFill>
                <a:latin typeface="微软雅黑"/>
              </a:rPr>
              <a:t>2. Processor去重+告警+SQLite批量入库</a:t>
            </a:r>
          </a:p>
          <a:p>
            <a:pPr algn="l">
              <a:lnSpc>
                <a:spcPct val="130000"/>
              </a:lnSpc>
              <a:spcAft>
                <a:spcPts val="600"/>
              </a:spcAft>
            </a:pPr>
            <a:r>
              <a:rPr sz="1400" b="0">
                <a:solidFill>
                  <a:srgbClr val="010328"/>
                </a:solidFill>
                <a:latin typeface="微软雅黑"/>
              </a:rPr>
              <a:t>3. 30秒统计输出采集率</a:t>
            </a:r>
          </a:p>
        </p:txBody>
      </p:sp>
      <p:sp>
        <p:nvSpPr>
          <p:cNvPr id="7" name="Rectangle 6"/>
          <p:cNvSpPr/>
          <p:nvPr/>
        </p:nvSpPr>
        <p:spPr>
          <a:xfrm>
            <a:off x="7400000" y="1950000"/>
            <a:ext cx="4000000" cy="1850000"/>
          </a:xfrm>
          <a:prstGeom prst="rect">
            <a:avLst/>
          </a:prstGeom>
          <a:solidFill>
            <a:srgbClr val="E8F1E8"/>
          </a:solidFill>
          <a:ln>
            <a:solidFill>
              <a:srgbClr val="0475B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7550000" y="2080000"/>
            <a:ext cx="3750000" cy="165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400" b="1">
                <a:solidFill>
                  <a:srgbClr val="0475B6"/>
                </a:solidFill>
                <a:latin typeface="微软雅黑"/>
              </a:rPr>
              <a:t>及格标准（D）</a:t>
            </a:r>
          </a:p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300" b="0">
                <a:solidFill>
                  <a:srgbClr val="010328"/>
                </a:solidFill>
                <a:latin typeface="微软雅黑"/>
              </a:rPr>
              <a:t>三源贯通+无丢失+系统文档</a:t>
            </a:r>
          </a:p>
        </p:txBody>
      </p:sp>
      <p:sp>
        <p:nvSpPr>
          <p:cNvPr id="9" name="Rectangle 8"/>
          <p:cNvSpPr/>
          <p:nvPr/>
        </p:nvSpPr>
        <p:spPr>
          <a:xfrm>
            <a:off x="7400000" y="3950000"/>
            <a:ext cx="4000000" cy="1850000"/>
          </a:xfrm>
          <a:prstGeom prst="rect">
            <a:avLst/>
          </a:prstGeom>
          <a:solidFill>
            <a:srgbClr val="FDF0E6"/>
          </a:solidFill>
          <a:ln>
            <a:solidFill>
              <a:srgbClr val="F5670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7550000" y="4080000"/>
            <a:ext cx="3750000" cy="165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400" b="1">
                <a:solidFill>
                  <a:srgbClr val="F5670F"/>
                </a:solidFill>
                <a:latin typeface="微软雅黑"/>
              </a:rPr>
              <a:t>优秀标准（B+）</a:t>
            </a:r>
          </a:p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300" b="0">
                <a:solidFill>
                  <a:srgbClr val="010328"/>
                </a:solidFill>
                <a:latin typeface="微软雅黑"/>
              </a:rPr>
              <a:t>≥99.5%+延迟&lt;100ms+线程安全设计</a:t>
            </a:r>
          </a:p>
        </p:txBody>
      </p:sp>
      <p:sp>
        <p:nvSpPr>
          <p:cNvPr id="11" name="Rectangle 10"/>
          <p:cNvSpPr/>
          <p:nvPr/>
        </p:nvSpPr>
        <p:spPr>
          <a:xfrm>
            <a:off x="500000" y="6500000"/>
            <a:ext cx="11100000" cy="20000"/>
          </a:xfrm>
          <a:prstGeom prst="rect">
            <a:avLst/>
          </a:prstGeom>
          <a:solidFill>
            <a:srgbClr val="C9D4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500000" y="6540000"/>
            <a:ext cx="7000000" cy="3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000" b="0">
                <a:solidFill>
                  <a:srgbClr val="8A97B5"/>
                </a:solidFill>
                <a:latin typeface="微软雅黑"/>
              </a:rPr>
              <a:t>两江智造集团 · Python程序设计（项目实战）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0600000" y="6540000"/>
            <a:ext cx="1000000" cy="3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lnSpc>
                <a:spcPct val="110000"/>
              </a:lnSpc>
              <a:spcAft>
                <a:spcPts val="600"/>
              </a:spcAft>
            </a:pPr>
            <a:r>
              <a:rPr sz="1000" b="0">
                <a:solidFill>
                  <a:srgbClr val="8A97B5"/>
                </a:solidFill>
                <a:latin typeface="微软雅黑"/>
              </a:rPr>
              <a:t>8 / 20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1150000"/>
          </a:xfrm>
          <a:prstGeom prst="rect">
            <a:avLst/>
          </a:prstGeom>
          <a:solidFill>
            <a:srgbClr val="01032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1150000"/>
            <a:ext cx="2600000" cy="7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00000" y="300000"/>
            <a:ext cx="10792000" cy="7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2400" b="1">
                <a:solidFill>
                  <a:srgbClr val="FFFFFF"/>
                </a:solidFill>
                <a:latin typeface="微软雅黑"/>
              </a:rPr>
              <a:t>工程化代码：可靠性抽成可测纯函数</a:t>
            </a:r>
            <a:endParaRPr sz="2400" b="1">
              <a:solidFill>
                <a:srgbClr val="FFFFFF"/>
              </a:solidFill>
              <a:latin typeface="微软雅黑" panose="020B0502040204020203" charset="-122"/>
            </a:endParaRPr>
          </a:p>
        </p:txBody>
      </p:sp>
      <p:sp>
        <p:nvSpPr>
          <p:cNvPr id="5" name="Rectangle 4"/>
          <p:cNvSpPr/>
          <p:nvPr/>
        </p:nvSpPr>
        <p:spPr>
          <a:xfrm>
            <a:off x="760000" y="1750000"/>
            <a:ext cx="10900000" cy="4600000"/>
          </a:xfrm>
          <a:prstGeom prst="rect">
            <a:avLst/>
          </a:prstGeom>
          <a:solidFill>
            <a:srgbClr val="0D112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760000" y="1750000"/>
            <a:ext cx="10900000" cy="12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1000000" y="2000000"/>
            <a:ext cx="10300000" cy="42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2000"/>
              </a:lnSpc>
              <a:spcAft>
                <a:spcPts val="0"/>
              </a:spcAft>
            </a:pPr>
            <a:r>
              <a:rPr sz="1250" b="0">
                <a:solidFill>
                  <a:srgbClr val="D6DEF6"/>
                </a:solidFill>
                <a:latin typeface="微软雅黑"/>
              </a:rPr>
              <a:t># core.py —— transport 可注入 · 零 IO 纯函数</a:t>
            </a:r>
            <a:endParaRPr sz="1250" b="0">
              <a:solidFill>
                <a:srgbClr val="D6DEF6"/>
              </a:solidFill>
              <a:latin typeface="微软雅黑" panose="020B0502040204020203" charset="-122"/>
            </a:endParaRPr>
          </a:p>
          <a:p>
            <a:r>
              <a:rPr sz="1250" b="0">
                <a:solidFill>
                  <a:srgbClr val="D6DEF6"/>
                </a:solidFill>
                <a:latin typeface="微软雅黑"/>
              </a:rPr>
              <a:t># 采集中枢: 读数 / 还原 / 对账恒等式 / 指数退避</a:t>
            </a:r>
          </a:p>
          <a:p>
            <a:r>
              <a:rPr sz="1250" b="0">
                <a:solidFill>
                  <a:srgbClr val="D6DEF6"/>
                </a:solidFill>
                <a:latin typeface="微软雅黑"/>
              </a:rPr>
              <a:t/>
            </a:r>
          </a:p>
          <a:p>
            <a:r>
              <a:rPr sz="1250" b="0">
                <a:solidFill>
                  <a:srgbClr val="D6DEF6"/>
                </a:solidFill>
                <a:latin typeface="微软雅黑"/>
              </a:rPr>
              <a:t>def read(transport, src):</a:t>
            </a:r>
          </a:p>
          <a:p>
            <a:r>
              <a:rPr sz="1250" b="0">
                <a:solidFill>
                  <a:srgbClr val="D6DEF6"/>
                </a:solidFill>
                <a:latin typeface="微软雅黑"/>
              </a:rPr>
              <a:t>    return [transport(src) for _ in range(int(src.get("n", 3)))]</a:t>
            </a:r>
          </a:p>
          <a:p>
            <a:r>
              <a:rPr sz="1250" b="0">
                <a:solidFill>
                  <a:srgbClr val="D6DEF6"/>
                </a:solidFill>
                <a:latin typeface="微软雅黑"/>
              </a:rPr>
              <a:t/>
            </a:r>
          </a:p>
          <a:p>
            <a:r>
              <a:rPr sz="1250" b="0">
                <a:solidFill>
                  <a:srgbClr val="D6DEF6"/>
                </a:solidFill>
                <a:latin typeface="微软雅黑"/>
              </a:rPr>
              <a:t>def restore(raw, scale):</a:t>
            </a:r>
          </a:p>
          <a:p>
            <a:r>
              <a:rPr sz="1250" b="0">
                <a:solidFill>
                  <a:srgbClr val="D6DEF6"/>
                </a:solidFill>
                <a:latin typeface="微软雅黑"/>
              </a:rPr>
              <a:t>    if scale &lt;= 0:</a:t>
            </a:r>
          </a:p>
          <a:p>
            <a:r>
              <a:rPr sz="1250" b="0">
                <a:solidFill>
                  <a:srgbClr val="D6DEF6"/>
                </a:solidFill>
                <a:latin typeface="微软雅黑"/>
              </a:rPr>
              <a:t>        raise ValueError("scale 必须为正")</a:t>
            </a:r>
          </a:p>
          <a:p>
            <a:r>
              <a:rPr sz="1250" b="0">
                <a:solidFill>
                  <a:srgbClr val="D6DEF6"/>
                </a:solidFill>
                <a:latin typeface="微软雅黑"/>
              </a:rPr>
              <a:t>    return [v / scale for v in raw]</a:t>
            </a:r>
          </a:p>
          <a:p>
            <a:r>
              <a:rPr sz="1250" b="0">
                <a:solidFill>
                  <a:srgbClr val="D6DEF6"/>
                </a:solidFill>
                <a:latin typeface="微软雅黑"/>
              </a:rPr>
              <a:t/>
            </a:r>
          </a:p>
          <a:p>
            <a:r>
              <a:rPr sz="1250" b="0">
                <a:solidFill>
                  <a:srgbClr val="D6DEF6"/>
                </a:solidFill>
                <a:latin typeface="微软雅黑"/>
              </a:rPr>
              <a:t>def reconcile(batches, flat):</a:t>
            </a:r>
          </a:p>
          <a:p>
            <a:r>
              <a:rPr sz="1250" b="0">
                <a:solidFill>
                  <a:srgbClr val="D6DEF6"/>
                </a:solidFill>
                <a:latin typeface="微软雅黑"/>
              </a:rPr>
              <a:t>    sb = sum(sum(b) for b in batches)</a:t>
            </a:r>
          </a:p>
          <a:p>
            <a:r>
              <a:rPr sz="1250" b="0">
                <a:solidFill>
                  <a:srgbClr val="D6DEF6"/>
                </a:solidFill>
                <a:latin typeface="微软雅黑"/>
              </a:rPr>
              <a:t>    sf = sum(flat)</a:t>
            </a:r>
          </a:p>
          <a:p>
            <a:r>
              <a:rPr sz="1250" b="0">
                <a:solidFill>
                  <a:srgbClr val="D6DEF6"/>
                </a:solidFill>
                <a:latin typeface="微软雅黑"/>
              </a:rPr>
              <a:t>    return abs(sb - sf) &lt; 1e-9, round(sb - sf, 9)</a:t>
            </a:r>
          </a:p>
          <a:p>
            <a:r>
              <a:rPr sz="1250" b="0">
                <a:solidFill>
                  <a:srgbClr val="D6DEF6"/>
                </a:solidFill>
                <a:latin typeface="微软雅黑"/>
              </a:rPr>
              <a:t/>
            </a:r>
          </a:p>
          <a:p>
            <a:r>
              <a:rPr sz="1250" b="0">
                <a:solidFill>
                  <a:srgbClr val="D6DEF6"/>
                </a:solidFill>
                <a:latin typeface="微软雅黑"/>
              </a:rPr>
              <a:t>def sleep_with(base, attempt):</a:t>
            </a:r>
          </a:p>
          <a:p>
            <a:r>
              <a:rPr sz="1250" b="0">
                <a:solidFill>
                  <a:srgbClr val="D6DEF6"/>
                </a:solidFill>
                <a:latin typeface="微软雅黑"/>
              </a:rPr>
              <a:t>    return base * (2 ** attempt)</a:t>
            </a:r>
          </a:p>
        </p:txBody>
      </p:sp>
      <p:sp>
        <p:nvSpPr>
          <p:cNvPr id="8" name="Rectangle 7"/>
          <p:cNvSpPr/>
          <p:nvPr/>
        </p:nvSpPr>
        <p:spPr>
          <a:xfrm>
            <a:off x="500000" y="6500000"/>
            <a:ext cx="11100000" cy="20000"/>
          </a:xfrm>
          <a:prstGeom prst="rect">
            <a:avLst/>
          </a:prstGeom>
          <a:solidFill>
            <a:srgbClr val="C9D4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500000" y="6540000"/>
            <a:ext cx="7000000" cy="3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000" b="0">
                <a:solidFill>
                  <a:srgbClr val="8A97B5"/>
                </a:solidFill>
                <a:latin typeface="微软雅黑" panose="020B0502040204020203" charset="-122"/>
              </a:rPr>
              <a:t>两江智造集团 · Python程序设计（项目实战）</a:t>
            </a:r>
            <a:endParaRPr sz="1000" b="0">
              <a:solidFill>
                <a:srgbClr val="8A97B5"/>
              </a:solidFill>
              <a:latin typeface="微软雅黑" panose="020B0502040204020203" charset="-122"/>
            </a:endParaRPr>
          </a:p>
        </p:txBody>
      </p:sp>
      <p:sp>
        <p:nvSpPr>
          <p:cNvPr id="10" name="TextBox 9"/>
          <p:cNvSpPr txBox="1"/>
          <p:nvPr/>
        </p:nvSpPr>
        <p:spPr>
          <a:xfrm>
            <a:off x="10600000" y="6540000"/>
            <a:ext cx="1000000" cy="3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lnSpc>
                <a:spcPct val="110000"/>
              </a:lnSpc>
              <a:spcAft>
                <a:spcPts val="600"/>
              </a:spcAft>
            </a:pPr>
            <a:r>
              <a:rPr sz="1000" b="0">
                <a:solidFill>
                  <a:srgbClr val="8A97B5"/>
                </a:solidFill>
                <a:latin typeface="微软雅黑"/>
              </a:rPr>
              <a:t>9 / 20</a:t>
            </a:r>
            <a:endParaRPr sz="1000" b="0">
              <a:solidFill>
                <a:srgbClr val="8A97B5"/>
              </a:solidFill>
              <a:latin typeface="微软雅黑" panose="020B0502040204020203" charset="-122"/>
            </a:endParaRP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1150000"/>
          </a:xfrm>
          <a:prstGeom prst="rect">
            <a:avLst/>
          </a:prstGeom>
          <a:solidFill>
            <a:srgbClr val="01032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1150000"/>
            <a:ext cx="2600000" cy="7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00000" y="300000"/>
            <a:ext cx="10792000" cy="7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2400" b="1">
                <a:solidFill>
                  <a:srgbClr val="FFFFFF"/>
                </a:solidFill>
                <a:latin typeface="微软雅黑"/>
              </a:rPr>
              <a:t>工程化设计：规则外置 —— 改配置不改代码</a:t>
            </a:r>
            <a:endParaRPr sz="2400" b="1">
              <a:solidFill>
                <a:srgbClr val="FFFFFF"/>
              </a:solidFill>
              <a:latin typeface="微软雅黑" panose="020B0502040204020203" charset="-122"/>
            </a:endParaRPr>
          </a:p>
        </p:txBody>
      </p:sp>
      <p:sp>
        <p:nvSpPr>
          <p:cNvPr id="5" name="Rectangle 4"/>
          <p:cNvSpPr/>
          <p:nvPr/>
        </p:nvSpPr>
        <p:spPr>
          <a:xfrm>
            <a:off x="760000" y="1750000"/>
            <a:ext cx="10900000" cy="700000"/>
          </a:xfrm>
          <a:prstGeom prst="rect">
            <a:avLst/>
          </a:prstGeom>
          <a:solidFill>
            <a:srgbClr val="01032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1000000" y="1830000"/>
            <a:ext cx="10300000" cy="54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2000" b="1">
                <a:solidFill>
                  <a:srgbClr val="FFFFFF"/>
                </a:solidFill>
                <a:latin typeface="微软雅黑"/>
              </a:rPr>
              <a:t>B侧 · 第三种代码形态 · 企业级分层</a:t>
            </a:r>
            <a:endParaRPr sz="2000" b="1">
              <a:solidFill>
                <a:srgbClr val="FFFFFF"/>
              </a:solidFill>
              <a:latin typeface="微软雅黑" panose="020B0502040204020203" charset="-122"/>
            </a:endParaRPr>
          </a:p>
        </p:txBody>
      </p:sp>
      <p:sp>
        <p:nvSpPr>
          <p:cNvPr id="7" name="Rectangle 6"/>
          <p:cNvSpPr/>
          <p:nvPr/>
        </p:nvSpPr>
        <p:spPr>
          <a:xfrm>
            <a:off x="760000" y="2650000"/>
            <a:ext cx="5300000" cy="1500000"/>
          </a:xfrm>
          <a:prstGeom prst="rect">
            <a:avLst/>
          </a:prstGeom>
          <a:solidFill>
            <a:srgbClr val="F3F6FD"/>
          </a:solidFill>
          <a:ln>
            <a:solidFill>
              <a:srgbClr val="0545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ectangle 7"/>
          <p:cNvSpPr/>
          <p:nvPr/>
        </p:nvSpPr>
        <p:spPr>
          <a:xfrm>
            <a:off x="760000" y="2650000"/>
            <a:ext cx="120000" cy="1500000"/>
          </a:xfrm>
          <a:prstGeom prst="rect">
            <a:avLst/>
          </a:prstGeom>
          <a:solidFill>
            <a:srgbClr val="0545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1000000" y="2750000"/>
            <a:ext cx="1600000" cy="3600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400" b="1">
                <a:solidFill>
                  <a:srgbClr val="0545E8"/>
                </a:solidFill>
                <a:latin typeface="微软雅黑"/>
              </a:rPr>
              <a:t>◆ 为什么外置</a:t>
            </a:r>
            <a:endParaRPr sz="1400" b="1">
              <a:solidFill>
                <a:srgbClr val="0545E8"/>
              </a:solidFill>
              <a:latin typeface="微软雅黑" panose="020B0502040204020203" charset="-122"/>
            </a:endParaRPr>
          </a:p>
        </p:txBody>
      </p:sp>
      <p:sp>
        <p:nvSpPr>
          <p:cNvPr id="10" name="TextBox 9"/>
          <p:cNvSpPr txBox="1"/>
          <p:nvPr/>
        </p:nvSpPr>
        <p:spPr>
          <a:xfrm>
            <a:off x="1000000" y="3170000"/>
            <a:ext cx="4800000" cy="9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30000"/>
              </a:lnSpc>
              <a:spcAft>
                <a:spcPts val="600"/>
              </a:spcAft>
            </a:pPr>
            <a:r>
              <a:rPr sz="1300" b="0">
                <a:solidFill>
                  <a:srgbClr val="010328"/>
                </a:solidFill>
                <a:latin typeface="微软雅黑"/>
              </a:rPr>
              <a:t>阈值/批量/轮次/数据源全在 config/rules.yaml——业务规则与代码分离，改一处不动逻辑</a:t>
            </a:r>
            <a:endParaRPr sz="1300" b="0">
              <a:solidFill>
                <a:srgbClr val="010328"/>
              </a:solidFill>
              <a:latin typeface="微软雅黑" panose="020B0502040204020203" charset="-122"/>
            </a:endParaRPr>
          </a:p>
        </p:txBody>
      </p:sp>
      <p:sp>
        <p:nvSpPr>
          <p:cNvPr id="11" name="Rectangle 10"/>
          <p:cNvSpPr/>
          <p:nvPr/>
        </p:nvSpPr>
        <p:spPr>
          <a:xfrm>
            <a:off x="760000" y="4300000"/>
            <a:ext cx="5300000" cy="1500000"/>
          </a:xfrm>
          <a:prstGeom prst="rect">
            <a:avLst/>
          </a:prstGeom>
          <a:solidFill>
            <a:srgbClr val="F3F6FD"/>
          </a:solidFill>
          <a:ln>
            <a:solidFill>
              <a:srgbClr val="0475B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Rectangle 11"/>
          <p:cNvSpPr/>
          <p:nvPr/>
        </p:nvSpPr>
        <p:spPr>
          <a:xfrm>
            <a:off x="760000" y="4300000"/>
            <a:ext cx="120000" cy="1500000"/>
          </a:xfrm>
          <a:prstGeom prst="rect">
            <a:avLst/>
          </a:prstGeom>
          <a:solidFill>
            <a:srgbClr val="0475B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1000000" y="4400000"/>
            <a:ext cx="1600000" cy="3600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400" b="1">
                <a:solidFill>
                  <a:srgbClr val="0475B6"/>
                </a:solidFill>
                <a:latin typeface="微软雅黑"/>
              </a:rPr>
              <a:t>◆ 收益</a:t>
            </a:r>
            <a:endParaRPr sz="1400" b="1">
              <a:solidFill>
                <a:srgbClr val="0475B6"/>
              </a:solidFill>
              <a:latin typeface="微软雅黑" panose="020B0502040204020203" charset="-122"/>
            </a:endParaRPr>
          </a:p>
        </p:txBody>
      </p:sp>
      <p:sp>
        <p:nvSpPr>
          <p:cNvPr id="14" name="TextBox 13"/>
          <p:cNvSpPr txBox="1"/>
          <p:nvPr/>
        </p:nvSpPr>
        <p:spPr>
          <a:xfrm>
            <a:off x="1000000" y="4820000"/>
            <a:ext cx="4800000" cy="9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30000"/>
              </a:lnSpc>
              <a:spcAft>
                <a:spcPts val="600"/>
              </a:spcAft>
            </a:pPr>
            <a:r>
              <a:rPr sz="1300" b="0">
                <a:solidFill>
                  <a:srgbClr val="010328"/>
                </a:solidFill>
                <a:latin typeface="微软雅黑"/>
              </a:rPr>
              <a:t>二次运行结果一致(种子固定)；配置修改不需重编译/重分发——现场调参即改即用</a:t>
            </a:r>
            <a:endParaRPr sz="1300" b="0">
              <a:solidFill>
                <a:srgbClr val="010328"/>
              </a:solidFill>
              <a:latin typeface="微软雅黑" panose="020B0502040204020203" charset="-122"/>
            </a:endParaRPr>
          </a:p>
        </p:txBody>
      </p:sp>
      <p:sp>
        <p:nvSpPr>
          <p:cNvPr id="15" name="Rectangle 14"/>
          <p:cNvSpPr/>
          <p:nvPr/>
        </p:nvSpPr>
        <p:spPr>
          <a:xfrm>
            <a:off x="6300000" y="2650000"/>
            <a:ext cx="5360000" cy="1500000"/>
          </a:xfrm>
          <a:prstGeom prst="rect">
            <a:avLst/>
          </a:prstGeom>
          <a:solidFill>
            <a:srgbClr val="0D112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Rectangle 15"/>
          <p:cNvSpPr/>
          <p:nvPr/>
        </p:nvSpPr>
        <p:spPr>
          <a:xfrm>
            <a:off x="6300000" y="2650000"/>
            <a:ext cx="5360000" cy="12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6600000" y="2930000"/>
            <a:ext cx="4800000" cy="11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25000"/>
              </a:lnSpc>
              <a:spcAft>
                <a:spcPts val="600"/>
              </a:spcAft>
            </a:pPr>
            <a:r>
              <a:rPr sz="1150" b="0">
                <a:solidFill>
                  <a:srgbClr val="D6DEF6"/>
                </a:solidFill>
                <a:latin typeface="微软雅黑"/>
              </a:rPr>
              <a:t>warn:80  danger:95  batch:3  rounds:4</a:t>
            </a:r>
            <a:endParaRPr sz="1150" b="0">
              <a:solidFill>
                <a:srgbClr val="D6DEF6"/>
              </a:solidFill>
              <a:latin typeface="微软雅黑" panose="020B0502040204020203" charset="-122"/>
            </a:endParaRPr>
          </a:p>
          <a:p>
            <a:r>
              <a:rPr sz="1150" b="0">
                <a:solidFill>
                  <a:srgbClr val="D6DEF6"/>
                </a:solidFill>
                <a:latin typeface="微软雅黑"/>
              </a:rPr>
              <a:t>backoff:0.01  unit:'c'</a:t>
            </a:r>
          </a:p>
          <a:p>
            <a:r>
              <a:rPr sz="1150" b="0">
                <a:solidFill>
                  <a:srgbClr val="D6DEF6"/>
                </a:solidFill>
                <a:latin typeface="微软雅黑"/>
              </a:rPr>
              <a:t>sources:  PLC1:5020 scale=10</a:t>
            </a:r>
          </a:p>
          <a:p>
            <a:r>
              <a:rPr sz="1150" b="0">
                <a:solidFill>
                  <a:srgbClr val="D6DEF6"/>
                </a:solidFill>
                <a:latin typeface="微软雅黑"/>
              </a:rPr>
              <a:t>          PLC2:5021 scale=1</a:t>
            </a:r>
          </a:p>
        </p:txBody>
      </p:sp>
      <p:sp>
        <p:nvSpPr>
          <p:cNvPr id="18" name="Rectangle 17"/>
          <p:cNvSpPr/>
          <p:nvPr/>
        </p:nvSpPr>
        <p:spPr>
          <a:xfrm>
            <a:off x="6300000" y="4300000"/>
            <a:ext cx="5360000" cy="1500000"/>
          </a:xfrm>
          <a:prstGeom prst="rect">
            <a:avLst/>
          </a:prstGeom>
          <a:solidFill>
            <a:srgbClr val="FFFFFF"/>
          </a:solidFill>
          <a:ln>
            <a:solidFill>
              <a:srgbClr val="F5670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6600000" y="4400000"/>
            <a:ext cx="2000000" cy="3600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400" b="1">
                <a:solidFill>
                  <a:srgbClr val="F5670F"/>
                </a:solidFill>
                <a:latin typeface="微软雅黑"/>
              </a:rPr>
              <a:t>◆ 设计要点</a:t>
            </a:r>
            <a:endParaRPr sz="1400" b="1">
              <a:solidFill>
                <a:srgbClr val="F5670F"/>
              </a:solidFill>
              <a:latin typeface="微软雅黑" panose="020B0502040204020203" charset="-122"/>
            </a:endParaRPr>
          </a:p>
        </p:txBody>
      </p:sp>
      <p:sp>
        <p:nvSpPr>
          <p:cNvPr id="20" name="TextBox 19"/>
          <p:cNvSpPr txBox="1"/>
          <p:nvPr/>
        </p:nvSpPr>
        <p:spPr>
          <a:xfrm>
            <a:off x="6600000" y="4820000"/>
            <a:ext cx="4800000" cy="9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30000"/>
              </a:lnSpc>
              <a:spcAft>
                <a:spcPts val="600"/>
              </a:spcAft>
            </a:pPr>
            <a:r>
              <a:rPr sz="1300" b="0">
                <a:solidFill>
                  <a:srgbClr val="010328"/>
                </a:solidFill>
                <a:latin typeface="微软雅黑"/>
              </a:rPr>
              <a:t>config.py 用 YAML 加载 + yaml_lite 兜底；非法阈值(顺序颠倒)启动即校验并拒绝</a:t>
            </a:r>
            <a:endParaRPr sz="1300" b="0">
              <a:solidFill>
                <a:srgbClr val="FF0000"/>
              </a:solidFill>
              <a:latin typeface="微软雅黑" panose="020B0502040204020203" charset="-122"/>
            </a:endParaRPr>
          </a:p>
        </p:txBody>
      </p:sp>
      <p:sp>
        <p:nvSpPr>
          <p:cNvPr id="21" name="Rectangle 20"/>
          <p:cNvSpPr/>
          <p:nvPr/>
        </p:nvSpPr>
        <p:spPr>
          <a:xfrm>
            <a:off x="500000" y="6500000"/>
            <a:ext cx="11100000" cy="20000"/>
          </a:xfrm>
          <a:prstGeom prst="rect">
            <a:avLst/>
          </a:prstGeom>
          <a:solidFill>
            <a:srgbClr val="C9D4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500000" y="6540000"/>
            <a:ext cx="7000000" cy="3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000" b="0">
                <a:solidFill>
                  <a:srgbClr val="8A97B5"/>
                </a:solidFill>
                <a:latin typeface="微软雅黑" panose="020B0502040204020203" charset="-122"/>
              </a:rPr>
              <a:t>两江智造集团 · Python程序设计（项目实战）</a:t>
            </a:r>
            <a:endParaRPr sz="1000" b="0">
              <a:solidFill>
                <a:srgbClr val="8A97B5"/>
              </a:solidFill>
              <a:latin typeface="微软雅黑" panose="020B0502040204020203" charset="-122"/>
            </a:endParaRPr>
          </a:p>
        </p:txBody>
      </p:sp>
      <p:sp>
        <p:nvSpPr>
          <p:cNvPr id="23" name="TextBox 22"/>
          <p:cNvSpPr txBox="1"/>
          <p:nvPr/>
        </p:nvSpPr>
        <p:spPr>
          <a:xfrm>
            <a:off x="10600000" y="6540000"/>
            <a:ext cx="1000000" cy="3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lnSpc>
                <a:spcPct val="110000"/>
              </a:lnSpc>
              <a:spcAft>
                <a:spcPts val="600"/>
              </a:spcAft>
            </a:pPr>
            <a:r>
              <a:rPr sz="1000" b="0">
                <a:solidFill>
                  <a:srgbClr val="8A97B5"/>
                </a:solidFill>
                <a:latin typeface="微软雅黑"/>
              </a:rPr>
              <a:t>10 / 20</a:t>
            </a:r>
            <a:endParaRPr sz="1000" b="0">
              <a:solidFill>
                <a:srgbClr val="8A97B5"/>
              </a:solidFill>
              <a:latin typeface="微软雅黑" panose="020B0502040204020203" charset="-122"/>
            </a:endParaRP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1150000"/>
          </a:xfrm>
          <a:prstGeom prst="rect">
            <a:avLst/>
          </a:prstGeom>
          <a:solidFill>
            <a:srgbClr val="01032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1150000"/>
            <a:ext cx="2600000" cy="7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00000" y="300000"/>
            <a:ext cx="10792000" cy="7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2400" b="1">
                <a:solidFill>
                  <a:srgbClr val="FFFFFF"/>
                </a:solidFill>
                <a:latin typeface="微软雅黑"/>
              </a:rPr>
              <a:t>工程化测试：单测怎么证可靠（GB/T 15532）</a:t>
            </a:r>
            <a:endParaRPr sz="2400" b="1">
              <a:solidFill>
                <a:srgbClr val="FFFFFF"/>
              </a:solidFill>
              <a:latin typeface="微软雅黑" panose="020B0502040204020203" charset="-122"/>
            </a:endParaRPr>
          </a:p>
        </p:txBody>
      </p:sp>
      <p:sp>
        <p:nvSpPr>
          <p:cNvPr id="5" name="Rectangle 4"/>
          <p:cNvSpPr/>
          <p:nvPr/>
        </p:nvSpPr>
        <p:spPr>
          <a:xfrm>
            <a:off x="760000" y="1750000"/>
            <a:ext cx="10900000" cy="700000"/>
          </a:xfrm>
          <a:prstGeom prst="rect">
            <a:avLst/>
          </a:prstGeom>
          <a:solidFill>
            <a:srgbClr val="01032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1000000" y="1830000"/>
            <a:ext cx="10300000" cy="54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2000" b="1">
                <a:solidFill>
                  <a:srgbClr val="FFFFFF"/>
                </a:solidFill>
                <a:latin typeface="微软雅黑"/>
              </a:rPr>
              <a:t>测试计划与报告 · pytest 三层策略</a:t>
            </a:r>
            <a:endParaRPr sz="2000" b="1">
              <a:solidFill>
                <a:srgbClr val="FFFFFF"/>
              </a:solidFill>
              <a:latin typeface="微软雅黑" panose="020B0502040204020203" charset="-122"/>
            </a:endParaRPr>
          </a:p>
        </p:txBody>
      </p:sp>
      <p:sp>
        <p:nvSpPr>
          <p:cNvPr id="7" name="Rectangle 6"/>
          <p:cNvSpPr/>
          <p:nvPr/>
        </p:nvSpPr>
        <p:spPr>
          <a:xfrm>
            <a:off x="760000" y="2650000"/>
            <a:ext cx="5300000" cy="1500000"/>
          </a:xfrm>
          <a:prstGeom prst="rect">
            <a:avLst/>
          </a:prstGeom>
          <a:solidFill>
            <a:srgbClr val="F3F6FD"/>
          </a:solidFill>
          <a:ln>
            <a:solidFill>
              <a:srgbClr val="0545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ectangle 7"/>
          <p:cNvSpPr/>
          <p:nvPr/>
        </p:nvSpPr>
        <p:spPr>
          <a:xfrm>
            <a:off x="760000" y="2650000"/>
            <a:ext cx="120000" cy="1500000"/>
          </a:xfrm>
          <a:prstGeom prst="rect">
            <a:avLst/>
          </a:prstGeom>
          <a:solidFill>
            <a:srgbClr val="0545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1000000" y="2750000"/>
            <a:ext cx="1600000" cy="3600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400" b="1">
                <a:solidFill>
                  <a:srgbClr val="0545E8"/>
                </a:solidFill>
                <a:latin typeface="微软雅黑"/>
              </a:rPr>
              <a:t>◆ 纯函数单测</a:t>
            </a:r>
            <a:endParaRPr sz="1400" b="1">
              <a:solidFill>
                <a:srgbClr val="0545E8"/>
              </a:solidFill>
              <a:latin typeface="微软雅黑" panose="020B0502040204020203" charset="-122"/>
            </a:endParaRPr>
          </a:p>
        </p:txBody>
      </p:sp>
      <p:sp>
        <p:nvSpPr>
          <p:cNvPr id="10" name="TextBox 9"/>
          <p:cNvSpPr txBox="1"/>
          <p:nvPr/>
        </p:nvSpPr>
        <p:spPr>
          <a:xfrm>
            <a:off x="1000000" y="3170000"/>
            <a:ext cx="4800000" cy="9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30000"/>
              </a:lnSpc>
              <a:spcAft>
                <a:spcPts val="600"/>
              </a:spcAft>
            </a:pPr>
            <a:r>
              <a:rPr sz="1300" b="0">
                <a:solidFill>
                  <a:srgbClr val="010328"/>
                </a:solidFill>
                <a:latin typeface="微软雅黑"/>
              </a:rPr>
              <a:t>复现: python -m pytest -q ｜ 用例≥6 全绿</a:t>
            </a:r>
            <a:endParaRPr sz="1300" b="0">
              <a:solidFill>
                <a:srgbClr val="010328"/>
              </a:solidFill>
              <a:latin typeface="微软雅黑" panose="020B0502040204020203" charset="-122"/>
            </a:endParaRPr>
          </a:p>
          <a:p>
            <a:r>
              <a:rPr sz="1300" b="0">
                <a:solidFill>
                  <a:srgbClr val="010328"/>
                </a:solidFill>
                <a:latin typeface="微软雅黑"/>
              </a:rPr>
              <a:t>按 正常/边界/异常 三档覆盖——可靠性是被测出来的，不是写在注释里</a:t>
            </a:r>
          </a:p>
        </p:txBody>
      </p:sp>
      <p:sp>
        <p:nvSpPr>
          <p:cNvPr id="11" name="Rectangle 10"/>
          <p:cNvSpPr/>
          <p:nvPr/>
        </p:nvSpPr>
        <p:spPr>
          <a:xfrm>
            <a:off x="760000" y="4300000"/>
            <a:ext cx="5300000" cy="1500000"/>
          </a:xfrm>
          <a:prstGeom prst="rect">
            <a:avLst/>
          </a:prstGeom>
          <a:solidFill>
            <a:srgbClr val="F3F6FD"/>
          </a:solidFill>
          <a:ln>
            <a:solidFill>
              <a:srgbClr val="0475B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Rectangle 11"/>
          <p:cNvSpPr/>
          <p:nvPr/>
        </p:nvSpPr>
        <p:spPr>
          <a:xfrm>
            <a:off x="760000" y="4300000"/>
            <a:ext cx="120000" cy="1500000"/>
          </a:xfrm>
          <a:prstGeom prst="rect">
            <a:avLst/>
          </a:prstGeom>
          <a:solidFill>
            <a:srgbClr val="0475B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1000000" y="4400000"/>
            <a:ext cx="1600000" cy="3600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400" b="1">
                <a:solidFill>
                  <a:srgbClr val="0475B6"/>
                </a:solidFill>
                <a:latin typeface="微软雅黑"/>
              </a:rPr>
              <a:t>◆ 用例清单</a:t>
            </a:r>
            <a:endParaRPr sz="1400" b="1">
              <a:solidFill>
                <a:srgbClr val="0475B6"/>
              </a:solidFill>
              <a:latin typeface="微软雅黑" panose="020B0502040204020203" charset="-122"/>
            </a:endParaRPr>
          </a:p>
        </p:txBody>
      </p:sp>
      <p:sp>
        <p:nvSpPr>
          <p:cNvPr id="14" name="TextBox 13"/>
          <p:cNvSpPr txBox="1"/>
          <p:nvPr/>
        </p:nvSpPr>
        <p:spPr>
          <a:xfrm>
            <a:off x="1000000" y="4820000"/>
            <a:ext cx="4800000" cy="9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30000"/>
              </a:lnSpc>
              <a:spcAft>
                <a:spcPts val="600"/>
              </a:spcAft>
            </a:pPr>
            <a:r>
              <a:rPr sz="1300" b="0">
                <a:solidFill>
                  <a:srgbClr val="010328"/>
                </a:solidFill>
                <a:latin typeface="微软雅黑"/>
              </a:rPr>
              <a:t>TC-01 还原: 250/scale=10 → 25.0</a:t>
            </a:r>
            <a:endParaRPr sz="1300" b="0">
              <a:solidFill>
                <a:srgbClr val="010328"/>
              </a:solidFill>
              <a:latin typeface="微软雅黑" panose="020B0502040204020203" charset="-122"/>
            </a:endParaRPr>
          </a:p>
          <a:p>
            <a:r>
              <a:rPr sz="1300" b="0">
                <a:solidFill>
                  <a:srgbClr val="010328"/>
                </a:solidFill>
                <a:latin typeface="微软雅黑"/>
              </a:rPr>
              <a:t>TC-02/03 对账: 一致→True / 不一致→False</a:t>
            </a:r>
          </a:p>
          <a:p>
            <a:r>
              <a:rPr sz="1300" b="0">
                <a:solidFill>
                  <a:srgbClr val="010328"/>
                </a:solidFill>
                <a:latin typeface="微软雅黑"/>
              </a:rPr>
              <a:t>TC-04 异常: scale&lt;=0 → ValueError</a:t>
            </a:r>
          </a:p>
        </p:txBody>
      </p:sp>
      <p:sp>
        <p:nvSpPr>
          <p:cNvPr id="15" name="Rectangle 14"/>
          <p:cNvSpPr/>
          <p:nvPr/>
        </p:nvSpPr>
        <p:spPr>
          <a:xfrm>
            <a:off x="6300000" y="2650000"/>
            <a:ext cx="5360000" cy="1500000"/>
          </a:xfrm>
          <a:prstGeom prst="rect">
            <a:avLst/>
          </a:prstGeom>
          <a:solidFill>
            <a:srgbClr val="0D112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Rectangle 15"/>
          <p:cNvSpPr/>
          <p:nvPr/>
        </p:nvSpPr>
        <p:spPr>
          <a:xfrm>
            <a:off x="6300000" y="2650000"/>
            <a:ext cx="5360000" cy="12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6600000" y="2930000"/>
            <a:ext cx="4800000" cy="11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25000"/>
              </a:lnSpc>
              <a:spcAft>
                <a:spcPts val="600"/>
              </a:spcAft>
            </a:pPr>
            <a:r>
              <a:rPr sz="1150" b="0">
                <a:solidFill>
                  <a:srgbClr val="D6DEF6"/>
                </a:solidFill>
                <a:latin typeface="微软雅黑"/>
              </a:rPr>
              <a:t># core 零 IO 纯函数，transport 可注入</a:t>
            </a:r>
            <a:endParaRPr sz="1150" b="0">
              <a:solidFill>
                <a:srgbClr val="D6DEF6"/>
              </a:solidFill>
              <a:latin typeface="微软雅黑" panose="020B0502040204020203" charset="-122"/>
            </a:endParaRPr>
          </a:p>
          <a:p>
            <a:r>
              <a:rPr sz="1150" b="0">
                <a:solidFill>
                  <a:srgbClr val="D6DEF6"/>
                </a:solidFill>
                <a:latin typeface="微软雅黑"/>
              </a:rPr>
              <a:t>#   → 单测不用连真PLC，确定性可复现</a:t>
            </a:r>
          </a:p>
          <a:p>
            <a:r>
              <a:rPr sz="1150" b="0">
                <a:solidFill>
                  <a:srgbClr val="D6DEF6"/>
                </a:solidFill>
                <a:latin typeface="微软雅黑"/>
              </a:rPr>
              <a:t># test_core.py / test_config.py</a:t>
            </a:r>
          </a:p>
          <a:p>
            <a:r>
              <a:rPr sz="1150" b="0">
                <a:solidFill>
                  <a:srgbClr val="D6DEF6"/>
                </a:solidFill>
                <a:latin typeface="微软雅黑"/>
              </a:rPr>
              <a:t>#   正常 / 边界 / 异常 三档</a:t>
            </a:r>
          </a:p>
        </p:txBody>
      </p:sp>
      <p:sp>
        <p:nvSpPr>
          <p:cNvPr id="18" name="Rectangle 17"/>
          <p:cNvSpPr/>
          <p:nvPr/>
        </p:nvSpPr>
        <p:spPr>
          <a:xfrm>
            <a:off x="6300000" y="4300000"/>
            <a:ext cx="5360000" cy="1500000"/>
          </a:xfrm>
          <a:prstGeom prst="rect">
            <a:avLst/>
          </a:prstGeom>
          <a:solidFill>
            <a:srgbClr val="FFFFFF"/>
          </a:solidFill>
          <a:ln>
            <a:solidFill>
              <a:srgbClr val="F5670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6600000" y="4400000"/>
            <a:ext cx="2000000" cy="3600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400" b="1">
                <a:solidFill>
                  <a:srgbClr val="F5670F"/>
                </a:solidFill>
                <a:latin typeface="微软雅黑"/>
              </a:rPr>
              <a:t>◆ GB/T 15532 三层</a:t>
            </a:r>
            <a:endParaRPr sz="1400" b="1">
              <a:solidFill>
                <a:srgbClr val="F5670F"/>
              </a:solidFill>
              <a:latin typeface="微软雅黑" panose="020B0502040204020203" charset="-122"/>
            </a:endParaRPr>
          </a:p>
        </p:txBody>
      </p:sp>
      <p:sp>
        <p:nvSpPr>
          <p:cNvPr id="20" name="TextBox 19"/>
          <p:cNvSpPr txBox="1"/>
          <p:nvPr/>
        </p:nvSpPr>
        <p:spPr>
          <a:xfrm>
            <a:off x="6600000" y="4820000"/>
            <a:ext cx="4800000" cy="9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30000"/>
              </a:lnSpc>
              <a:spcAft>
                <a:spcPts val="600"/>
              </a:spcAft>
            </a:pPr>
            <a:r>
              <a:rPr sz="1300" b="0">
                <a:solidFill>
                  <a:srgbClr val="010328"/>
                </a:solidFill>
                <a:latin typeface="微软雅黑"/>
              </a:rPr>
              <a:t>单元(纯函数) / 集成(pipeline端到端) / 回归(pytest -q 全量)</a:t>
            </a:r>
            <a:endParaRPr sz="1300" b="0">
              <a:solidFill>
                <a:srgbClr val="FF0000"/>
              </a:solidFill>
              <a:latin typeface="微软雅黑" panose="020B0502040204020203" charset="-122"/>
            </a:endParaRPr>
          </a:p>
          <a:p>
            <a:r>
              <a:rPr sz="1300" b="0">
                <a:solidFill>
                  <a:srgbClr val="010328"/>
                </a:solidFill>
                <a:latin typeface="微软雅黑"/>
              </a:rPr>
              <a:t>缺陷记录: 本轮无遗留；退出码 0</a:t>
            </a:r>
          </a:p>
        </p:txBody>
      </p:sp>
      <p:sp>
        <p:nvSpPr>
          <p:cNvPr id="21" name="Rectangle 20"/>
          <p:cNvSpPr/>
          <p:nvPr/>
        </p:nvSpPr>
        <p:spPr>
          <a:xfrm>
            <a:off x="500000" y="6500000"/>
            <a:ext cx="11100000" cy="20000"/>
          </a:xfrm>
          <a:prstGeom prst="rect">
            <a:avLst/>
          </a:prstGeom>
          <a:solidFill>
            <a:srgbClr val="C9D4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500000" y="6540000"/>
            <a:ext cx="7000000" cy="3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000" b="0">
                <a:solidFill>
                  <a:srgbClr val="8A97B5"/>
                </a:solidFill>
                <a:latin typeface="微软雅黑" panose="020B0502040204020203" charset="-122"/>
              </a:rPr>
              <a:t>两江智造集团 · Python程序设计（项目实战）</a:t>
            </a:r>
            <a:endParaRPr sz="1000" b="0">
              <a:solidFill>
                <a:srgbClr val="8A97B5"/>
              </a:solidFill>
              <a:latin typeface="微软雅黑" panose="020B0502040204020203" charset="-122"/>
            </a:endParaRPr>
          </a:p>
        </p:txBody>
      </p:sp>
      <p:sp>
        <p:nvSpPr>
          <p:cNvPr id="23" name="TextBox 22"/>
          <p:cNvSpPr txBox="1"/>
          <p:nvPr/>
        </p:nvSpPr>
        <p:spPr>
          <a:xfrm>
            <a:off x="10600000" y="6540000"/>
            <a:ext cx="1000000" cy="3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lnSpc>
                <a:spcPct val="110000"/>
              </a:lnSpc>
              <a:spcAft>
                <a:spcPts val="600"/>
              </a:spcAft>
            </a:pPr>
            <a:r>
              <a:rPr sz="1000" b="0">
                <a:solidFill>
                  <a:srgbClr val="8A97B5"/>
                </a:solidFill>
                <a:latin typeface="微软雅黑"/>
              </a:rPr>
              <a:t>11 / 20</a:t>
            </a:r>
            <a:endParaRPr sz="1000" b="0">
              <a:solidFill>
                <a:srgbClr val="8A97B5"/>
              </a:solidFill>
              <a:latin typeface="微软雅黑" panose="020B0502040204020203" charset="-122"/>
            </a:endParaRP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ounded Rectangle 1"/>
          <p:cNvSpPr/>
          <p:nvPr/>
        </p:nvSpPr>
        <p:spPr>
          <a:xfrm>
            <a:off x="0" y="0"/>
            <a:ext cx="12192000" cy="68580"/>
          </a:xfrm>
          <a:prstGeom prst="roundRect">
            <a:avLst>
              <a:gd name="adj" fmla="val 5000"/>
            </a:avLst>
          </a:prstGeom>
          <a:solidFill>
            <a:srgbClr val="0B5E5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75488" y="146304"/>
            <a:ext cx="7315200" cy="29260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100" b="1">
                <a:solidFill>
                  <a:srgbClr val="0B5E54"/>
                </a:solidFill>
              </a:rPr>
              <a:t>工单实战 · 完成效果图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475488" y="475488"/>
            <a:ext cx="3108960" cy="310896"/>
          </a:xfrm>
          <a:prstGeom prst="roundRect">
            <a:avLst>
              <a:gd name="adj" fmla="val 50000"/>
            </a:avLst>
          </a:prstGeom>
          <a:solidFill>
            <a:srgbClr val="C9A22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475488" y="475488"/>
            <a:ext cx="3108960" cy="310896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/>
            <a:r>
              <a:rPr sz="1050" b="1">
                <a:solidFill>
                  <a:srgbClr val="FFFFFF"/>
                </a:solidFill>
              </a:rPr>
              <a:t>TARGET · 完成后长这样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75488" y="859536"/>
            <a:ext cx="11241024" cy="5029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2200" b="1">
                <a:solidFill>
                  <a:srgbClr val="1B2B28"/>
                </a:solidFill>
              </a:rPr>
              <a:t>P4.1 采集中枢完成态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475488" y="1389888"/>
            <a:ext cx="1234440" cy="30000"/>
          </a:xfrm>
          <a:prstGeom prst="roundRect">
            <a:avLst>
              <a:gd name="adj" fmla="val 5000"/>
            </a:avLst>
          </a:prstGeom>
          <a:solidFill>
            <a:srgbClr val="C9A22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8567928" y="1627632"/>
            <a:ext cx="3148584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300" b="1">
                <a:solidFill>
                  <a:srgbClr val="0B5E54"/>
                </a:solidFill>
              </a:rPr>
              <a:t>四个自检点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8567928" y="2066543"/>
            <a:ext cx="3148584" cy="658368"/>
          </a:xfrm>
          <a:prstGeom prst="roundRect">
            <a:avLst>
              <a:gd name="adj" fmla="val 10000"/>
            </a:avLst>
          </a:prstGeom>
          <a:solidFill>
            <a:srgbClr val="E4F1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Rounded Rectangle 10"/>
          <p:cNvSpPr/>
          <p:nvPr/>
        </p:nvSpPr>
        <p:spPr>
          <a:xfrm>
            <a:off x="8695944" y="2157983"/>
            <a:ext cx="274320" cy="274320"/>
          </a:xfrm>
          <a:prstGeom prst="roundRect">
            <a:avLst>
              <a:gd name="adj" fmla="val 50000"/>
            </a:avLst>
          </a:prstGeom>
          <a:solidFill>
            <a:srgbClr val="C9A22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8695944" y="2157983"/>
            <a:ext cx="274320" cy="27432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/>
            <a:r>
              <a:rPr sz="1000" b="1">
                <a:solidFill>
                  <a:srgbClr val="FFFFFF"/>
                </a:solidFill>
              </a:rPr>
              <a:t>1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9079992" y="2130551"/>
            <a:ext cx="2471928" cy="5486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1050" b="0">
                <a:solidFill>
                  <a:srgbClr val="1B2B28"/>
                </a:solidFill>
              </a:rPr>
              <a:t>三源并发采集正常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8567928" y="2807207"/>
            <a:ext cx="3148584" cy="658368"/>
          </a:xfrm>
          <a:prstGeom prst="roundRect">
            <a:avLst>
              <a:gd name="adj" fmla="val 10000"/>
            </a:avLst>
          </a:prstGeom>
          <a:solidFill>
            <a:srgbClr val="E4F1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Rounded Rectangle 14"/>
          <p:cNvSpPr/>
          <p:nvPr/>
        </p:nvSpPr>
        <p:spPr>
          <a:xfrm>
            <a:off x="8695944" y="2898647"/>
            <a:ext cx="274320" cy="274320"/>
          </a:xfrm>
          <a:prstGeom prst="roundRect">
            <a:avLst>
              <a:gd name="adj" fmla="val 50000"/>
            </a:avLst>
          </a:prstGeom>
          <a:solidFill>
            <a:srgbClr val="C9A22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8695944" y="2898647"/>
            <a:ext cx="274320" cy="27432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/>
            <a:r>
              <a:rPr sz="1000" b="1">
                <a:solidFill>
                  <a:srgbClr val="FFFFFF"/>
                </a:solidFill>
              </a:rPr>
              <a:t>2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9079992" y="2871215"/>
            <a:ext cx="2471928" cy="5486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1050" b="0">
                <a:solidFill>
                  <a:srgbClr val="1B2B28"/>
                </a:solidFill>
              </a:rPr>
              <a:t>对账公式恒等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8567928" y="3547871"/>
            <a:ext cx="3148584" cy="658368"/>
          </a:xfrm>
          <a:prstGeom prst="roundRect">
            <a:avLst>
              <a:gd name="adj" fmla="val 10000"/>
            </a:avLst>
          </a:prstGeom>
          <a:solidFill>
            <a:srgbClr val="E4F1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Rounded Rectangle 18"/>
          <p:cNvSpPr/>
          <p:nvPr/>
        </p:nvSpPr>
        <p:spPr>
          <a:xfrm>
            <a:off x="8695944" y="3639311"/>
            <a:ext cx="274320" cy="274320"/>
          </a:xfrm>
          <a:prstGeom prst="roundRect">
            <a:avLst>
              <a:gd name="adj" fmla="val 50000"/>
            </a:avLst>
          </a:prstGeom>
          <a:solidFill>
            <a:srgbClr val="C9A22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8695944" y="3639311"/>
            <a:ext cx="274320" cy="27432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/>
            <a:r>
              <a:rPr sz="1000" b="1">
                <a:solidFill>
                  <a:srgbClr val="FFFFFF"/>
                </a:solidFill>
              </a:rPr>
              <a:t>3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9079992" y="3611879"/>
            <a:ext cx="2471928" cy="5486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1050" b="0">
                <a:solidFill>
                  <a:srgbClr val="1B2B28"/>
                </a:solidFill>
              </a:rPr>
              <a:t>断线重连+退避生效</a:t>
            </a:r>
          </a:p>
        </p:txBody>
      </p:sp>
      <p:sp>
        <p:nvSpPr>
          <p:cNvPr id="22" name="Rounded Rectangle 21"/>
          <p:cNvSpPr/>
          <p:nvPr/>
        </p:nvSpPr>
        <p:spPr>
          <a:xfrm>
            <a:off x="8567928" y="4288535"/>
            <a:ext cx="3148584" cy="658368"/>
          </a:xfrm>
          <a:prstGeom prst="roundRect">
            <a:avLst>
              <a:gd name="adj" fmla="val 10000"/>
            </a:avLst>
          </a:prstGeom>
          <a:solidFill>
            <a:srgbClr val="E4F1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Rounded Rectangle 22"/>
          <p:cNvSpPr/>
          <p:nvPr/>
        </p:nvSpPr>
        <p:spPr>
          <a:xfrm>
            <a:off x="8695944" y="4379975"/>
            <a:ext cx="274320" cy="274320"/>
          </a:xfrm>
          <a:prstGeom prst="roundRect">
            <a:avLst>
              <a:gd name="adj" fmla="val 50000"/>
            </a:avLst>
          </a:prstGeom>
          <a:solidFill>
            <a:srgbClr val="C9A22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8695944" y="4379975"/>
            <a:ext cx="274320" cy="27432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/>
            <a:r>
              <a:rPr sz="1000" b="1">
                <a:solidFill>
                  <a:srgbClr val="FFFFFF"/>
                </a:solidFill>
              </a:rPr>
              <a:t>4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9079992" y="4352543"/>
            <a:ext cx="2471928" cy="5486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1050" b="0">
                <a:solidFill>
                  <a:srgbClr val="1B2B28"/>
                </a:solidFill>
              </a:rPr>
              <a:t>SQLite 落库无缺口</a:t>
            </a:r>
          </a:p>
        </p:txBody>
      </p:sp>
      <p:sp>
        <p:nvSpPr>
          <p:cNvPr id="26" name="Rounded Rectangle 25"/>
          <p:cNvSpPr/>
          <p:nvPr/>
        </p:nvSpPr>
        <p:spPr>
          <a:xfrm>
            <a:off x="475488" y="5138928"/>
            <a:ext cx="7863840" cy="86868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Rounded Rectangle 26"/>
          <p:cNvSpPr/>
          <p:nvPr/>
        </p:nvSpPr>
        <p:spPr>
          <a:xfrm>
            <a:off x="475488" y="5138928"/>
            <a:ext cx="54864" cy="868680"/>
          </a:xfrm>
          <a:prstGeom prst="roundRect">
            <a:avLst>
              <a:gd name="adj" fmla="val 5000"/>
            </a:avLst>
          </a:prstGeom>
          <a:solidFill>
            <a:srgbClr val="0B5E5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TextBox 27"/>
          <p:cNvSpPr txBox="1"/>
          <p:nvPr/>
        </p:nvSpPr>
        <p:spPr>
          <a:xfrm>
            <a:off x="658368" y="5212080"/>
            <a:ext cx="7498079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150" b="1">
                <a:solidFill>
                  <a:srgbClr val="1B2B28"/>
                </a:solidFill>
              </a:rPr>
              <a:t>怎么看：终端退出码 0 + 关键数字在及格线以上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658368" y="5541264"/>
            <a:ext cx="7498079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050" b="0">
                <a:solidFill>
                  <a:srgbClr val="5C6E6A"/>
                </a:solidFill>
              </a:rPr>
              <a:t>截图提交：运行窗口含文件名与输出，截全屏交工单</a:t>
            </a:r>
          </a:p>
        </p:txBody>
      </p:sp>
      <p:sp>
        <p:nvSpPr>
          <p:cNvPr id="30" name="Rounded Rectangle 29"/>
          <p:cNvSpPr/>
          <p:nvPr/>
        </p:nvSpPr>
        <p:spPr>
          <a:xfrm>
            <a:off x="475488" y="6419088"/>
            <a:ext cx="11241024" cy="9000"/>
          </a:xfrm>
          <a:prstGeom prst="roundRect">
            <a:avLst>
              <a:gd name="adj" fmla="val 5000"/>
            </a:avLst>
          </a:prstGeom>
          <a:solidFill>
            <a:srgbClr val="E4F1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" name="TextBox 30"/>
          <p:cNvSpPr txBox="1"/>
          <p:nvPr/>
        </p:nvSpPr>
        <p:spPr>
          <a:xfrm>
            <a:off x="475488" y="6455664"/>
            <a:ext cx="7315200" cy="29260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900" b="0">
                <a:solidFill>
                  <a:srgbClr val="5C6E6A"/>
                </a:solidFill>
              </a:rPr>
              <a:t>两江智造集团 · Python程序设计（项目实战）</a:t>
            </a:r>
          </a:p>
        </p:txBody>
      </p:sp>
      <p:pic>
        <p:nvPicPr>
          <p:cNvPr id="32" name="Picture 31" descr="image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75488" y="2382322"/>
            <a:ext cx="7863840" cy="1672732"/>
          </a:xfrm>
          <a:prstGeom prst="rect">
            <a:avLst/>
          </a:prstGeom>
        </p:spPr>
      </p:pic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ounded Rectangle 1"/>
          <p:cNvSpPr/>
          <p:nvPr/>
        </p:nvSpPr>
        <p:spPr>
          <a:xfrm>
            <a:off x="0" y="0"/>
            <a:ext cx="12191695" cy="64008"/>
          </a:xfrm>
          <a:prstGeom prst="roundRect">
            <a:avLst>
              <a:gd name="adj" fmla="val 50000"/>
            </a:avLst>
          </a:prstGeom>
          <a:solidFill>
            <a:srgbClr val="0B5E5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75488" y="146304"/>
            <a:ext cx="8229600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4000"/>
              </a:lnSpc>
            </a:pPr>
            <a:r>
              <a:rPr sz="1100" b="1">
                <a:solidFill>
                  <a:srgbClr val="0B5E54"/>
                </a:solidFill>
              </a:rPr>
              <a:t>工单实战 · 本次实跑结果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475488" y="475488"/>
            <a:ext cx="1881187" cy="310896"/>
          </a:xfrm>
          <a:prstGeom prst="roundRect">
            <a:avLst>
              <a:gd name="adj" fmla="val 50000"/>
            </a:avLst>
          </a:prstGeom>
          <a:solidFill>
            <a:srgbClr val="C9A22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475488" y="475488"/>
            <a:ext cx="1881187" cy="31089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14000"/>
              </a:lnSpc>
            </a:pPr>
            <a:r>
              <a:rPr sz="1050" b="1">
                <a:solidFill>
                  <a:srgbClr val="FFFFFF"/>
                </a:solidFill>
              </a:rPr>
              <a:t>REAL RUN · 四档逐字实测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75488" y="859536"/>
            <a:ext cx="11237976" cy="5029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4000"/>
              </a:lnSpc>
            </a:pPr>
            <a:r>
              <a:rPr sz="2200" b="1">
                <a:solidFill>
                  <a:srgbClr val="1B2B28"/>
                </a:solidFill>
              </a:rPr>
              <a:t>P4.1 p41_collector_hub：本次 D/C/B/A 四档实测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475488" y="1389888"/>
            <a:ext cx="1234440" cy="27432"/>
          </a:xfrm>
          <a:prstGeom prst="roundRect">
            <a:avLst>
              <a:gd name="adj" fmla="val 50000"/>
            </a:avLst>
          </a:prstGeom>
          <a:solidFill>
            <a:srgbClr val="C9A22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ounded Rectangle 7"/>
          <p:cNvSpPr/>
          <p:nvPr/>
        </p:nvSpPr>
        <p:spPr>
          <a:xfrm>
            <a:off x="475488" y="6419088"/>
            <a:ext cx="11237976" cy="10972"/>
          </a:xfrm>
          <a:prstGeom prst="roundRect">
            <a:avLst>
              <a:gd name="adj" fmla="val 50000"/>
            </a:avLst>
          </a:prstGeom>
          <a:solidFill>
            <a:srgbClr val="E4F1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475488" y="6455664"/>
            <a:ext cx="7315200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4000"/>
              </a:lnSpc>
            </a:pPr>
            <a:r>
              <a:rPr sz="900" b="0">
                <a:solidFill>
                  <a:srgbClr val="5C6E6A"/>
                </a:solidFill>
              </a:rPr>
              <a:t>两江智造集团 · Python程序设计（项目实战）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0597896" y="6537960"/>
            <a:ext cx="996696" cy="30175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14000"/>
              </a:lnSpc>
            </a:pPr>
            <a:r>
              <a:rPr sz="1000" b="0">
                <a:solidFill>
                  <a:srgbClr val="8A97B5"/>
                </a:solidFill>
              </a:rPr>
              <a:t>13 / 20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475488" y="1554480"/>
            <a:ext cx="11237976" cy="916686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9525">
            <a:solidFill>
              <a:srgbClr val="E4F1E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Rounded Rectangle 11"/>
          <p:cNvSpPr/>
          <p:nvPr/>
        </p:nvSpPr>
        <p:spPr>
          <a:xfrm>
            <a:off x="475488" y="1554480"/>
            <a:ext cx="54864" cy="916686"/>
          </a:xfrm>
          <a:prstGeom prst="roundRect">
            <a:avLst>
              <a:gd name="adj" fmla="val 50000"/>
            </a:avLst>
          </a:prstGeom>
          <a:solidFill>
            <a:srgbClr val="5C6E6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Rounded Rectangle 12"/>
          <p:cNvSpPr/>
          <p:nvPr/>
        </p:nvSpPr>
        <p:spPr>
          <a:xfrm>
            <a:off x="621792" y="1636776"/>
            <a:ext cx="237744" cy="237744"/>
          </a:xfrm>
          <a:prstGeom prst="roundRect">
            <a:avLst>
              <a:gd name="adj" fmla="val 28000"/>
            </a:avLst>
          </a:prstGeom>
          <a:solidFill>
            <a:srgbClr val="5C6E6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621792" y="1636776"/>
            <a:ext cx="237744" cy="23774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14000"/>
              </a:lnSpc>
            </a:pPr>
            <a:r>
              <a:rPr sz="1000" b="1">
                <a:solidFill>
                  <a:srgbClr val="FFFFFF"/>
                </a:solidFill>
              </a:rPr>
              <a:t>D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932688" y="1618488"/>
            <a:ext cx="8778240" cy="27432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14000"/>
              </a:lnSpc>
            </a:pPr>
            <a:r>
              <a:rPr sz="1050" b="1">
                <a:solidFill>
                  <a:srgbClr val="1B2B28"/>
                </a:solidFill>
              </a:rPr>
              <a:t>及格</a:t>
            </a:r>
            <a:r>
              <a:rPr sz="850" b="0">
                <a:solidFill>
                  <a:srgbClr val="5C6E6A"/>
                </a:solidFill>
              </a:rPr>
              <a:t>   验收口径：</a:t>
            </a:r>
            <a:r>
              <a:rPr sz="850" b="0">
                <a:solidFill>
                  <a:srgbClr val="5C6E6A"/>
                </a:solidFill>
              </a:rPr>
              <a:t>三源数据贯通；采集率&gt;95%；无数据丢失；系统文档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11131803" y="1645920"/>
            <a:ext cx="453644" cy="237744"/>
          </a:xfrm>
          <a:prstGeom prst="roundRect">
            <a:avLst>
              <a:gd name="adj" fmla="val 50000"/>
            </a:avLst>
          </a:prstGeom>
          <a:solidFill>
            <a:srgbClr val="0B5E5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11131803" y="1645920"/>
            <a:ext cx="453644" cy="23774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14000"/>
              </a:lnSpc>
            </a:pPr>
            <a:r>
              <a:rPr sz="850" b="1">
                <a:solidFill>
                  <a:srgbClr val="FFFFFF"/>
                </a:solidFill>
              </a:rPr>
              <a:t>达标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932688" y="1901952"/>
            <a:ext cx="10671047" cy="51435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4000"/>
              </a:lnSpc>
            </a:pPr>
            <a:r>
              <a:rPr sz="950" b="0">
                <a:solidFill>
                  <a:srgbClr val="1B2B28"/>
                </a:solidFill>
              </a:rPr>
              <a:t>3/3 源各有成功读数｜默认链路采集率 97.22%（工单线 &gt;95.00%）｜重连上限抬到 4 次的零丢弃链路: 成功 36 丢弃 0｜成功+丢弃=计划恒等 通过｜docs/ 有效过程文档 8 篇（≥8 且每篇 &gt;200B）</a:t>
            </a:r>
          </a:p>
        </p:txBody>
      </p:sp>
      <p:sp>
        <p:nvSpPr>
          <p:cNvPr id="19" name="Rounded Rectangle 18"/>
          <p:cNvSpPr/>
          <p:nvPr/>
        </p:nvSpPr>
        <p:spPr>
          <a:xfrm>
            <a:off x="475488" y="2535174"/>
            <a:ext cx="11237976" cy="916686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9525">
            <a:solidFill>
              <a:srgbClr val="E4F1E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Rounded Rectangle 19"/>
          <p:cNvSpPr/>
          <p:nvPr/>
        </p:nvSpPr>
        <p:spPr>
          <a:xfrm>
            <a:off x="475488" y="2535174"/>
            <a:ext cx="54864" cy="916686"/>
          </a:xfrm>
          <a:prstGeom prst="roundRect">
            <a:avLst>
              <a:gd name="adj" fmla="val 50000"/>
            </a:avLst>
          </a:prstGeom>
          <a:solidFill>
            <a:srgbClr val="157A6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Rounded Rectangle 20"/>
          <p:cNvSpPr/>
          <p:nvPr/>
        </p:nvSpPr>
        <p:spPr>
          <a:xfrm>
            <a:off x="621792" y="2617470"/>
            <a:ext cx="237744" cy="237744"/>
          </a:xfrm>
          <a:prstGeom prst="roundRect">
            <a:avLst>
              <a:gd name="adj" fmla="val 28000"/>
            </a:avLst>
          </a:prstGeom>
          <a:solidFill>
            <a:srgbClr val="157A6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621792" y="2617470"/>
            <a:ext cx="237744" cy="23774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14000"/>
              </a:lnSpc>
            </a:pPr>
            <a:r>
              <a:rPr sz="1000" b="1">
                <a:solidFill>
                  <a:srgbClr val="FFFFFF"/>
                </a:solidFill>
              </a:rPr>
              <a:t>C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932688" y="2599182"/>
            <a:ext cx="8778240" cy="27432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14000"/>
              </a:lnSpc>
            </a:pPr>
            <a:r>
              <a:rPr sz="1050" b="1">
                <a:solidFill>
                  <a:srgbClr val="1B2B28"/>
                </a:solidFill>
              </a:rPr>
              <a:t>良好</a:t>
            </a:r>
            <a:r>
              <a:rPr sz="850" b="0">
                <a:solidFill>
                  <a:srgbClr val="5C6E6A"/>
                </a:solidFill>
              </a:rPr>
              <a:t>   验收口径：</a:t>
            </a:r>
            <a:r>
              <a:rPr sz="850" b="0">
                <a:solidFill>
                  <a:srgbClr val="5C6E6A"/>
                </a:solidFill>
              </a:rPr>
              <a:t>断线重连实测通过；统计输出准确</a:t>
            </a:r>
          </a:p>
        </p:txBody>
      </p:sp>
      <p:sp>
        <p:nvSpPr>
          <p:cNvPr id="24" name="Rounded Rectangle 23"/>
          <p:cNvSpPr/>
          <p:nvPr/>
        </p:nvSpPr>
        <p:spPr>
          <a:xfrm>
            <a:off x="11131803" y="2626614"/>
            <a:ext cx="453644" cy="237744"/>
          </a:xfrm>
          <a:prstGeom prst="roundRect">
            <a:avLst>
              <a:gd name="adj" fmla="val 50000"/>
            </a:avLst>
          </a:prstGeom>
          <a:solidFill>
            <a:srgbClr val="0B5E5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11131803" y="2626614"/>
            <a:ext cx="453644" cy="23774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14000"/>
              </a:lnSpc>
            </a:pPr>
            <a:r>
              <a:rPr sz="850" b="1">
                <a:solidFill>
                  <a:srgbClr val="FFFFFF"/>
                </a:solidFill>
              </a:rPr>
              <a:t>达标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932688" y="2882646"/>
            <a:ext cx="10671047" cy="51435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4000"/>
              </a:lnSpc>
            </a:pPr>
            <a:r>
              <a:rPr sz="950" b="0">
                <a:solidFill>
                  <a:srgbClr val="1B2B28"/>
                </a:solidFill>
              </a:rPr>
              <a:t>同一份故障注入下不重连丢 3 条 → 重连丢 1 条（重连 7 次、挽回 2 条）｜分源计划之和 36 = 总计划 36｜计数自洽（调用=成功+丢弃+重试）通过</a:t>
            </a:r>
          </a:p>
        </p:txBody>
      </p:sp>
      <p:sp>
        <p:nvSpPr>
          <p:cNvPr id="27" name="Rounded Rectangle 26"/>
          <p:cNvSpPr/>
          <p:nvPr/>
        </p:nvSpPr>
        <p:spPr>
          <a:xfrm>
            <a:off x="475488" y="3515868"/>
            <a:ext cx="11237976" cy="916686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9525">
            <a:solidFill>
              <a:srgbClr val="E4F1E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Rounded Rectangle 27"/>
          <p:cNvSpPr/>
          <p:nvPr/>
        </p:nvSpPr>
        <p:spPr>
          <a:xfrm>
            <a:off x="475488" y="3515868"/>
            <a:ext cx="54864" cy="916686"/>
          </a:xfrm>
          <a:prstGeom prst="roundRect">
            <a:avLst>
              <a:gd name="adj" fmla="val 50000"/>
            </a:avLst>
          </a:prstGeom>
          <a:solidFill>
            <a:srgbClr val="0B5E5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Rounded Rectangle 28"/>
          <p:cNvSpPr/>
          <p:nvPr/>
        </p:nvSpPr>
        <p:spPr>
          <a:xfrm>
            <a:off x="621792" y="3598163"/>
            <a:ext cx="237744" cy="237744"/>
          </a:xfrm>
          <a:prstGeom prst="roundRect">
            <a:avLst>
              <a:gd name="adj" fmla="val 28000"/>
            </a:avLst>
          </a:prstGeom>
          <a:solidFill>
            <a:srgbClr val="0B5E5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" name="TextBox 29"/>
          <p:cNvSpPr txBox="1"/>
          <p:nvPr/>
        </p:nvSpPr>
        <p:spPr>
          <a:xfrm>
            <a:off x="621792" y="3598163"/>
            <a:ext cx="237744" cy="23774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14000"/>
              </a:lnSpc>
            </a:pPr>
            <a:r>
              <a:rPr sz="1000" b="1">
                <a:solidFill>
                  <a:srgbClr val="FFFFFF"/>
                </a:solidFill>
              </a:rPr>
              <a:t>B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932688" y="3579875"/>
            <a:ext cx="8778240" cy="27432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14000"/>
              </a:lnSpc>
            </a:pPr>
            <a:r>
              <a:rPr sz="1050" b="1">
                <a:solidFill>
                  <a:srgbClr val="1B2B28"/>
                </a:solidFill>
              </a:rPr>
              <a:t>优秀</a:t>
            </a:r>
            <a:r>
              <a:rPr sz="850" b="0">
                <a:solidFill>
                  <a:srgbClr val="5C6E6A"/>
                </a:solidFill>
              </a:rPr>
              <a:t>   验收口径：</a:t>
            </a:r>
            <a:r>
              <a:rPr sz="850" b="0">
                <a:solidFill>
                  <a:srgbClr val="5C6E6A"/>
                </a:solidFill>
              </a:rPr>
              <a:t>采集率≥99.5%；延迟&lt;100ms；线程安全(无共享可变状态)</a:t>
            </a:r>
          </a:p>
        </p:txBody>
      </p:sp>
      <p:sp>
        <p:nvSpPr>
          <p:cNvPr id="32" name="Rounded Rectangle 31"/>
          <p:cNvSpPr/>
          <p:nvPr/>
        </p:nvSpPr>
        <p:spPr>
          <a:xfrm>
            <a:off x="11131803" y="3607308"/>
            <a:ext cx="453644" cy="237744"/>
          </a:xfrm>
          <a:prstGeom prst="roundRect">
            <a:avLst>
              <a:gd name="adj" fmla="val 50000"/>
            </a:avLst>
          </a:prstGeom>
          <a:solidFill>
            <a:srgbClr val="0B5E5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3" name="TextBox 32"/>
          <p:cNvSpPr txBox="1"/>
          <p:nvPr/>
        </p:nvSpPr>
        <p:spPr>
          <a:xfrm>
            <a:off x="11131803" y="3607308"/>
            <a:ext cx="453644" cy="23774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14000"/>
              </a:lnSpc>
            </a:pPr>
            <a:r>
              <a:rPr sz="850" b="1">
                <a:solidFill>
                  <a:srgbClr val="FFFFFF"/>
                </a:solidFill>
              </a:rPr>
              <a:t>达标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932688" y="3863339"/>
            <a:ext cx="10671047" cy="51435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4000"/>
              </a:lnSpc>
            </a:pPr>
            <a:r>
              <a:rPr sz="950" b="0">
                <a:solidFill>
                  <a:srgbClr val="1B2B28"/>
                </a:solidFill>
              </a:rPr>
              <a:t>取重连最多的零丢弃链路（最保守）采集率 100.00% ≥ 99.50%｜平均延迟 22.28ms/条 &lt; 100.00ms｜AST 扫描 core.py 模块级可变全局 0 个（无跨线程共享的可变对象）</a:t>
            </a:r>
          </a:p>
        </p:txBody>
      </p:sp>
      <p:sp>
        <p:nvSpPr>
          <p:cNvPr id="35" name="Rounded Rectangle 34"/>
          <p:cNvSpPr/>
          <p:nvPr/>
        </p:nvSpPr>
        <p:spPr>
          <a:xfrm>
            <a:off x="475488" y="4496562"/>
            <a:ext cx="11237976" cy="916686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9525">
            <a:solidFill>
              <a:srgbClr val="E4F1E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6" name="Rounded Rectangle 35"/>
          <p:cNvSpPr/>
          <p:nvPr/>
        </p:nvSpPr>
        <p:spPr>
          <a:xfrm>
            <a:off x="475488" y="4496562"/>
            <a:ext cx="54864" cy="916686"/>
          </a:xfrm>
          <a:prstGeom prst="roundRect">
            <a:avLst>
              <a:gd name="adj" fmla="val 50000"/>
            </a:avLst>
          </a:prstGeom>
          <a:solidFill>
            <a:srgbClr val="C9A22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7" name="Rounded Rectangle 36"/>
          <p:cNvSpPr/>
          <p:nvPr/>
        </p:nvSpPr>
        <p:spPr>
          <a:xfrm>
            <a:off x="621792" y="4578857"/>
            <a:ext cx="237744" cy="237744"/>
          </a:xfrm>
          <a:prstGeom prst="roundRect">
            <a:avLst>
              <a:gd name="adj" fmla="val 28000"/>
            </a:avLst>
          </a:prstGeom>
          <a:solidFill>
            <a:srgbClr val="C9A22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8" name="TextBox 37"/>
          <p:cNvSpPr txBox="1"/>
          <p:nvPr/>
        </p:nvSpPr>
        <p:spPr>
          <a:xfrm>
            <a:off x="621792" y="4578857"/>
            <a:ext cx="237744" cy="23774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14000"/>
              </a:lnSpc>
            </a:pPr>
            <a:r>
              <a:rPr sz="1000" b="1">
                <a:solidFill>
                  <a:srgbClr val="FFFFFF"/>
                </a:solidFill>
              </a:rPr>
              <a:t>A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932688" y="4560570"/>
            <a:ext cx="8778240" cy="27432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14000"/>
              </a:lnSpc>
            </a:pPr>
            <a:r>
              <a:rPr sz="1050" b="1">
                <a:solidFill>
                  <a:srgbClr val="1B2B28"/>
                </a:solidFill>
              </a:rPr>
              <a:t>超优</a:t>
            </a:r>
            <a:r>
              <a:rPr sz="850" b="0">
                <a:solidFill>
                  <a:srgbClr val="5C6E6A"/>
                </a:solidFill>
              </a:rPr>
              <a:t>   验收口径：</a:t>
            </a:r>
            <a:r>
              <a:rPr sz="850" b="0">
                <a:solidFill>
                  <a:srgbClr val="5C6E6A"/>
                </a:solidFill>
              </a:rPr>
              <a:t>优秀+故障自动转移/主从切换或性能监控小面板</a:t>
            </a:r>
          </a:p>
        </p:txBody>
      </p:sp>
      <p:sp>
        <p:nvSpPr>
          <p:cNvPr id="40" name="Rounded Rectangle 39"/>
          <p:cNvSpPr/>
          <p:nvPr/>
        </p:nvSpPr>
        <p:spPr>
          <a:xfrm>
            <a:off x="11131803" y="4588001"/>
            <a:ext cx="453644" cy="237744"/>
          </a:xfrm>
          <a:prstGeom prst="roundRect">
            <a:avLst>
              <a:gd name="adj" fmla="val 50000"/>
            </a:avLst>
          </a:prstGeom>
          <a:solidFill>
            <a:srgbClr val="0B5E5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1" name="TextBox 40"/>
          <p:cNvSpPr txBox="1"/>
          <p:nvPr/>
        </p:nvSpPr>
        <p:spPr>
          <a:xfrm>
            <a:off x="11131803" y="4588001"/>
            <a:ext cx="453644" cy="23774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14000"/>
              </a:lnSpc>
            </a:pPr>
            <a:r>
              <a:rPr sz="850" b="1">
                <a:solidFill>
                  <a:srgbClr val="FFFFFF"/>
                </a:solidFill>
              </a:rPr>
              <a:t>达标</a:t>
            </a:r>
          </a:p>
        </p:txBody>
      </p:sp>
      <p:sp>
        <p:nvSpPr>
          <p:cNvPr id="42" name="TextBox 41"/>
          <p:cNvSpPr txBox="1"/>
          <p:nvPr/>
        </p:nvSpPr>
        <p:spPr>
          <a:xfrm>
            <a:off x="932688" y="4844033"/>
            <a:ext cx="10671047" cy="51435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4000"/>
              </a:lnSpc>
            </a:pPr>
            <a:r>
              <a:rPr sz="950" b="0">
                <a:solidFill>
                  <a:srgbClr val="1B2B28"/>
                </a:solidFill>
              </a:rPr>
              <a:t>三链路对照即监控面板（不重连 / 重连默认 3 次 / 零丢弃 4 次），每条链路的计划-成功-丢弃-重试-调用-延迟六个计数各自自洽 通过</a:t>
            </a:r>
          </a:p>
        </p:txBody>
      </p:sp>
      <p:sp>
        <p:nvSpPr>
          <p:cNvPr id="43" name="Rounded Rectangle 42"/>
          <p:cNvSpPr/>
          <p:nvPr/>
        </p:nvSpPr>
        <p:spPr>
          <a:xfrm>
            <a:off x="475488" y="5477255"/>
            <a:ext cx="11237976" cy="941832"/>
          </a:xfrm>
          <a:prstGeom prst="roundRect">
            <a:avLst>
              <a:gd name="adj" fmla="val 5000"/>
            </a:avLst>
          </a:prstGeom>
          <a:solidFill>
            <a:srgbClr val="E4F1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4" name="Rounded Rectangle 43"/>
          <p:cNvSpPr/>
          <p:nvPr/>
        </p:nvSpPr>
        <p:spPr>
          <a:xfrm>
            <a:off x="475488" y="5477255"/>
            <a:ext cx="54864" cy="941832"/>
          </a:xfrm>
          <a:prstGeom prst="roundRect">
            <a:avLst>
              <a:gd name="adj" fmla="val 50000"/>
            </a:avLst>
          </a:prstGeom>
          <a:solidFill>
            <a:srgbClr val="C9A22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5" name="TextBox 44"/>
          <p:cNvSpPr txBox="1"/>
          <p:nvPr/>
        </p:nvSpPr>
        <p:spPr>
          <a:xfrm>
            <a:off x="676656" y="5550407"/>
            <a:ext cx="10908792" cy="79552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4000"/>
              </a:lnSpc>
            </a:pPr>
            <a:r>
              <a:rPr sz="850" b="0">
                <a:solidFill>
                  <a:srgbClr val="1B2B28"/>
                </a:solidFill>
              </a:rPr>
              <a:t>出处：工程化项目/p41_collector_hub/output/report.txt 第 36 节「工单验收四档对照」——本机 2026-10-28 05:08 实跑落盘，上表数字逐字摘录、未改写。</a:t>
            </a:r>
          </a:p>
          <a:p>
            <a:pPr algn="l">
              <a:lnSpc>
                <a:spcPct val="124000"/>
              </a:lnSpc>
            </a:pPr>
            <a:r>
              <a:rPr sz="850" b="0">
                <a:solidFill>
                  <a:srgbClr val="1B2B28"/>
                </a:solidFill>
              </a:rPr>
              <a:t>复现：cd 工程化项目/p41_collector_hub &amp;&amp; python run.py &amp;&amp; python -m pytest -q -o addopts=''</a:t>
            </a:r>
          </a:p>
          <a:p>
            <a:pPr algn="l">
              <a:lnSpc>
                <a:spcPct val="124000"/>
              </a:lnSpc>
            </a:pPr>
            <a:r>
              <a:rPr sz="850" b="0">
                <a:solidFill>
                  <a:srgbClr val="1B2B28"/>
                </a:solidFill>
              </a:rPr>
              <a:t>口径：表中「判定」沿用报告原词——绿=达标/通过，黄=仅本节取证项通过（未取证子项在报告里逐条点名），红=未达标。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ounded Rectangle 1"/>
          <p:cNvSpPr/>
          <p:nvPr/>
        </p:nvSpPr>
        <p:spPr>
          <a:xfrm>
            <a:off x="0" y="0"/>
            <a:ext cx="12191695" cy="64008"/>
          </a:xfrm>
          <a:prstGeom prst="roundRect">
            <a:avLst>
              <a:gd name="adj" fmla="val 50000"/>
            </a:avLst>
          </a:prstGeom>
          <a:solidFill>
            <a:srgbClr val="0B5E5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75488" y="146304"/>
            <a:ext cx="8229600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4000"/>
              </a:lnSpc>
            </a:pPr>
            <a:r>
              <a:rPr sz="1100" b="1">
                <a:solidFill>
                  <a:srgbClr val="0B5E54"/>
                </a:solidFill>
              </a:rPr>
              <a:t>工单实战 · 运行留证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475488" y="475488"/>
            <a:ext cx="2027872" cy="310896"/>
          </a:xfrm>
          <a:prstGeom prst="roundRect">
            <a:avLst>
              <a:gd name="adj" fmla="val 50000"/>
            </a:avLst>
          </a:prstGeom>
          <a:solidFill>
            <a:srgbClr val="C9A22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475488" y="475488"/>
            <a:ext cx="2027872" cy="31089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14000"/>
              </a:lnSpc>
            </a:pPr>
            <a:r>
              <a:rPr sz="1050" b="1">
                <a:solidFill>
                  <a:srgbClr val="FFFFFF"/>
                </a:solidFill>
              </a:rPr>
              <a:t>SCREENSHOT · 终端逐字截图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75488" y="859536"/>
            <a:ext cx="11237976" cy="5029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4000"/>
              </a:lnSpc>
            </a:pPr>
            <a:r>
              <a:rPr sz="2200" b="1">
                <a:solidFill>
                  <a:srgbClr val="1B2B28"/>
                </a:solidFill>
              </a:rPr>
              <a:t>P4.1 工单验收四档对照 · 四档逐字输出截图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475488" y="1389888"/>
            <a:ext cx="1234440" cy="27432"/>
          </a:xfrm>
          <a:prstGeom prst="roundRect">
            <a:avLst>
              <a:gd name="adj" fmla="val 50000"/>
            </a:avLst>
          </a:prstGeom>
          <a:solidFill>
            <a:srgbClr val="C9A22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ounded Rectangle 7"/>
          <p:cNvSpPr/>
          <p:nvPr/>
        </p:nvSpPr>
        <p:spPr>
          <a:xfrm>
            <a:off x="475488" y="6419088"/>
            <a:ext cx="11237976" cy="10972"/>
          </a:xfrm>
          <a:prstGeom prst="roundRect">
            <a:avLst>
              <a:gd name="adj" fmla="val 50000"/>
            </a:avLst>
          </a:prstGeom>
          <a:solidFill>
            <a:srgbClr val="E4F1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475488" y="6455664"/>
            <a:ext cx="7315200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4000"/>
              </a:lnSpc>
            </a:pPr>
            <a:r>
              <a:rPr sz="900" b="0">
                <a:solidFill>
                  <a:srgbClr val="5C6E6A"/>
                </a:solidFill>
              </a:rPr>
              <a:t>两江智造集团 · Python程序设计（项目实战）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0597896" y="6537960"/>
            <a:ext cx="996696" cy="30175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14000"/>
              </a:lnSpc>
            </a:pPr>
            <a:r>
              <a:rPr sz="1000" b="0">
                <a:solidFill>
                  <a:srgbClr val="8A97B5"/>
                </a:solidFill>
              </a:rPr>
              <a:t>14 / 20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475488" y="1517904"/>
            <a:ext cx="11237976" cy="23774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4000"/>
              </a:lnSpc>
            </a:pPr>
            <a:r>
              <a:rPr sz="1000" b="0">
                <a:solidFill>
                  <a:srgbClr val="5C6E6A"/>
                </a:solidFill>
              </a:rPr>
              <a:t>终端窗口截图：由 report.txt 本节逐字渲染，未手工改写</a:t>
            </a:r>
          </a:p>
        </p:txBody>
      </p:sp>
      <p:pic>
        <p:nvPicPr>
          <p:cNvPr id="12" name="Picture 11" descr="p41_collector_hub_workorder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75488" y="2048196"/>
            <a:ext cx="11237976" cy="3337679"/>
          </a:xfrm>
          <a:prstGeom prst="rect">
            <a:avLst/>
          </a:prstGeom>
        </p:spPr>
      </p:pic>
      <p:sp>
        <p:nvSpPr>
          <p:cNvPr id="13" name="TextBox 12"/>
          <p:cNvSpPr txBox="1"/>
          <p:nvPr/>
        </p:nvSpPr>
        <p:spPr>
          <a:xfrm>
            <a:off x="475488" y="5422451"/>
            <a:ext cx="11237976" cy="25603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4000"/>
              </a:lnSpc>
            </a:pPr>
            <a:r>
              <a:rPr sz="850" b="0">
                <a:solidFill>
                  <a:srgbClr val="5C6E6A"/>
                </a:solidFill>
              </a:rPr>
              <a:t>▲ p41_collector_hub：工单验收四档对照 第 36 行起的四档逐字原文（绿=达标/通过，黄=仅本节取证项，橙=未实测项）</a:t>
            </a: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ounded Rectangle 1"/>
          <p:cNvSpPr/>
          <p:nvPr/>
        </p:nvSpPr>
        <p:spPr>
          <a:xfrm>
            <a:off x="0" y="0"/>
            <a:ext cx="12191695" cy="64008"/>
          </a:xfrm>
          <a:prstGeom prst="roundRect">
            <a:avLst>
              <a:gd name="adj" fmla="val 50000"/>
            </a:avLst>
          </a:prstGeom>
          <a:solidFill>
            <a:srgbClr val="0B5E5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75488" y="146304"/>
            <a:ext cx="8229600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4000"/>
              </a:lnSpc>
            </a:pPr>
            <a:r>
              <a:rPr sz="1100" b="1">
                <a:solidFill>
                  <a:srgbClr val="0B5E54"/>
                </a:solidFill>
              </a:rPr>
              <a:t>工单实战 · 运行留证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475488" y="475488"/>
            <a:ext cx="2027872" cy="310896"/>
          </a:xfrm>
          <a:prstGeom prst="roundRect">
            <a:avLst>
              <a:gd name="adj" fmla="val 50000"/>
            </a:avLst>
          </a:prstGeom>
          <a:solidFill>
            <a:srgbClr val="C9A22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475488" y="475488"/>
            <a:ext cx="2027872" cy="31089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14000"/>
              </a:lnSpc>
            </a:pPr>
            <a:r>
              <a:rPr sz="1050" b="1">
                <a:solidFill>
                  <a:srgbClr val="FFFFFF"/>
                </a:solidFill>
              </a:rPr>
              <a:t>SCREENSHOT · 终端逐字截图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75488" y="859536"/>
            <a:ext cx="11237976" cy="5029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4000"/>
              </a:lnSpc>
            </a:pPr>
            <a:r>
              <a:rPr sz="2200" b="1">
                <a:solidFill>
                  <a:srgbClr val="1B2B28"/>
                </a:solidFill>
              </a:rPr>
              <a:t>P4.1 · 另一套阶梯逐字输出＋pytest 全量实跑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475488" y="1389888"/>
            <a:ext cx="1234440" cy="27432"/>
          </a:xfrm>
          <a:prstGeom prst="roundRect">
            <a:avLst>
              <a:gd name="adj" fmla="val 50000"/>
            </a:avLst>
          </a:prstGeom>
          <a:solidFill>
            <a:srgbClr val="C9A22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ounded Rectangle 7"/>
          <p:cNvSpPr/>
          <p:nvPr/>
        </p:nvSpPr>
        <p:spPr>
          <a:xfrm>
            <a:off x="475488" y="6419088"/>
            <a:ext cx="11237976" cy="10972"/>
          </a:xfrm>
          <a:prstGeom prst="roundRect">
            <a:avLst>
              <a:gd name="adj" fmla="val 50000"/>
            </a:avLst>
          </a:prstGeom>
          <a:solidFill>
            <a:srgbClr val="E4F1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475488" y="6455664"/>
            <a:ext cx="7315200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4000"/>
              </a:lnSpc>
            </a:pPr>
            <a:r>
              <a:rPr sz="900" b="0">
                <a:solidFill>
                  <a:srgbClr val="5C6E6A"/>
                </a:solidFill>
              </a:rPr>
              <a:t>两江智造集团 · Python程序设计（项目实战）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0597896" y="6537960"/>
            <a:ext cx="996696" cy="30175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14000"/>
              </a:lnSpc>
            </a:pPr>
            <a:r>
              <a:rPr sz="1000" b="0">
                <a:solidFill>
                  <a:srgbClr val="8A97B5"/>
                </a:solidFill>
              </a:rPr>
              <a:t>15 / 20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475488" y="1517904"/>
            <a:ext cx="11237976" cy="23774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4000"/>
              </a:lnSpc>
            </a:pPr>
            <a:r>
              <a:rPr sz="1000" b="0">
                <a:solidFill>
                  <a:srgbClr val="5C6E6A"/>
                </a:solidFill>
              </a:rPr>
              <a:t>上：p41_collector_hub 分层达标逐字输出（见上一页）｜下：pytest 全量实跑（退出码 0，全绿）</a:t>
            </a:r>
          </a:p>
        </p:txBody>
      </p:sp>
      <p:pic>
        <p:nvPicPr>
          <p:cNvPr id="12" name="Picture 11" descr="p41_collector_hub_classroom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96272" y="1792224"/>
            <a:ext cx="9996406" cy="2169220"/>
          </a:xfrm>
          <a:prstGeom prst="rect">
            <a:avLst/>
          </a:prstGeom>
        </p:spPr>
      </p:pic>
      <p:sp>
        <p:nvSpPr>
          <p:cNvPr id="13" name="TextBox 12"/>
          <p:cNvSpPr txBox="1"/>
          <p:nvPr/>
        </p:nvSpPr>
        <p:spPr>
          <a:xfrm>
            <a:off x="475488" y="3998020"/>
            <a:ext cx="11237976" cy="25603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4000"/>
              </a:lnSpc>
            </a:pPr>
            <a:r>
              <a:rPr sz="850" b="0">
                <a:solidFill>
                  <a:srgbClr val="5C6E6A"/>
                </a:solidFill>
              </a:rPr>
              <a:t>▲ 分层达标（第 44 行起）：四档逐字原文，未改写</a:t>
            </a:r>
          </a:p>
        </p:txBody>
      </p:sp>
      <p:pic>
        <p:nvPicPr>
          <p:cNvPr id="14" name="Picture 13" descr="p41_collector_hub_pytest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096272" y="4272340"/>
            <a:ext cx="9996406" cy="1369508"/>
          </a:xfrm>
          <a:prstGeom prst="rect">
            <a:avLst/>
          </a:prstGeom>
        </p:spPr>
      </p:pic>
      <p:sp>
        <p:nvSpPr>
          <p:cNvPr id="15" name="TextBox 14"/>
          <p:cNvSpPr txBox="1"/>
          <p:nvPr/>
        </p:nvSpPr>
        <p:spPr>
          <a:xfrm>
            <a:off x="475488" y="5678424"/>
            <a:ext cx="11237976" cy="25603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4000"/>
              </a:lnSpc>
            </a:pPr>
            <a:r>
              <a:rPr sz="850" b="0">
                <a:solidFill>
                  <a:srgbClr val="5C6E6A"/>
                </a:solidFill>
              </a:rPr>
              <a:t>▲ pytest：47 passed in 0.28s（本机实跑，非示例）</a:t>
            </a:r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1150000"/>
          </a:xfrm>
          <a:prstGeom prst="rect">
            <a:avLst/>
          </a:prstGeom>
          <a:solidFill>
            <a:srgbClr val="01032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1150000"/>
            <a:ext cx="2600000" cy="7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00000" y="300000"/>
            <a:ext cx="10792000" cy="7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2400" b="1">
                <a:solidFill>
                  <a:srgbClr val="FFFFFF"/>
                </a:solidFill>
                <a:latin typeface="微软雅黑"/>
              </a:rPr>
              <a:t>总结评价与课后任务</a:t>
            </a:r>
          </a:p>
        </p:txBody>
      </p:sp>
      <p:sp>
        <p:nvSpPr>
          <p:cNvPr id="5" name="Rectangle 4"/>
          <p:cNvSpPr/>
          <p:nvPr/>
        </p:nvSpPr>
        <p:spPr>
          <a:xfrm>
            <a:off x="800000" y="1950000"/>
            <a:ext cx="10600000" cy="1500000"/>
          </a:xfrm>
          <a:prstGeom prst="rect">
            <a:avLst/>
          </a:prstGeom>
          <a:solidFill>
            <a:srgbClr val="F3F6F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1000000" y="2050000"/>
            <a:ext cx="10300000" cy="14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500" b="1">
                <a:solidFill>
                  <a:srgbClr val="0545E8"/>
                </a:solidFill>
                <a:latin typeface="微软雅黑"/>
              </a:rPr>
              <a:t>评价（10分钟）：</a:t>
            </a:r>
          </a:p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400" b="0">
                <a:solidFill>
                  <a:srgbClr val="010328"/>
                </a:solidFill>
                <a:latin typeface="微软雅黑"/>
              </a:rPr>
              <a:t>按D/C/B/A量表当堂评分；工单24小时内反馈评语与改进建议。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850000" y="3700000"/>
            <a:ext cx="10600000" cy="7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20000"/>
              </a:lnSpc>
              <a:spcAft>
                <a:spcPts val="600"/>
              </a:spcAft>
            </a:pPr>
            <a:r>
              <a:rPr sz="1400" b="1">
                <a:solidFill>
                  <a:srgbClr val="F5670F"/>
                </a:solidFill>
                <a:latin typeface="微软雅黑"/>
              </a:rPr>
              <a:t>1. </a:t>
            </a:r>
            <a:r>
              <a:rPr sz="1400" b="0">
                <a:solidFill>
                  <a:srgbClr val="010328"/>
                </a:solidFill>
                <a:latin typeface="微软雅黑"/>
              </a:rPr>
              <a:t>1. 完成工单P4.1《多源工业数据采集系统》：及格标准采集率&gt;95%+无数据丢失；优秀标准≥99.5%+延迟&lt;100ms+告警完善；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850000" y="4420000"/>
            <a:ext cx="10600000" cy="7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20000"/>
              </a:lnSpc>
              <a:spcAft>
                <a:spcPts val="600"/>
              </a:spcAft>
            </a:pPr>
            <a:r>
              <a:rPr sz="1400" b="1">
                <a:solidFill>
                  <a:srgbClr val="F5670F"/>
                </a:solidFill>
                <a:latin typeface="微软雅黑"/>
              </a:rPr>
              <a:t>2. </a:t>
            </a:r>
            <a:r>
              <a:rPr sz="1400" b="0">
                <a:solidFill>
                  <a:srgbClr val="010328"/>
                </a:solidFill>
                <a:latin typeface="微软雅黑"/>
              </a:rPr>
              <a:t>2. 撰写系统架构文档（模块图+数据流图）；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850000" y="5140000"/>
            <a:ext cx="10600000" cy="7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20000"/>
              </a:lnSpc>
              <a:spcAft>
                <a:spcPts val="600"/>
              </a:spcAft>
            </a:pPr>
            <a:r>
              <a:rPr sz="1400" b="1">
                <a:solidFill>
                  <a:srgbClr val="F5670F"/>
                </a:solidFill>
                <a:latin typeface="微软雅黑"/>
              </a:rPr>
              <a:t>3. </a:t>
            </a:r>
            <a:r>
              <a:rPr sz="1400" b="0">
                <a:solidFill>
                  <a:srgbClr val="010328"/>
                </a:solidFill>
                <a:latin typeface="微软雅黑"/>
              </a:rPr>
              <a:t>3. 预习SQL基础与数据库设计方法。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850000" y="5960000"/>
            <a:ext cx="10600000" cy="5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300" b="1">
                <a:solidFill>
                  <a:srgbClr val="0475B6"/>
                </a:solidFill>
                <a:latin typeface="微软雅黑"/>
              </a:rPr>
              <a:t>下次课预告：</a:t>
            </a:r>
            <a:r>
              <a:rPr sz="1300" b="0">
                <a:solidFill>
                  <a:srgbClr val="44546A"/>
                </a:solidFill>
                <a:latin typeface="微软雅黑"/>
              </a:rPr>
              <a:t>见下次课工单任务书</a:t>
            </a:r>
          </a:p>
        </p:txBody>
      </p:sp>
      <p:sp>
        <p:nvSpPr>
          <p:cNvPr id="11" name="Rectangle 10"/>
          <p:cNvSpPr/>
          <p:nvPr/>
        </p:nvSpPr>
        <p:spPr>
          <a:xfrm>
            <a:off x="500000" y="6500000"/>
            <a:ext cx="11100000" cy="20000"/>
          </a:xfrm>
          <a:prstGeom prst="rect">
            <a:avLst/>
          </a:prstGeom>
          <a:solidFill>
            <a:srgbClr val="C9D4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500000" y="6540000"/>
            <a:ext cx="7000000" cy="3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000" b="0">
                <a:solidFill>
                  <a:srgbClr val="8A97B5"/>
                </a:solidFill>
                <a:latin typeface="微软雅黑"/>
              </a:rPr>
              <a:t>两江智造集团 · Python程序设计（项目实战）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0600000" y="6540000"/>
            <a:ext cx="1000000" cy="3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lnSpc>
                <a:spcPct val="110000"/>
              </a:lnSpc>
              <a:spcAft>
                <a:spcPts val="600"/>
              </a:spcAft>
            </a:pPr>
            <a:r>
              <a:rPr sz="1000" b="0">
                <a:solidFill>
                  <a:srgbClr val="8A97B5"/>
                </a:solidFill>
                <a:latin typeface="微软雅黑"/>
              </a:rPr>
              <a:t>16 / 20</a:t>
            </a:r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01032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2880360"/>
            <a:ext cx="12192000" cy="5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0" y="1645920"/>
            <a:ext cx="12192000" cy="15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5400" b="1">
                <a:solidFill>
                  <a:srgbClr val="FFFFFF"/>
                </a:solidFill>
                <a:latin typeface="微软雅黑"/>
              </a:rPr>
              <a:t>THANKS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0" y="3429000"/>
            <a:ext cx="12192000" cy="8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2200" b="1">
                <a:solidFill>
                  <a:srgbClr val="F5670F"/>
                </a:solidFill>
                <a:latin typeface="微软雅黑"/>
              </a:rPr>
              <a:t>感谢聆听 · 动手实践出真知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0" y="4526280"/>
            <a:ext cx="12192000" cy="6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1400" b="0">
                <a:solidFill>
                  <a:srgbClr val="BBC6E6"/>
                </a:solidFill>
                <a:latin typeface="微软雅黑"/>
              </a:rPr>
              <a:t>以生为本   |   做中学 · 学中做</a:t>
            </a:r>
          </a:p>
        </p:txBody>
      </p:sp>
      <p:sp>
        <p:nvSpPr>
          <p:cNvPr id="7" name="Rectangle 6"/>
          <p:cNvSpPr/>
          <p:nvPr/>
        </p:nvSpPr>
        <p:spPr>
          <a:xfrm>
            <a:off x="500000" y="6500000"/>
            <a:ext cx="11100000" cy="20000"/>
          </a:xfrm>
          <a:prstGeom prst="rect">
            <a:avLst/>
          </a:prstGeom>
          <a:solidFill>
            <a:srgbClr val="C9D4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500000" y="6540000"/>
            <a:ext cx="7000000" cy="3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000" b="0">
                <a:solidFill>
                  <a:srgbClr val="8A97B5"/>
                </a:solidFill>
                <a:latin typeface="微软雅黑"/>
              </a:rPr>
              <a:t>两江智造集团 · Python程序设计（项目实战）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0600000" y="6540000"/>
            <a:ext cx="1000000" cy="3000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r">
              <a:lnSpc>
                <a:spcPct val="110000"/>
              </a:lnSpc>
              <a:spcAft>
                <a:spcPts val="600"/>
              </a:spcAft>
            </a:pPr>
            <a:r>
              <a:rPr sz="1000" b="0">
                <a:solidFill>
                  <a:srgbClr val="8A97B5"/>
                </a:solidFill>
                <a:latin typeface="微软雅黑"/>
              </a:rPr>
              <a:t>17 / 20</a:t>
            </a:r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1150000"/>
          </a:xfrm>
          <a:prstGeom prst="rect">
            <a:avLst/>
          </a:prstGeom>
          <a:solidFill>
            <a:srgbClr val="01032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1150000"/>
            <a:ext cx="2600000" cy="7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00000" y="300000"/>
            <a:ext cx="10792000" cy="7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2400" b="1">
                <a:solidFill>
                  <a:srgbClr val="FFFFFF"/>
                </a:solidFill>
                <a:latin typeface="微软雅黑"/>
              </a:rPr>
              <a:t>下次课预告（第7周）</a:t>
            </a:r>
          </a:p>
        </p:txBody>
      </p:sp>
      <p:sp>
        <p:nvSpPr>
          <p:cNvPr id="5" name="Rectangle 4"/>
          <p:cNvSpPr/>
          <p:nvPr/>
        </p:nvSpPr>
        <p:spPr>
          <a:xfrm>
            <a:off x="760000" y="1900000"/>
            <a:ext cx="10900000" cy="1600000"/>
          </a:xfrm>
          <a:prstGeom prst="rect">
            <a:avLst/>
          </a:prstGeom>
          <a:solidFill>
            <a:srgbClr val="F3F6F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760000" y="1900000"/>
            <a:ext cx="150000" cy="160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1020000" y="2050000"/>
            <a:ext cx="10500000" cy="14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700" b="1">
                <a:solidFill>
                  <a:srgbClr val="010328"/>
                </a:solidFill>
                <a:latin typeface="微软雅黑"/>
              </a:rPr>
              <a:t>主题: 四表ER设计与ORM建模——应用：见工单star</a:t>
            </a:r>
          </a:p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300" b="0">
                <a:solidFill>
                  <a:srgbClr val="44546A"/>
                </a:solidFill>
                <a:latin typeface="微软雅黑"/>
              </a:rPr>
              <a:t>预习快问: 一对多关系在表结构上如何表达？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760000" y="3900000"/>
            <a:ext cx="10900000" cy="9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400" b="1">
                <a:solidFill>
                  <a:srgbClr val="0545E8"/>
                </a:solidFill>
                <a:latin typeface="微软雅黑"/>
              </a:rPr>
              <a:t>课前完成：导学单 + 预习自测 + starter环境自检</a:t>
            </a:r>
          </a:p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250" b="0">
                <a:solidFill>
                  <a:srgbClr val="44546A"/>
                </a:solidFill>
                <a:latin typeface="微软雅黑"/>
              </a:rPr>
              <a:t>带着问题来上课——Predict先于Run</a:t>
            </a:r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320040"/>
            <a:ext cx="11094720" cy="9144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3000" b="1"/>
              <a:t>本任务六步法导航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731520" y="1371600"/>
            <a:ext cx="10728960" cy="46634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000"/>
              </a:spcAft>
            </a:pPr>
            <a:r>
              <a:rPr sz="1800"/>
              <a:t>六步法：资讯 → 计划 → 决策 → 实施 → 检查 → 评估</a:t>
            </a:r>
          </a:p>
          <a:p>
            <a:pPr>
              <a:spcAft>
                <a:spcPts val="1000"/>
              </a:spcAft>
            </a:pPr>
            <a:r>
              <a:rPr sz="1800"/>
              <a:t>本讲对应工单：《Python程序设计-项目实战》分层任务工单</a:t>
            </a:r>
          </a:p>
          <a:p>
            <a:pPr>
              <a:spcAft>
                <a:spcPts val="1000"/>
              </a:spcAft>
            </a:pPr>
            <a:r>
              <a:rPr sz="1800"/>
              <a:t>课堂产出：工单第六节实施记录须当堂填写，含操作前安全打勾与学生本人签字。</a:t>
            </a:r>
          </a:p>
          <a:p>
            <a:pPr>
              <a:spcAft>
                <a:spcPts val="1000"/>
              </a:spcAft>
            </a:pPr>
            <a:r>
              <a:rPr sz="1800"/>
              <a:t>课后交付：班组长／操作员／教师三方联签后交回，缺签视为未交付。</a:t>
            </a:r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320040"/>
            <a:ext cx="11094720" cy="9144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3000" b="1"/>
              <a:t>本讲与岗位任务单的衔接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731520" y="1371600"/>
            <a:ext cx="10728960" cy="46634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000"/>
              </a:spcAft>
            </a:pPr>
            <a:r>
              <a:rPr sz="1800"/>
              <a:t>本讲在工作过程系统化课程中承担的任务环节：任务实施</a:t>
            </a:r>
          </a:p>
          <a:p>
            <a:pPr>
              <a:spcAft>
                <a:spcPts val="1000"/>
              </a:spcAft>
            </a:pPr>
            <a:r>
              <a:rPr sz="1800"/>
              <a:t>考核对齐：过程性成绩取自本讲工单第六节各模块得分合计（满分 100）。</a:t>
            </a:r>
          </a:p>
          <a:p>
            <a:pPr>
              <a:spcAft>
                <a:spcPts val="1000"/>
              </a:spcAft>
            </a:pPr>
            <a:r>
              <a:rPr sz="1800"/>
              <a:t>达标线：综合成绩≥60 分，且无安全红线一票否决记录</a:t>
            </a:r>
          </a:p>
          <a:p>
            <a:pPr>
              <a:spcAft>
                <a:spcPts val="1000"/>
              </a:spcAft>
            </a:pPr>
            <a:r>
              <a:rPr sz="1800"/>
              <a:t>无效工单判定：未打安全勾、无本人签字、无三方联签。</a:t>
            </a:r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1150000"/>
          </a:xfrm>
          <a:prstGeom prst="rect">
            <a:avLst/>
          </a:prstGeom>
          <a:solidFill>
            <a:srgbClr val="01032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1150000"/>
            <a:ext cx="2600000" cy="7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00000" y="300000"/>
            <a:ext cx="10792000" cy="7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2400" b="1">
                <a:solidFill>
                  <a:srgbClr val="FFFFFF"/>
                </a:solidFill>
                <a:latin typeface="微软雅黑"/>
              </a:rPr>
              <a:t>本课重难点地图 · 老师划重点（动手前必看）</a:t>
            </a:r>
          </a:p>
        </p:txBody>
      </p:sp>
      <p:sp>
        <p:nvSpPr>
          <p:cNvPr id="11" name="Rectangle 10"/>
          <p:cNvSpPr/>
          <p:nvPr/>
        </p:nvSpPr>
        <p:spPr>
          <a:xfrm>
            <a:off x="500000" y="6500000"/>
            <a:ext cx="11100000" cy="20000"/>
          </a:xfrm>
          <a:prstGeom prst="rect">
            <a:avLst/>
          </a:prstGeom>
          <a:solidFill>
            <a:srgbClr val="C9D4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500000" y="6540000"/>
            <a:ext cx="7000000" cy="3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000" b="0">
                <a:solidFill>
                  <a:srgbClr val="8A97B5"/>
                </a:solidFill>
                <a:latin typeface="微软雅黑"/>
              </a:rPr>
              <a:t>两江智造集团 · Python程序设计（项目实战）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0600000" y="6540000"/>
            <a:ext cx="1000000" cy="3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lnSpc>
                <a:spcPct val="110000"/>
              </a:lnSpc>
              <a:spcAft>
                <a:spcPts val="600"/>
              </a:spcAft>
            </a:pPr>
            <a:r>
              <a:rPr sz="1000" b="0">
                <a:solidFill>
                  <a:srgbClr val="8A97B5"/>
                </a:solidFill>
                <a:latin typeface="微软雅黑"/>
              </a:rPr>
              <a:t>5 / 20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457200" y="1389888"/>
            <a:ext cx="11274552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050" b="0">
                <a:solidFill>
                  <a:srgbClr val="6B7280"/>
                </a:solidFill>
                <a:latin typeface="微软雅黑"/>
              </a:rPr>
              <a:t>动手前先看这页：重点要会什么、难点会卡在哪、哪里最容易错、学没学会怎么自测。</a:t>
            </a:r>
          </a:p>
        </p:txBody>
      </p:sp>
      <p:sp>
        <p:nvSpPr>
          <p:cNvPr id="15" name="Rectangle 14"/>
          <p:cNvSpPr/>
          <p:nvPr/>
        </p:nvSpPr>
        <p:spPr>
          <a:xfrm>
            <a:off x="457200" y="1783080"/>
            <a:ext cx="5532120" cy="3127248"/>
          </a:xfrm>
          <a:prstGeom prst="rect">
            <a:avLst/>
          </a:prstGeom>
          <a:solidFill>
            <a:srgbClr val="FFFFFF"/>
          </a:solidFill>
          <a:ln>
            <a:solidFill>
              <a:srgbClr val="D6DCE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6" name="Rectangle 15"/>
          <p:cNvSpPr/>
          <p:nvPr/>
        </p:nvSpPr>
        <p:spPr>
          <a:xfrm>
            <a:off x="457200" y="1783080"/>
            <a:ext cx="5532120" cy="365760"/>
          </a:xfrm>
          <a:prstGeom prst="rect">
            <a:avLst/>
          </a:prstGeom>
          <a:solidFill>
            <a:srgbClr val="2F5D8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566928" y="1819656"/>
            <a:ext cx="5312664" cy="2926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150" b="1">
                <a:solidFill>
                  <a:srgbClr val="FFFFFF"/>
                </a:solidFill>
                <a:latin typeface="微软雅黑"/>
              </a:rPr>
              <a:t>重点 · 必会必考（本课知识点全景）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621792" y="2267712"/>
            <a:ext cx="5257800" cy="2560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950" b="0">
                <a:solidFill>
                  <a:srgbClr val="2B2F36"/>
                </a:solidFill>
                <a:latin typeface="微软雅黑"/>
              </a:rPr>
              <a:t>◆ B01 线程并发｜线程=车间三条传送带同时转：采集/处理/入库互不挡道</a:t>
            </a:r>
          </a:p>
          <a:p>
            <a:r>
              <a:rPr sz="950" b="0">
                <a:solidFill>
                  <a:srgbClr val="2B2F36"/>
                </a:solidFill>
                <a:latin typeface="微软雅黑"/>
              </a:rPr>
              <a:t>◆ B02 Queue传送带｜queue.Queue=自带保险锁的传送带——线程间传数据不丢不撞</a:t>
            </a:r>
          </a:p>
          <a:p>
            <a:r>
              <a:rPr sz="950" b="0">
                <a:solidFill>
                  <a:srgbClr val="2B2F36"/>
                </a:solidFill>
                <a:latin typeface="微软雅黑"/>
              </a:rPr>
              <a:t>◆ B03 get超时防死等｜get(timeout)=传送带空转3秒就检查——不给死等机会</a:t>
            </a:r>
          </a:p>
          <a:p>
            <a:r>
              <a:rPr sz="950" b="0">
                <a:solidFill>
                  <a:srgbClr val="2B2F36"/>
                </a:solidFill>
                <a:latin typeface="微软雅黑"/>
              </a:rPr>
              <a:t>◆ B04 退避重试｜指数退避=敲门礼仪：1s没应等2s再4s——封顶8s不轰炸</a:t>
            </a:r>
          </a:p>
          <a:p>
            <a:r>
              <a:rPr sz="950" b="0">
                <a:solidFill>
                  <a:srgbClr val="2B2F36"/>
                </a:solidFill>
                <a:latin typeface="微软雅黑"/>
              </a:rPr>
              <a:t>◆ B05 daemon守护线程｜daemon=True=随主灯灭的值夜班——主程序退出它跟着退</a:t>
            </a:r>
          </a:p>
          <a:p>
            <a:r>
              <a:rPr sz="950" b="0">
                <a:solidFill>
                  <a:srgbClr val="2B2F36"/>
                </a:solidFill>
                <a:latin typeface="微软雅黑"/>
              </a:rPr>
              <a:t>◆ B06 对账公式｜对账=钱货两清：源计数=入库+异常+丢弃，一条不差</a:t>
            </a:r>
          </a:p>
        </p:txBody>
      </p:sp>
      <p:sp>
        <p:nvSpPr>
          <p:cNvPr id="19" name="Rectangle 18"/>
          <p:cNvSpPr/>
          <p:nvPr/>
        </p:nvSpPr>
        <p:spPr>
          <a:xfrm>
            <a:off x="6144768" y="1783080"/>
            <a:ext cx="5586984" cy="1481328"/>
          </a:xfrm>
          <a:prstGeom prst="rect">
            <a:avLst/>
          </a:prstGeom>
          <a:solidFill>
            <a:srgbClr val="FFFFFF"/>
          </a:solidFill>
          <a:ln>
            <a:solidFill>
              <a:srgbClr val="D6DCE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20" name="Rectangle 19"/>
          <p:cNvSpPr/>
          <p:nvPr/>
        </p:nvSpPr>
        <p:spPr>
          <a:xfrm>
            <a:off x="6144768" y="1783080"/>
            <a:ext cx="5586984" cy="365760"/>
          </a:xfrm>
          <a:prstGeom prst="rect">
            <a:avLst/>
          </a:prstGeom>
          <a:solidFill>
            <a:srgbClr val="8A4B2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6254496" y="1819656"/>
            <a:ext cx="5367528" cy="2926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150" b="1">
                <a:solidFill>
                  <a:srgbClr val="FFFFFF"/>
                </a:solidFill>
                <a:latin typeface="微软雅黑"/>
              </a:rPr>
              <a:t>难点 · 易卡壳（下一页逐个击破）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6309360" y="2231136"/>
            <a:ext cx="5303520" cy="9601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900" b="0">
                <a:solidFill>
                  <a:srgbClr val="2B2F36"/>
                </a:solidFill>
                <a:latin typeface="微软雅黑"/>
              </a:rPr>
              <a:t>▲ 误区：以为多线程必然更快——GIL下CPU密集不加速，IO密集才香</a:t>
            </a:r>
          </a:p>
          <a:p>
            <a:r>
              <a:rPr sz="900" b="0">
                <a:solidFill>
                  <a:srgbClr val="2B2F36"/>
                </a:solidFill>
                <a:latin typeface="微软雅黑"/>
              </a:rPr>
              <a:t>▲ 误区：直接共享全局列表传数据——裸列表非线程安全，必加锁</a:t>
            </a:r>
          </a:p>
          <a:p>
            <a:r>
              <a:rPr sz="900" b="0">
                <a:solidFill>
                  <a:srgbClr val="2B2F36"/>
                </a:solidFill>
                <a:latin typeface="微软雅黑"/>
              </a:rPr>
              <a:t>▲ 误区：裸get()死等——采集一断入库线程永久卡死成僵尸</a:t>
            </a:r>
          </a:p>
        </p:txBody>
      </p:sp>
      <p:sp>
        <p:nvSpPr>
          <p:cNvPr id="23" name="Rectangle 22"/>
          <p:cNvSpPr/>
          <p:nvPr/>
        </p:nvSpPr>
        <p:spPr>
          <a:xfrm>
            <a:off x="6144768" y="3401568"/>
            <a:ext cx="5586984" cy="1508760"/>
          </a:xfrm>
          <a:prstGeom prst="rect">
            <a:avLst/>
          </a:prstGeom>
          <a:solidFill>
            <a:srgbClr val="FFFFFF"/>
          </a:solidFill>
          <a:ln>
            <a:solidFill>
              <a:srgbClr val="D6DCE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24" name="Rectangle 23"/>
          <p:cNvSpPr/>
          <p:nvPr/>
        </p:nvSpPr>
        <p:spPr>
          <a:xfrm>
            <a:off x="6144768" y="3401568"/>
            <a:ext cx="5586984" cy="365760"/>
          </a:xfrm>
          <a:prstGeom prst="rect">
            <a:avLst/>
          </a:prstGeom>
          <a:solidFill>
            <a:srgbClr val="9A3B3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6254496" y="3438144"/>
            <a:ext cx="5367528" cy="2926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150" b="1">
                <a:solidFill>
                  <a:srgbClr val="FFFFFF"/>
                </a:solidFill>
                <a:latin typeface="微软雅黑"/>
              </a:rPr>
              <a:t>高频易错 · 动手前先记住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6309360" y="3849624"/>
            <a:ext cx="5303520" cy="9601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900" b="0">
                <a:solidFill>
                  <a:srgbClr val="2B2F36"/>
                </a:solidFill>
                <a:latin typeface="微软雅黑"/>
              </a:rPr>
              <a:t>✗ Ctrl+C退不出 → daemon=True</a:t>
            </a:r>
          </a:p>
          <a:p>
            <a:r>
              <a:rPr sz="900" b="0">
                <a:solidFill>
                  <a:srgbClr val="2B2F36"/>
                </a:solidFill>
                <a:latin typeface="微软雅黑"/>
              </a:rPr>
              <a:t>✗ Queue满卡死 → put(timeout=1)+丢弃计数</a:t>
            </a:r>
          </a:p>
          <a:p>
            <a:r>
              <a:rPr sz="900" b="0">
                <a:solidFill>
                  <a:srgbClr val="2B2F36"/>
                </a:solidFill>
                <a:latin typeface="微软雅黑"/>
              </a:rPr>
              <a:t>✗ 线程日志混乱 → Thread(name='Modbus')</a:t>
            </a:r>
          </a:p>
        </p:txBody>
      </p:sp>
      <p:sp>
        <p:nvSpPr>
          <p:cNvPr id="27" name="Rectangle 26"/>
          <p:cNvSpPr/>
          <p:nvPr/>
        </p:nvSpPr>
        <p:spPr>
          <a:xfrm>
            <a:off x="457200" y="5047488"/>
            <a:ext cx="11274552" cy="1207008"/>
          </a:xfrm>
          <a:prstGeom prst="rect">
            <a:avLst/>
          </a:prstGeom>
          <a:solidFill>
            <a:srgbClr val="FFFFFF"/>
          </a:solidFill>
          <a:ln>
            <a:solidFill>
              <a:srgbClr val="D6DCE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28" name="Rectangle 27"/>
          <p:cNvSpPr/>
          <p:nvPr/>
        </p:nvSpPr>
        <p:spPr>
          <a:xfrm>
            <a:off x="457200" y="5047488"/>
            <a:ext cx="11274552" cy="365760"/>
          </a:xfrm>
          <a:prstGeom prst="rect">
            <a:avLst/>
          </a:prstGeom>
          <a:solidFill>
            <a:srgbClr val="2E7D4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29" name="TextBox 28"/>
          <p:cNvSpPr txBox="1"/>
          <p:nvPr/>
        </p:nvSpPr>
        <p:spPr>
          <a:xfrm>
            <a:off x="566928" y="5084064"/>
            <a:ext cx="11055096" cy="2926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150" b="1">
                <a:solidFill>
                  <a:srgbClr val="FFFFFF"/>
                </a:solidFill>
                <a:latin typeface="微软雅黑"/>
              </a:rPr>
              <a:t>达标自问 · 学没学会，问自己这四句（当堂评分同口径）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621792" y="5458968"/>
            <a:ext cx="10972800" cy="76809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900" b="0">
                <a:solidFill>
                  <a:srgbClr val="2B2F36"/>
                </a:solidFill>
                <a:latin typeface="微软雅黑"/>
              </a:rPr>
              <a:t>① 及格线我能过吗——三源贯通+无丢失+系统文档</a:t>
            </a:r>
          </a:p>
          <a:p>
            <a:r>
              <a:rPr sz="900" b="0">
                <a:solidFill>
                  <a:srgbClr val="2B2F36"/>
                </a:solidFill>
                <a:latin typeface="微软雅黑"/>
              </a:rPr>
              <a:t>② 优秀线我够吗——≥99.5%+延迟&lt;100ms+线程安全设计</a:t>
            </a:r>
          </a:p>
          <a:p>
            <a:r>
              <a:rPr sz="900" b="0">
                <a:solidFill>
                  <a:srgbClr val="2B2F36"/>
                </a:solidFill>
                <a:latin typeface="微软雅黑"/>
              </a:rPr>
              <a:t>③ 技能点我能独立做出来吗——三线程骨架贯通(采集/订阅/处理)；断线重连实测(2号PLC掉线)</a:t>
            </a:r>
          </a:p>
          <a:p>
            <a:r>
              <a:rPr sz="900" b="0">
                <a:solidFill>
                  <a:srgbClr val="2B2F36"/>
                </a:solidFill>
                <a:latin typeface="微软雅黑"/>
              </a:rPr>
              <a:t>④ 报错了先查「常见错误速查」页再举手——错误信息逐字读一遍，八成自己能修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457200" y="6281928"/>
            <a:ext cx="96012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750" b="0">
                <a:solidFill>
                  <a:srgbClr val="6B7280"/>
                </a:solidFill>
                <a:latin typeface="微软雅黑"/>
              </a:rPr>
              <a:t>素材来源：同周《第11次课-让程序同时听三个PLC…》知识卡与避坑清单（逐字摘录）</a:t>
            </a:r>
          </a:p>
        </p:txBody>
      </p:sp>
    </p:spTree>
  </p:cSld>
  <p:clrMapOvr>
    <a:masterClrMapping/>
  </p:clrMapOvr>
</p:sld>
</file>

<file path=ppt/slides/slide1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1150000"/>
          </a:xfrm>
          <a:prstGeom prst="rect">
            <a:avLst/>
          </a:prstGeom>
          <a:solidFill>
            <a:srgbClr val="01032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1150000"/>
            <a:ext cx="2600000" cy="7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00000" y="300000"/>
            <a:ext cx="10792000" cy="7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2400" b="1">
                <a:solidFill>
                  <a:srgbClr val="FFFFFF"/>
                </a:solidFill>
                <a:latin typeface="微软雅黑"/>
              </a:rPr>
              <a:t>难点逐个击破 · 零基础照做就能会</a:t>
            </a:r>
          </a:p>
        </p:txBody>
      </p:sp>
      <p:sp>
        <p:nvSpPr>
          <p:cNvPr id="11" name="Rectangle 10"/>
          <p:cNvSpPr/>
          <p:nvPr/>
        </p:nvSpPr>
        <p:spPr>
          <a:xfrm>
            <a:off x="500000" y="6500000"/>
            <a:ext cx="11100000" cy="20000"/>
          </a:xfrm>
          <a:prstGeom prst="rect">
            <a:avLst/>
          </a:prstGeom>
          <a:solidFill>
            <a:srgbClr val="C9D4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500000" y="6540000"/>
            <a:ext cx="7000000" cy="3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000" b="0">
                <a:solidFill>
                  <a:srgbClr val="8A97B5"/>
                </a:solidFill>
                <a:latin typeface="微软雅黑"/>
              </a:rPr>
              <a:t>两江智造集团 · Python程序设计（项目实战）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0600000" y="6540000"/>
            <a:ext cx="1000000" cy="3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lnSpc>
                <a:spcPct val="110000"/>
              </a:lnSpc>
              <a:spcAft>
                <a:spcPts val="600"/>
              </a:spcAft>
            </a:pPr>
            <a:r>
              <a:rPr sz="1000" b="0">
                <a:solidFill>
                  <a:srgbClr val="8A97B5"/>
                </a:solidFill>
                <a:latin typeface="微软雅黑"/>
              </a:rPr>
              <a:t>6 / 20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457200" y="1389888"/>
            <a:ext cx="11274552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050" b="0">
                <a:solidFill>
                  <a:srgbClr val="6B7280"/>
                </a:solidFill>
                <a:latin typeface="微软雅黑"/>
              </a:rPr>
              <a:t>每个难点四步走：先看「为什么容易栽」对号入座 → 记住「一招破解」→ 照「动手验证」做一遍 → 做不出回知识详解页。</a:t>
            </a:r>
          </a:p>
        </p:txBody>
      </p:sp>
      <p:sp>
        <p:nvSpPr>
          <p:cNvPr id="15" name="Rectangle 14"/>
          <p:cNvSpPr/>
          <p:nvPr/>
        </p:nvSpPr>
        <p:spPr>
          <a:xfrm>
            <a:off x="457200" y="1783080"/>
            <a:ext cx="11274552" cy="1481328"/>
          </a:xfrm>
          <a:prstGeom prst="rect">
            <a:avLst/>
          </a:prstGeom>
          <a:solidFill>
            <a:srgbClr val="F7F9FC"/>
          </a:solidFill>
          <a:ln>
            <a:solidFill>
              <a:srgbClr val="D6DCE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6" name="Rectangle 15"/>
          <p:cNvSpPr/>
          <p:nvPr/>
        </p:nvSpPr>
        <p:spPr>
          <a:xfrm>
            <a:off x="457200" y="1783080"/>
            <a:ext cx="82296" cy="1481328"/>
          </a:xfrm>
          <a:prstGeom prst="rect">
            <a:avLst/>
          </a:prstGeom>
          <a:solidFill>
            <a:srgbClr val="8A4B2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658368" y="1828800"/>
            <a:ext cx="109728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100" b="1">
                <a:solidFill>
                  <a:srgbClr val="8A4B2D"/>
                </a:solidFill>
                <a:latin typeface="微软雅黑"/>
              </a:rPr>
              <a:t>难点1：B01 线程并发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658368" y="2148840"/>
            <a:ext cx="356616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900" b="1">
                <a:solidFill>
                  <a:srgbClr val="B5533A"/>
                </a:solidFill>
                <a:latin typeface="微软雅黑"/>
              </a:rPr>
              <a:t>为什么容易栽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658368" y="2386584"/>
            <a:ext cx="3584448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850" b="0">
                <a:solidFill>
                  <a:srgbClr val="2B2F36"/>
                </a:solidFill>
                <a:latin typeface="微软雅黑"/>
              </a:rPr>
              <a:t>误区：以为多线程必然更快——GIL下CPU密集不加速，IO密集才香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4334255" y="2148840"/>
            <a:ext cx="356616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900" b="1">
                <a:solidFill>
                  <a:srgbClr val="2E7D46"/>
                </a:solidFill>
                <a:latin typeface="微软雅黑"/>
              </a:rPr>
              <a:t>一招破解（记住这句）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4334255" y="2386584"/>
            <a:ext cx="3584448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850" b="0">
                <a:solidFill>
                  <a:srgbClr val="2B2F36"/>
                </a:solidFill>
                <a:latin typeface="微软雅黑"/>
              </a:rPr>
              <a:t>线程=车间三条传送带同时转：采集/处理/入库互不挡道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8010143" y="2148840"/>
            <a:ext cx="356616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900" b="1">
                <a:solidFill>
                  <a:srgbClr val="35506E"/>
                </a:solidFill>
                <a:latin typeface="微软雅黑"/>
              </a:rPr>
              <a:t>动手验证（照做一遍）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8010143" y="2386584"/>
            <a:ext cx="3584448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850" b="0">
                <a:solidFill>
                  <a:srgbClr val="2B2F36"/>
                </a:solidFill>
                <a:latin typeface="微软雅黑"/>
              </a:rPr>
              <a:t>采集不能被入库阻塞——三线程并行是主链路 t = threading.Thread(target=worker); t.start()</a:t>
            </a:r>
          </a:p>
        </p:txBody>
      </p:sp>
      <p:sp>
        <p:nvSpPr>
          <p:cNvPr id="24" name="Rectangle 23"/>
          <p:cNvSpPr/>
          <p:nvPr/>
        </p:nvSpPr>
        <p:spPr>
          <a:xfrm>
            <a:off x="457200" y="3383280"/>
            <a:ext cx="11274552" cy="1481328"/>
          </a:xfrm>
          <a:prstGeom prst="rect">
            <a:avLst/>
          </a:prstGeom>
          <a:solidFill>
            <a:srgbClr val="F7F9FC"/>
          </a:solidFill>
          <a:ln>
            <a:solidFill>
              <a:srgbClr val="D6DCE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25" name="Rectangle 24"/>
          <p:cNvSpPr/>
          <p:nvPr/>
        </p:nvSpPr>
        <p:spPr>
          <a:xfrm>
            <a:off x="457200" y="3383280"/>
            <a:ext cx="82296" cy="1481328"/>
          </a:xfrm>
          <a:prstGeom prst="rect">
            <a:avLst/>
          </a:prstGeom>
          <a:solidFill>
            <a:srgbClr val="8A4B2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26" name="TextBox 25"/>
          <p:cNvSpPr txBox="1"/>
          <p:nvPr/>
        </p:nvSpPr>
        <p:spPr>
          <a:xfrm>
            <a:off x="658368" y="3429000"/>
            <a:ext cx="109728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100" b="1">
                <a:solidFill>
                  <a:srgbClr val="8A4B2D"/>
                </a:solidFill>
                <a:latin typeface="微软雅黑"/>
              </a:rPr>
              <a:t>难点2：B02 Queue传送带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658368" y="3749040"/>
            <a:ext cx="356616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900" b="1">
                <a:solidFill>
                  <a:srgbClr val="B5533A"/>
                </a:solidFill>
                <a:latin typeface="微软雅黑"/>
              </a:rPr>
              <a:t>为什么容易栽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658368" y="3986784"/>
            <a:ext cx="3584448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850" b="0">
                <a:solidFill>
                  <a:srgbClr val="2B2F36"/>
                </a:solidFill>
                <a:latin typeface="微软雅黑"/>
              </a:rPr>
              <a:t>误区：直接共享全局列表传数据——裸列表非线程安全，必加锁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4334255" y="3749040"/>
            <a:ext cx="356616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900" b="1">
                <a:solidFill>
                  <a:srgbClr val="2E7D46"/>
                </a:solidFill>
                <a:latin typeface="微软雅黑"/>
              </a:rPr>
              <a:t>一招破解（记住这句）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4334255" y="3986784"/>
            <a:ext cx="3584448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850" b="0">
                <a:solidFill>
                  <a:srgbClr val="2B2F36"/>
                </a:solidFill>
                <a:latin typeface="微软雅黑"/>
              </a:rPr>
              <a:t>queue.Queue=自带保险锁的传送带——线程间传数据不丢不撞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8010143" y="3749040"/>
            <a:ext cx="356616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900" b="1">
                <a:solidFill>
                  <a:srgbClr val="35506E"/>
                </a:solidFill>
                <a:latin typeface="微软雅黑"/>
              </a:rPr>
              <a:t>动手验证（照做一遍）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8010143" y="3986784"/>
            <a:ext cx="3584448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850" b="0">
                <a:solidFill>
                  <a:srgbClr val="2B2F36"/>
                </a:solidFill>
                <a:latin typeface="微软雅黑"/>
              </a:rPr>
              <a:t>采集线程与入库线程解耦——快慢各干各的 q.put(row) / row = q.get(timeout=3)</a:t>
            </a:r>
          </a:p>
        </p:txBody>
      </p:sp>
      <p:sp>
        <p:nvSpPr>
          <p:cNvPr id="33" name="Rectangle 32"/>
          <p:cNvSpPr/>
          <p:nvPr/>
        </p:nvSpPr>
        <p:spPr>
          <a:xfrm>
            <a:off x="457200" y="4983480"/>
            <a:ext cx="11274552" cy="1481328"/>
          </a:xfrm>
          <a:prstGeom prst="rect">
            <a:avLst/>
          </a:prstGeom>
          <a:solidFill>
            <a:srgbClr val="F7F9FC"/>
          </a:solidFill>
          <a:ln>
            <a:solidFill>
              <a:srgbClr val="D6DCE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34" name="Rectangle 33"/>
          <p:cNvSpPr/>
          <p:nvPr/>
        </p:nvSpPr>
        <p:spPr>
          <a:xfrm>
            <a:off x="457200" y="4983480"/>
            <a:ext cx="82296" cy="1481328"/>
          </a:xfrm>
          <a:prstGeom prst="rect">
            <a:avLst/>
          </a:prstGeom>
          <a:solidFill>
            <a:srgbClr val="8A4B2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35" name="TextBox 34"/>
          <p:cNvSpPr txBox="1"/>
          <p:nvPr/>
        </p:nvSpPr>
        <p:spPr>
          <a:xfrm>
            <a:off x="658368" y="5029200"/>
            <a:ext cx="109728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100" b="1">
                <a:solidFill>
                  <a:srgbClr val="8A4B2D"/>
                </a:solidFill>
                <a:latin typeface="微软雅黑"/>
              </a:rPr>
              <a:t>难点3：B03 get超时防死等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658368" y="5349240"/>
            <a:ext cx="356616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900" b="1">
                <a:solidFill>
                  <a:srgbClr val="B5533A"/>
                </a:solidFill>
                <a:latin typeface="微软雅黑"/>
              </a:rPr>
              <a:t>为什么容易栽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658368" y="5586984"/>
            <a:ext cx="3584448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850" b="0">
                <a:solidFill>
                  <a:srgbClr val="2B2F36"/>
                </a:solidFill>
                <a:latin typeface="微软雅黑"/>
              </a:rPr>
              <a:t>误区：裸get()死等——采集一断入库线程永久卡死成僵尸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4334255" y="5349240"/>
            <a:ext cx="356616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900" b="1">
                <a:solidFill>
                  <a:srgbClr val="2E7D46"/>
                </a:solidFill>
                <a:latin typeface="微软雅黑"/>
              </a:rPr>
              <a:t>一招破解（记住这句）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4334255" y="5586984"/>
            <a:ext cx="3584448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850" b="0">
                <a:solidFill>
                  <a:srgbClr val="2B2F36"/>
                </a:solidFill>
                <a:latin typeface="微软雅黑"/>
              </a:rPr>
              <a:t>get(timeout)=传送带空转3秒就检查——不给死等机会</a:t>
            </a:r>
          </a:p>
        </p:txBody>
      </p:sp>
      <p:sp>
        <p:nvSpPr>
          <p:cNvPr id="40" name="TextBox 39"/>
          <p:cNvSpPr txBox="1"/>
          <p:nvPr/>
        </p:nvSpPr>
        <p:spPr>
          <a:xfrm>
            <a:off x="8010143" y="5349240"/>
            <a:ext cx="356616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900" b="1">
                <a:solidFill>
                  <a:srgbClr val="35506E"/>
                </a:solidFill>
                <a:latin typeface="微软雅黑"/>
              </a:rPr>
              <a:t>动手验证（照做一遍）</a:t>
            </a:r>
          </a:p>
        </p:txBody>
      </p:sp>
      <p:sp>
        <p:nvSpPr>
          <p:cNvPr id="41" name="TextBox 40"/>
          <p:cNvSpPr txBox="1"/>
          <p:nvPr/>
        </p:nvSpPr>
        <p:spPr>
          <a:xfrm>
            <a:off x="8010143" y="5586984"/>
            <a:ext cx="3584448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850" b="0">
                <a:solidFill>
                  <a:srgbClr val="2B2F36"/>
                </a:solidFill>
                <a:latin typeface="微软雅黑"/>
              </a:rPr>
              <a:t>采集断流时入库线程能检查退出标志 try: row=q.get(timeout=3) except Empty: continue</a:t>
            </a:r>
          </a:p>
        </p:txBody>
      </p:sp>
    </p:spTree>
  </p:cSld>
  <p:clrMapOvr>
    <a:masterClrMapping/>
  </p:clrMapOvr>
</p:sld>
</file>

<file path=ppt/slides/slide2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1150000"/>
          </a:xfrm>
          <a:prstGeom prst="rect">
            <a:avLst/>
          </a:prstGeom>
          <a:solidFill>
            <a:srgbClr val="01032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1150000"/>
            <a:ext cx="2600000" cy="7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00000" y="300000"/>
            <a:ext cx="10792000" cy="7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2400" b="1">
                <a:solidFill>
                  <a:srgbClr val="FFFFFF"/>
                </a:solidFill>
                <a:latin typeface="微软雅黑"/>
              </a:rPr>
              <a:t>承上启下 · 动手前避坑清单</a:t>
            </a:r>
          </a:p>
        </p:txBody>
      </p:sp>
      <p:sp>
        <p:nvSpPr>
          <p:cNvPr id="11" name="Rectangle 10"/>
          <p:cNvSpPr/>
          <p:nvPr/>
        </p:nvSpPr>
        <p:spPr>
          <a:xfrm>
            <a:off x="500000" y="6500000"/>
            <a:ext cx="11100000" cy="20000"/>
          </a:xfrm>
          <a:prstGeom prst="rect">
            <a:avLst/>
          </a:prstGeom>
          <a:solidFill>
            <a:srgbClr val="C9D4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500000" y="6540000"/>
            <a:ext cx="7000000" cy="3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000" b="0">
                <a:solidFill>
                  <a:srgbClr val="8A97B5"/>
                </a:solidFill>
                <a:latin typeface="微软雅黑"/>
              </a:rPr>
              <a:t>两江智造集团 · Python程序设计（项目实战）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0600000" y="6540000"/>
            <a:ext cx="1000000" cy="3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lnSpc>
                <a:spcPct val="110000"/>
              </a:lnSpc>
              <a:spcAft>
                <a:spcPts val="600"/>
              </a:spcAft>
            </a:pPr>
            <a:r>
              <a:rPr sz="1000" b="0">
                <a:solidFill>
                  <a:srgbClr val="8A97B5"/>
                </a:solidFill>
                <a:latin typeface="微软雅黑"/>
              </a:rPr>
              <a:t>7 / 20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457200" y="1389888"/>
            <a:ext cx="11274552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050" b="0">
                <a:solidFill>
                  <a:srgbClr val="6B7280"/>
                </a:solidFill>
                <a:latin typeface="微软雅黑"/>
              </a:rPr>
              <a:t>本讲是动手冲刺课：先把上周完整讲解里的高频翻车点过一遍，再开工——每条都是历届学生真实踩过的坑。</a:t>
            </a:r>
          </a:p>
        </p:txBody>
      </p:sp>
      <p:sp>
        <p:nvSpPr>
          <p:cNvPr id="15" name="Rectangle 14"/>
          <p:cNvSpPr/>
          <p:nvPr/>
        </p:nvSpPr>
        <p:spPr>
          <a:xfrm>
            <a:off x="457200" y="1783080"/>
            <a:ext cx="5532120" cy="2061972"/>
          </a:xfrm>
          <a:prstGeom prst="rect">
            <a:avLst/>
          </a:prstGeom>
          <a:solidFill>
            <a:srgbClr val="FFFFFF"/>
          </a:solidFill>
          <a:ln>
            <a:solidFill>
              <a:srgbClr val="D6DCE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6" name="Rectangle 15"/>
          <p:cNvSpPr/>
          <p:nvPr/>
        </p:nvSpPr>
        <p:spPr>
          <a:xfrm>
            <a:off x="457200" y="1783080"/>
            <a:ext cx="82296" cy="2061972"/>
          </a:xfrm>
          <a:prstGeom prst="rect">
            <a:avLst/>
          </a:prstGeom>
          <a:solidFill>
            <a:srgbClr val="9A3B3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658368" y="1847088"/>
            <a:ext cx="5166359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050" b="1">
                <a:solidFill>
                  <a:srgbClr val="B5533A"/>
                </a:solidFill>
                <a:latin typeface="微软雅黑"/>
              </a:rPr>
              <a:t>✗ Ctrl+C退不出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658368" y="2167128"/>
            <a:ext cx="5166359" cy="8686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900" b="0">
                <a:solidFill>
                  <a:srgbClr val="2B2F36"/>
                </a:solidFill>
                <a:latin typeface="微软雅黑"/>
              </a:rPr>
              <a:t>原因：没设daemon</a:t>
            </a:r>
          </a:p>
          <a:p>
            <a:r>
              <a:rPr sz="900" b="0">
                <a:solidFill>
                  <a:srgbClr val="2B2F36"/>
                </a:solidFill>
                <a:latin typeface="微软雅黑"/>
              </a:rPr>
              <a:t>✔ 解决：daemon=True</a:t>
            </a:r>
          </a:p>
        </p:txBody>
      </p:sp>
      <p:sp>
        <p:nvSpPr>
          <p:cNvPr id="19" name="Rectangle 18"/>
          <p:cNvSpPr/>
          <p:nvPr/>
        </p:nvSpPr>
        <p:spPr>
          <a:xfrm>
            <a:off x="6199632" y="1783080"/>
            <a:ext cx="5532120" cy="2061972"/>
          </a:xfrm>
          <a:prstGeom prst="rect">
            <a:avLst/>
          </a:prstGeom>
          <a:solidFill>
            <a:srgbClr val="FFFFFF"/>
          </a:solidFill>
          <a:ln>
            <a:solidFill>
              <a:srgbClr val="D6DCE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20" name="Rectangle 19"/>
          <p:cNvSpPr/>
          <p:nvPr/>
        </p:nvSpPr>
        <p:spPr>
          <a:xfrm>
            <a:off x="6199632" y="1783080"/>
            <a:ext cx="82296" cy="2061972"/>
          </a:xfrm>
          <a:prstGeom prst="rect">
            <a:avLst/>
          </a:prstGeom>
          <a:solidFill>
            <a:srgbClr val="9A3B3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6400800" y="1847088"/>
            <a:ext cx="5166359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050" b="1">
                <a:solidFill>
                  <a:srgbClr val="B5533A"/>
                </a:solidFill>
                <a:latin typeface="微软雅黑"/>
              </a:rPr>
              <a:t>✗ Queue满卡死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6400800" y="2167128"/>
            <a:ext cx="5166359" cy="8686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900" b="0">
                <a:solidFill>
                  <a:srgbClr val="2B2F36"/>
                </a:solidFill>
                <a:latin typeface="微软雅黑"/>
              </a:rPr>
              <a:t>原因：put无超时</a:t>
            </a:r>
          </a:p>
          <a:p>
            <a:r>
              <a:rPr sz="900" b="0">
                <a:solidFill>
                  <a:srgbClr val="2B2F36"/>
                </a:solidFill>
                <a:latin typeface="微软雅黑"/>
              </a:rPr>
              <a:t>✔ 解决：put(timeout=1)+丢弃计数</a:t>
            </a:r>
          </a:p>
        </p:txBody>
      </p:sp>
      <p:sp>
        <p:nvSpPr>
          <p:cNvPr id="23" name="Rectangle 22"/>
          <p:cNvSpPr/>
          <p:nvPr/>
        </p:nvSpPr>
        <p:spPr>
          <a:xfrm>
            <a:off x="457200" y="3973068"/>
            <a:ext cx="5532120" cy="2061972"/>
          </a:xfrm>
          <a:prstGeom prst="rect">
            <a:avLst/>
          </a:prstGeom>
          <a:solidFill>
            <a:srgbClr val="FFFFFF"/>
          </a:solidFill>
          <a:ln>
            <a:solidFill>
              <a:srgbClr val="D6DCE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24" name="Rectangle 23"/>
          <p:cNvSpPr/>
          <p:nvPr/>
        </p:nvSpPr>
        <p:spPr>
          <a:xfrm>
            <a:off x="457200" y="3973068"/>
            <a:ext cx="82296" cy="2061972"/>
          </a:xfrm>
          <a:prstGeom prst="rect">
            <a:avLst/>
          </a:prstGeom>
          <a:solidFill>
            <a:srgbClr val="9A3B3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658368" y="4037076"/>
            <a:ext cx="5166359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050" b="1">
                <a:solidFill>
                  <a:srgbClr val="B5533A"/>
                </a:solidFill>
                <a:latin typeface="微软雅黑"/>
              </a:rPr>
              <a:t>✗ 线程日志混乱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658368" y="4357116"/>
            <a:ext cx="5166359" cy="8686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900" b="0">
                <a:solidFill>
                  <a:srgbClr val="2B2F36"/>
                </a:solidFill>
                <a:latin typeface="微软雅黑"/>
              </a:rPr>
              <a:t>原因：无名</a:t>
            </a:r>
          </a:p>
          <a:p>
            <a:r>
              <a:rPr sz="900" b="0">
                <a:solidFill>
                  <a:srgbClr val="2B2F36"/>
                </a:solidFill>
                <a:latin typeface="微软雅黑"/>
              </a:rPr>
              <a:t>✔ 解决：Thread(name='Modbus')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457200" y="6281928"/>
            <a:ext cx="96012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750" b="0">
                <a:solidFill>
                  <a:srgbClr val="6B7280"/>
                </a:solidFill>
                <a:latin typeface="微软雅黑"/>
              </a:rPr>
              <a:t>素材来源：同周《第11次课-让程序同时听三个PLC…》知识卡与避坑清单（逐字摘录）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