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4" r:id="rId22"/>
    <p:sldId id="280" r:id="rId32"/>
    <p:sldId id="311" r:id="rId63"/>
    <p:sldId id="377" r:id="rId25"/>
    <p:sldId id="378" r:id="rId26"/>
    <p:sldId id="379" r:id="rId27"/>
    <p:sldId id="380" r:id="rId28"/>
    <p:sldId id="381" r:id="rId29"/>
    <p:sldId id="319" r:id="rId71"/>
    <p:sldId id="368" r:id="rId16"/>
    <p:sldId id="369" r:id="rId17"/>
    <p:sldId id="370" r:id="rId18"/>
    <p:sldId id="367" r:id="rId119"/>
    <p:sldId id="371" r:id="rId19"/>
    <p:sldId id="372" r:id="rId20"/>
    <p:sldId id="373" r:id="rId21"/>
    <p:sldId id="338" r:id="rId90"/>
    <p:sldId id="365" r:id="rId117"/>
    <p:sldId id="366" r:id="rId118"/>
    <p:sldId id="375" r:id="rId23"/>
    <p:sldId id="376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2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2" Type="http://schemas.openxmlformats.org/officeDocument/2006/relationships/slide" Target="slides/slide3.xml"/><Relationship Id="rId63" Type="http://schemas.openxmlformats.org/officeDocument/2006/relationships/slide" Target="slides/slide4.xml"/><Relationship Id="rId71" Type="http://schemas.openxmlformats.org/officeDocument/2006/relationships/slide" Target="slides/slide10.xml"/><Relationship Id="rId90" Type="http://schemas.openxmlformats.org/officeDocument/2006/relationships/slide" Target="slides/slide18.xml"/><Relationship Id="rId117" Type="http://schemas.openxmlformats.org/officeDocument/2006/relationships/slide" Target="slides/slide19.xml"/><Relationship Id="rId118" Type="http://schemas.openxmlformats.org/officeDocument/2006/relationships/slide" Target="slides/slide20.xml"/><Relationship Id="rId1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开场30秒：本次课《搭建多源数据采集中枢》，80分钟＝2课时×40分钟。课前已发工单+starter+微课知识卡，资讯·计划线上完成。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搭建多源数据采集中枢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搭建多源数据采集中枢（1）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系统架构：3个PLC模拟器→Modbus采集器→数据处理→存储，MQTT订阅云端指令；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模块设计：ModbusCollector/MQTTSubscriber/DataProcessor三类线程架构；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工程要点：连接超时重连、数据缓冲、单位转换、异常告警、批量入库；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工单P4.1实操：基于提供的三线程架构骨架（ModbusCollector/MQTTSubscriber/DataProcessor模板），聚焦协议集成与可靠性开发，完成多源工业数据采集与消息中间件系统（采集率≥95%，吞吐≥1000条/秒）。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线程并发｜线程=车间三条传送带同时转：采集/处理/入库互不挡道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Queue传送带｜queue.Queue=自带保险锁的传送带——线程间传数据不丢不撞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get超时防死等｜get(timeout)=传送带空转3秒就检查——不给死等机会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退避重试｜指数退避=敲门礼仪：1s没应等2s再4s——封顶8s不轰炸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daemon守护线程｜daemon=True=随主灯灭的值夜班——主程序退出它跟着退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对账公式｜对账=钱货两清：源计数=入库+异常+丢弃，一条不差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误区：以为多线程必然更快——GIL下CPU密集不加速，IO密集才香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误区：直接共享全局列表传数据——裸列表非线程安全，必加锁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误区：裸get()死等——采集一断入库线程永久卡死成僵尸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Ctrl+C退不出 → daemon=True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Queue满卡死 → put(timeout=1)+丢弃计数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线程日志混乱 → Thread(name='Modbus')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及格线我能过吗——三源贯通+无丢失+系统文档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优秀线我够吗——≥99.5%+延迟&lt;100ms+线程安全设计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技能点我能独立做出来吗——三线程骨架贯通(采集/订阅/处理)；断线重连实测(2号PLC掉线)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素材来源：同周《第11次课-让程序同时听三个PLC…》知识卡与避坑清单（逐字摘录）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线程并发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误区：以为多线程必然更快——GIL下CPU密集不加速，IO密集才香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线程=车间三条传送带同时转：采集/处理/入库互不挡道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采集不能被入库阻塞——三线程并行是主链路 t = threading.Thread(target=worker); t.start()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Queue传送带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误区：直接共享全局列表传数据——裸列表非线程安全，必加锁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queue.Queue=自带保险锁的传送带——线程间传数据不丢不撞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采集线程与入库线程解耦——快慢各干各的 q.put(row) / row = q.get(timeout=3)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get超时防死等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误区：裸get()死等——采集一断入库线程永久卡死成僵尸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get(timeout)=传送带空转3秒就检查——不给死等机会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采集断流时入库线程能检查退出标志 try: row=q.get(timeout=3) except Empty: continue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Ctrl+C退不出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原因：没设daemon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解决：daemon=True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Queue满卡死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原因：put无超时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解决：put(timeout=1)+丢弃计数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线程日志混乱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原因：无名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解决：Thread(name='Modbus')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素材来源：同周《第11次课-让程序同时听三个PLC…》知识卡与避坑清单（逐字摘录）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线程并发｜线程=车间三条传送带同时转：采集/处理/入库互不挡道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Queue传送带｜queue.Queue=自带保险锁的传送带——线程间传数据不丢不撞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get超时防死等｜get(timeout)=传送带空转3秒就检查——不给死等机会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退避重试｜指数退避=敲门礼仪：1s没应等2s再4s——封顶8s不轰炸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daemon守护线程｜daemon=True=随主灯灭的值夜班——主程序退出它跟着退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对账公式｜对账=钱货两清：源计数=入库+异常+丢弃，一条不差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及格(D)：三源贯通+无丢失+系统文档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优秀(B+)：≥99.5%+延迟&lt;100ms+线程安全设计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daemon=True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put(timeout=1)+丢弃计数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Thread(name='Modbus')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素材来源：同周《第11次课-让程序同时听三个PLC…》知识卡与避坑清单（逐字摘录）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主题：四表ER设计与ORM建模——应用：见工单star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预习快问：一对多关系在表结构上如何表达？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MQTTSubscriber订阅device/+/status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Processor去重+告警+SQLite批量入库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30秒统计输出采集率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三源贯通+无丢失+系统文档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≥99.5%+延迟&lt;100ms+线程安全设计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工程化代码：可靠性抽成可测纯函数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core.py —— transport 可注入 · 零 IO 纯函数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# 采集中枢: 读数 / 还原 / 对账恒等式 / 指数退避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read(transport, src):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[transport(src) for _ in range(int(src.get("n", 3)))]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restore(raw, scale):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if scale &lt;= 0: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raise ValueError("scale 必须为正")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[v / scale for v in raw]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reconcile(batches, flat):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sb = sum(sum(b) for b in batches)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sf = sum(flat)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abs(sb - sf) &lt; 1e-9, round(sb - sf, 9)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def sleep_with(base, attempt):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return base * (2 ** attempt)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工程化设计：规则外置 —— 改配置不改代码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B侧 · 第三种代码形态 · 企业级分层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为什么外置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阈值/批量/轮次/数据源全在 config/rules.yaml——业务规则与代码分离，改一处不动逻辑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收益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二次运行结果一致(种子固定)；配置修改不需重编译/重分发——现场调参即改即用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warn:80  danger:95  batch:3  rounds:4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backoff:0.01  unit:'c'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sources:  PLC1:5020 scale=10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      PLC2:5021 scale=1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设计要点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config.py 用 YAML 加载 + yaml_lite 兜底；非法阈值(顺序颠倒)启动即校验并拒绝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工程化测试：单测怎么证可靠（GB/T 15532）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测试计划与报告 · pytest 三层策略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纯函数单测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复现: python -m pytest -q ｜ 用例≥6 全绿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按 正常/边界/异常 三档覆盖——可靠性是被测出来的，不是写在注释里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用例清单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TC-01 还原: 250/scale=10 → 25.0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TC-02/03 对账: 一致→True / 不一致→False</a:t>
            </a: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TC-04 异常: scale&lt;=0 → ValueError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# core 零 IO 纯函数，transport 可注入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#   → 单测不用连真PLC，确定性可复现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# test_core.py / test_config.py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#   正常 / 边界 / 异常 三档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GB/T 15532 三层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单元(纯函数) / 集成(pipeline端到端) / 回归(pytest -q 全量)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缺陷记录: 本轮无遗留；退出码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22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P4.1 采集中枢完成态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三源并发采集正常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对账公式恒等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断线重连+退避生效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SQLite 落库无缺口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p41_collector_hub：本次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15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916686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三源数据贯通；采集率&gt;95%；无数据丢失；系统文档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31803" y="1645920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31803" y="1645920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3/3 源各有成功读数｜默认链路采集率 97.22%（工单线 &gt;95.00%）｜重连上限抬到 4 次的零丢弃链路: 成功 36 丢弃 0｜成功+丢弃=计划恒等 通过｜docs/ 有效过程文档 8 篇（≥8 且每篇 &gt;200B）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535174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535174"/>
            <a:ext cx="54864" cy="916686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617470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174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599182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断线重连实测通过；统计输出准确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31803" y="2626614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1803" y="2626614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882646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同一份故障注入下不重连丢 3 条 → 重连丢 1 条（重连 7 次、挽回 2 条）｜分源计划之和 36 = 总计划 36｜计数自洽（调用=成功+丢弃+重试）通过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515868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515868"/>
            <a:ext cx="54864" cy="916686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598163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598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579875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采集率≥99.5%；延迟&lt;100ms；线程安全(无共享可变状态)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31803" y="3607308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1803" y="3607308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63339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取重连最多的零丢弃链路（最保守）采集率 100.00% ≥ 99.50%｜平均延迟 22.28ms/条 &lt; 100.00ms｜AST 扫描 core.py 模块级可变全局 0 个（无跨线程共享的可变对象）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496562"/>
            <a:ext cx="11237976" cy="91668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496562"/>
            <a:ext cx="54864" cy="91668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57885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57885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560570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优秀+故障自动转移/主从切换或性能监控小面板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31803" y="4588001"/>
            <a:ext cx="453644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1803" y="4588001"/>
            <a:ext cx="4536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达标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44033"/>
            <a:ext cx="10671047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三链路对照即监控面板（不重连 / 重连默认 3 次 / 零丢弃 4 次），每条链路的计划-成功-丢弃-重试-调用-延迟六个计数各自自洽 通过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5"/>
            <a:ext cx="11237976" cy="941832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5"/>
            <a:ext cx="54864" cy="9418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7"/>
            <a:ext cx="10908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出处：工程化项目/p41_collector_hub/output/report.txt 第 36 节「工单验收四档对照」——本机 2026-10-28 05:08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工程化项目/p41_collector_hub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16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41_collector_hub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048196"/>
            <a:ext cx="11237976" cy="33376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422451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p41_collector_hub：工单验收四档对照 第 36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P4.1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17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上：p41_collector_hub 分层达标逐字输出（见上一页）｜下：pytest 全量实跑（退出码 0，全绿）</a:t>
            </a:r>
          </a:p>
        </p:txBody>
      </p:sp>
      <p:pic>
        <p:nvPicPr>
          <p:cNvPr id="12" name="Picture 11" descr="p41_collector_hub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72" y="1792224"/>
            <a:ext cx="9996406" cy="2169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399802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分层达标（第 44 行起）：四档逐字原文，未改写</a:t>
            </a:r>
          </a:p>
        </p:txBody>
      </p:sp>
      <p:pic>
        <p:nvPicPr>
          <p:cNvPr id="14" name="Picture 13" descr="p41_collector_hub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72" y="4272340"/>
            <a:ext cx="9996406" cy="13695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pytest：47 passed in 0.28s（本机实跑，非示例）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