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6" r:id="rId73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3" r:id="rId45"/>
    <p:sldId id="295" r:id="rId47"/>
    <p:sldId id="297" r:id="rId49"/>
    <p:sldId id="298" r:id="rId50"/>
    <p:sldId id="300" r:id="rId52"/>
    <p:sldId id="301" r:id="rId53"/>
    <p:sldId id="305" r:id="rId57"/>
    <p:sldId id="307" r:id="rId59"/>
    <p:sldId id="308" r:id="rId60"/>
    <p:sldId id="312" r:id="rId64"/>
    <p:sldId id="313" r:id="rId65"/>
    <p:sldId id="314" r:id="rId66"/>
    <p:sldId id="369" r:id="rId61"/>
    <p:sldId id="370" r:id="rId58"/>
    <p:sldId id="315" r:id="rId67"/>
    <p:sldId id="316" r:id="rId68"/>
    <p:sldId id="318" r:id="rId70"/>
    <p:sldId id="320" r:id="rId72"/>
    <p:sldId id="322" r:id="rId74"/>
    <p:sldId id="324" r:id="rId76"/>
    <p:sldId id="325" r:id="rId77"/>
    <p:sldId id="327" r:id="rId79"/>
    <p:sldId id="328" r:id="rId80"/>
    <p:sldId id="329" r:id="rId81"/>
    <p:sldId id="331" r:id="rId83"/>
    <p:sldId id="332" r:id="rId84"/>
    <p:sldId id="363" r:id="rId69"/>
    <p:sldId id="371" r:id="rId78"/>
    <p:sldId id="364" r:id="rId71"/>
    <p:sldId id="365" r:id="rId6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1" r:id="rId93"/>
    <p:sldId id="342" r:id="rId94"/>
    <p:sldId id="343" r:id="rId95"/>
    <p:sldId id="350" r:id="rId102"/>
    <p:sldId id="355" r:id="rId107"/>
    <p:sldId id="356" r:id="rId108"/>
    <p:sldId id="357" r:id="rId109"/>
    <p:sldId id="361" r:id="rId113"/>
    <p:sldId id="362" r:id="rId114"/>
    <p:sldId id="367" r:id="rId62"/>
    <p:sldId id="368" r:id="rId7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3" Type="http://schemas.openxmlformats.org/officeDocument/2006/relationships/slide" Target="slides/slide23.xml"/><Relationship Id="rId45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0" Type="http://schemas.openxmlformats.org/officeDocument/2006/relationships/slide" Target="slides/slide27.xml"/><Relationship Id="rId52" Type="http://schemas.openxmlformats.org/officeDocument/2006/relationships/slide" Target="slides/slide28.xml"/><Relationship Id="rId53" Type="http://schemas.openxmlformats.org/officeDocument/2006/relationships/slide" Target="slides/slide29.xml"/><Relationship Id="rId57" Type="http://schemas.openxmlformats.org/officeDocument/2006/relationships/slide" Target="slides/slide30.xml"/><Relationship Id="rId58" Type="http://schemas.openxmlformats.org/officeDocument/2006/relationships/slide" Target="slides/slide37.xml"/><Relationship Id="rId59" Type="http://schemas.openxmlformats.org/officeDocument/2006/relationships/slide" Target="slides/slide31.xml"/><Relationship Id="rId60" Type="http://schemas.openxmlformats.org/officeDocument/2006/relationships/slide" Target="slides/slide32.xml"/><Relationship Id="rId61" Type="http://schemas.openxmlformats.org/officeDocument/2006/relationships/slide" Target="slides/slide36.xml"/><Relationship Id="rId62" Type="http://schemas.openxmlformats.org/officeDocument/2006/relationships/slide" Target="slides/slide69.xml"/><Relationship Id="rId63" Type="http://schemas.openxmlformats.org/officeDocument/2006/relationships/slide" Target="slides/slide5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8.xml"/><Relationship Id="rId68" Type="http://schemas.openxmlformats.org/officeDocument/2006/relationships/slide" Target="slides/slide39.xml"/><Relationship Id="rId69" Type="http://schemas.openxmlformats.org/officeDocument/2006/relationships/slide" Target="slides/slide50.xml"/><Relationship Id="rId70" Type="http://schemas.openxmlformats.org/officeDocument/2006/relationships/slide" Target="slides/slide40.xml"/><Relationship Id="rId71" Type="http://schemas.openxmlformats.org/officeDocument/2006/relationships/slide" Target="slides/slide51.xml"/><Relationship Id="rId72" Type="http://schemas.openxmlformats.org/officeDocument/2006/relationships/slide" Target="slides/slide41.xml"/><Relationship Id="rId73" Type="http://schemas.openxmlformats.org/officeDocument/2006/relationships/slide" Target="slides/slide2.xml"/><Relationship Id="rId74" Type="http://schemas.openxmlformats.org/officeDocument/2006/relationships/slide" Target="slides/slide42.xml"/><Relationship Id="rId75" Type="http://schemas.openxmlformats.org/officeDocument/2006/relationships/slide" Target="slides/slide70.xml"/><Relationship Id="rId76" Type="http://schemas.openxmlformats.org/officeDocument/2006/relationships/slide" Target="slides/slide43.xml"/><Relationship Id="rId77" Type="http://schemas.openxmlformats.org/officeDocument/2006/relationships/slide" Target="slides/slide44.xml"/><Relationship Id="rId78" Type="http://schemas.openxmlformats.org/officeDocument/2006/relationships/slide" Target="slides/slide71.xml"/><Relationship Id="rId79" Type="http://schemas.openxmlformats.org/officeDocument/2006/relationships/slide" Target="slides/slide45.xml"/><Relationship Id="rId80" Type="http://schemas.openxmlformats.org/officeDocument/2006/relationships/slide" Target="slides/slide46.xml"/><Relationship Id="rId81" Type="http://schemas.openxmlformats.org/officeDocument/2006/relationships/slide" Target="slides/slide47.xml"/><Relationship Id="rId83" Type="http://schemas.openxmlformats.org/officeDocument/2006/relationships/slide" Target="slides/slide48.xml"/><Relationship Id="rId84" Type="http://schemas.openxmlformats.org/officeDocument/2006/relationships/slide" Target="slides/slide49.xml"/><Relationship Id="rId85" Type="http://schemas.openxmlformats.org/officeDocument/2006/relationships/slide" Target="slides/slide53.xml"/><Relationship Id="rId86" Type="http://schemas.openxmlformats.org/officeDocument/2006/relationships/slide" Target="slides/slide54.xml"/><Relationship Id="rId87" Type="http://schemas.openxmlformats.org/officeDocument/2006/relationships/slide" Target="slides/slide55.xml"/><Relationship Id="rId88" Type="http://schemas.openxmlformats.org/officeDocument/2006/relationships/slide" Target="slides/slide56.xml"/><Relationship Id="rId89" Type="http://schemas.openxmlformats.org/officeDocument/2006/relationships/slide" Target="slides/slide57.xml"/><Relationship Id="rId90" Type="http://schemas.openxmlformats.org/officeDocument/2006/relationships/slide" Target="slides/slide58.xml"/><Relationship Id="rId91" Type="http://schemas.openxmlformats.org/officeDocument/2006/relationships/slide" Target="slides/slide59.xml"/><Relationship Id="rId93" Type="http://schemas.openxmlformats.org/officeDocument/2006/relationships/slide" Target="slides/slide60.xml"/><Relationship Id="rId94" Type="http://schemas.openxmlformats.org/officeDocument/2006/relationships/slide" Target="slides/slide61.xml"/><Relationship Id="rId95" Type="http://schemas.openxmlformats.org/officeDocument/2006/relationships/slide" Target="slides/slide62.xml"/><Relationship Id="rId102" Type="http://schemas.openxmlformats.org/officeDocument/2006/relationships/slide" Target="slides/slide63.xml"/><Relationship Id="rId107" Type="http://schemas.openxmlformats.org/officeDocument/2006/relationships/slide" Target="slides/slide64.xml"/><Relationship Id="rId108" Type="http://schemas.openxmlformats.org/officeDocument/2006/relationships/slide" Target="slides/slide65.xml"/><Relationship Id="rId109" Type="http://schemas.openxmlformats.org/officeDocument/2006/relationships/slide" Target="slides/slide66.xml"/><Relationship Id="rId113" Type="http://schemas.openxmlformats.org/officeDocument/2006/relationships/slide" Target="slides/slide67.xml"/><Relationship Id="rId114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开场30秒：本次课《像企业团队一样写代码》，80分钟＝2课时×40分钟。课前已发工单+starter+微课知识卡，资讯·计划线上完成。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情境说书（30秒，口头讲，不必逐字念）：进组第一件事不是写代码。方总监下令：全组统一工程底座，'以后所有代码都长在这个模板上。'——工单P1.2：交付标准工程模板（venv+Git+目录规范），模板即资产。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详解B1·标准目录结构：先读定义→场景为什么用它→看代码实例→扩展给A层。C/D层掌握前三格，A层加扩展格。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详解B2·venv/conda沙箱：先读定义→场景为什么用它→看代码实例→扩展给A层。C/D层掌握前三格，A层加扩展格。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详解B3·Git五步工作流：先读定义→场景为什么用它→看代码实例→扩展给A层。C/D层掌握前三格，A层加扩展格。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详解B4·commit前缀：先读定义→场景为什么用它→看代码实例→扩展给A层。C/D层掌握前三格，A层加扩展格。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详解B5·pylint与black：先读定义→场景为什么用它→看代码实例→扩展给A层。C/D层掌握前三格，A层加扩展格。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详解B6·pytest自动发现：先读定义→场景为什么用它→看代码实例→扩展给A层。C/D层掌握前三格，A层加扩展格。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现场演示《规范提交》：三步走——先整段跑通看结果，再逐行讲关键语句，最后现场改一个参数看输出变化（演10分钟的核心素材）。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工单发布话术：'数字化转型办公室发来工单P1.2《标准Python工程模板》，及格线是v，优秀线看A层标准'——念完发starter。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错误速查：现场演示第一条——制造「venv被提交」，带着学生按'现象→原因→解决'三步排查。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预习知识点：PEP8规范；Git基本操作(init/add/commit) | 课中检查知识点：工程模板可运行；能git commit一次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像企业团队一样写代码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Git/GitHub（工程模板核心·五步工作流）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像企业团队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一样写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标准结构：src/tests/config/data/docs · conda环境隔离；requirements.txt冻结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Git五步：init/add/commit/branch/merge · commit前缀：feat:/fix:/docs: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 · dev分支开发与规范合并——应用：见工单starter与教师参考实现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技能线：生成标准工程模板并推Git——应用：见工单starter与教师参考实现；dev分支开发与规范合并——应用：见工单starter与教师参考实现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P1.2《标准Python工程模板》——本课工单即考核单元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目标：掌握PEP 8规范要点；掌握conda环境与requirements.txt依赖管理；掌握Git基本工作流与项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目标：能够搭建含src/tests/docs/config的标准工程模板；能够完成Git仓库初始化与规范提交；能够配置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目标：建立“代码是团队资产”的协作意识，养成规范化、可追溯的工程开发习惯。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requirements.txt的作用？conda环境为什么不必进.gitignore？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PEP8规范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Git基本操作(init/add/commit)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五题闯关全过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能conda activate pp03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题目：requirements.txt的作用？conda环境为什么不必进.gitignore？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进组第一件事不是写代码。方总监下令：全组统一工程底座，'以后所有代码都长在这个模板上。'——工单P1.2：交付标准工程模板（conda环境+Git+目录规范），模板即资产。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任务背景：进组第一件事不是写代码。方总监下令：全组统一工程底座，'以后所有代码都长在这个模板上。'——工单P1.2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掌握PEP 8规范要点；掌握conda环境与requirements.txt依赖管理；掌握Git基本工作流与项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能够搭建含src/tests/docs/config的标准工程模板；能够完成Git仓库初始化与规范提交；能够配置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知识详解：标准目录结构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标准目录结构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目录即车间布局：src生产区/tests质检区/config图纸/data原料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工程模板骨架——新项目复制即用不重搭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src/cleaner.py + tests/test_cleaner.py 成对出现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误区：全堆一个根目录——reviewer看目录就懂分层，混放=不及格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知识详解：conda环境沙箱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conda环境沙箱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conda环境=每台机器各配工具箱：A要库1.0、B要2.0互不打架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多人协作/多项目共存的版本冲突解法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conda create -n pp03 &amp;&amp; conda activate pp03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误区：不激活就pip install——装进base等于白装，命令行看前缀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知识详解：Git五步工作流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Git五步工作流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Git五步=写日记五连：clone取本子→add记→commit存→branch分册→merge合册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模板即资产：Git记录就是可追溯的开发档案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git add . &amp;&amp; git commit -m 'feat: 工程模板'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误区：一周一commit大杂烩——小步提交才能回滚到任意中间态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知识详解：commit前缀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commit前缀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前缀=提交的分类标签：feat新功能/fix修bug/docs文档/test测试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教师按前缀审贡献——message质量即工程素养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feat: 完成P1.2目录规范 + .gitignore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误区：'改了一些东西'式message=日记写'今天有事'——无法回溯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知识详解：pylint与black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pylint与black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pylint=机器质检员打分；black=自动整形师——先过机器再过人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代码审查的机器闸门——pylint≥8.5是工单硬指标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black src/ 秒级格式化；pylint src/ 出分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误区：风格争议人肉吵——交给black零讨论成本，pylint只看逻辑分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知识应用（5）：pylint评分≥8.5；black格式化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pylint评分≥8.5；black格式化。在两江智造产线上的用法：见工单starter与教师参考实现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知识详解：pytest自动发现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pytest自动发现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pytest=自动点名的考官：test_开头文件与函数自动收集执行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TDD入门——先写test_clean再写clean，测试先行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test_clean(): assert clean('脏') == '净'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误区：测试文件名不带test_前缀——pytest根本不收，跑了等于没跑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知识应用（6）：pytest自动发现test_函数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pytest自动发现test_函数。在两江智造产线上的用法：def test_clean():assert...——文件名test_开头函数自动被pytest收集运行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test_clean():assert...——文件名test_开头函数自动被pytest收集运行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dev分支开发与规范合并——应用：见工单starter与教师参考实现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配置检查工具与自动格式化——应用：见工单starter与教师参考实现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编写第一个单元测试——应用：见工单starter与教师参考实现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像企业团队一样写代码（1）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PEP 8规范详解：命名、缩进、行长、导入顺序；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conda环境与依赖管理（requirements.txt）；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Git版本控制：init、add、commit、branch、merge；GitHub/Gitea仓库使用；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commit message规范与分支策略入门。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关键代码：规范提交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-b dev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add src/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commit -m "feat: 完成数据采集模块"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main &amp;&amp; git merge 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决策：检查工具选型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严格度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自动修复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pylint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flake8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black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本课决策题：决策：检查工具选型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标准目录结构｜目录即车间布局：src生产区/tests质检区/config图纸/…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conda环境沙箱｜conda环境=每台机器各配工具箱：A要库1.0、B要2.0互不打架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Git五步工作流｜Git五步=写日记五连：clone取本子→add记→commit存…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commit前缀｜前缀=提交的分类标签：feat新功能/fix修bug/docs文档…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pylint与black｜pylint=机器质检员打分；black=自动整形师——先过机器再…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pytest自动发现｜pytest=自动点名的考官：test_开头文件与函数自动收集执行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误区：全堆一个根目录——reviewer看目录就懂分层，混放=不及格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误区：不激活就pip install——装进base等于白装，命令行看前缀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误区：一周一commit大杂烩——小步提交才能回滚到任意中间态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环境目录被提交 → 加__pycache__/（conda环境在Anacond…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全局py环境混乱 → 看终端前缀(环境名)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一次commit全部 → 小步提交带前缀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及格线我能过吗——conda环境可用+仓库+结构完整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优秀线我够吗——依赖可还原+dev分支规范合并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技能点我能独立做出来吗——生成标准工程模板并推Git；dev分支开发与规范合并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标准目录结构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误区：全堆一个根目录——reviewer看目录就懂分层，混放=不及格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目录即车间布局：src生产区/tests质检区/config图纸/data原料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工程模板骨架——新项目复制即用不重搭 src/cleaner.py + tests/test_cleaner.py 成对出现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conda环境沙箱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误区：不激活就pip install——装进base等于白装，命令行看前缀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conda环境=每台机器各配工具箱：A要库1.0、B要2.0互不打架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多人协作/多项目共存的版本冲突解法 conda create -n pp03 &amp;&amp; conda activate pp03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Git五步工作流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误区：一周一commit大杂烩——小步提交才能回滚到任意中间态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Git五步=写日记五连：clone取本子→add记→commit存→branch分册→merge合册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模板即资产：Git记录就是可追溯的开发档案 git add . &amp;&amp; git commit -m 'feat: 工程模板'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实施任务：工单P1.2《标准Python工程模板》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生成标准结构src/tests/config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conda环境+requirements+首次规范commit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dev分支创建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conda环境可用+仓库+结构完整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依赖可还原+dev分支规范合并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Git四关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闯关练习四关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每步截图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commit带说明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init到merge走通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生成模板目录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 init+首次commit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跑通main.py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结构完整可运行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模板+工具链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运行p12模板生成器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flake8+black配置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为题1写3断言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pylint≥8.5+pytest过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CI/pre-commit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GitHub Actions配置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pre-commit钩子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pylint 9+截图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Actions绿钩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配置pre-commit钩子：commit前自动black+flake8)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生成标准结构src/tests/config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conda环境+requirements+首次规范commit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dev分支创建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__pycache__必须进.gitignore（conda环境在Anaconda目录，无需提交）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commit要小步：一个功能一个commit带feat:/fix:前缀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pytest从根目录跑，导入路径用src.包名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环境目录被提交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.gitignore缺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加__pycache__/（conda环境在Anaconda目录）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全局py环境混乱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没激活conda环境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看终端前缀(环境名)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一次commit全部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小步提交带前缀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D·学徒（≥60）：Git四关——跟做保底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C·操作员（≥70）：基础模板——基础完成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B·组长（≥80）：模板+工具链——标准达成+帮带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A·师傅（≥90）：CI/pre-commit——进阶拓展+费曼讲解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步骤1：生成标准结构src/tests/config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步骤2：conda环境+requirements+首次规范commit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步骤3：dev分支创建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P1.2 p12_proj_template：本次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50 / 71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103052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1030522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conda环境激活可用+仓库初始化+结构完整+README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2681" y="1645920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2681" y="1645920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本节取证项 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62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结构完整=是（四目录 4/4、模板缺失 0、空目录 0、.pyc 0）｜README.md 已落盘 889 字节且首行为一级标题=是｜仓库初始化三连（git init / git add . / git commit -m）=是｜venv 激活命令写在 setup_venv.sh=是｜本流水线解释器位于 conda 环境目录=是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649010"/>
            <a:ext cx="11237976" cy="103052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649010"/>
            <a:ext cx="54864" cy="1030522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73130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73130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71301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检查工具配置生效；pytest通过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32681" y="2740450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32681" y="2740450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本节取证项 通过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996482"/>
            <a:ext cx="10671047" cy="62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检查工具配置：2 个钩子全部带 entry（2/2，black, flake8）｜配置要求的工具缺口 0 个｜pytest 配置 testpaths 已声明=是｜生成骨架真实加载：入口 main() 返回 0、自带 test_ 函数 3 个通过 3 个失败 0 个｜--fail-under 评分 entry 已声明=否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P1.2 工单验收四档对照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52 / 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12_proj_template_work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23437"/>
            <a:ext cx="11237976" cy="37871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647210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p12_proj_template：工单验收四档对照 第 37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P1.2 · 另一套阶梯逐字输出＋pytest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53 / 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上：p12_proj_template 分层达标逐字输出（见上一页）｜下：pytest 全量实跑（退出码 0，全绿）</a:t>
            </a:r>
          </a:p>
        </p:txBody>
      </p:sp>
      <p:pic>
        <p:nvPicPr>
          <p:cNvPr id="12" name="Picture 11" descr="p12_proj_template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98" y="1792224"/>
            <a:ext cx="7794555" cy="23149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143782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分层达标（第 49 行起）：四档逐字原文，未改写</a:t>
            </a:r>
          </a:p>
        </p:txBody>
      </p:sp>
      <p:pic>
        <p:nvPicPr>
          <p:cNvPr id="14" name="Picture 13" descr="p12_proj_template_py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198" y="4418102"/>
            <a:ext cx="7794555" cy="12237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" y="5678424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pytest：81 passed in 1.30s（本机实跑，非示例）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用模板重构P1.1练习代码并提交规范commit；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预习Pandas的Series与DataFrame概念。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P2.1 清洗管道完成态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打回单/坏行明细已输出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质量评分 ≥ 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退出码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71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2169831"/>
            <a:ext cx="4600000" cy="106033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像企业团队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一样写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标准结构：src/tests/config/data/docs · conda环境隔离；requirements.txt冻结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 · dev分支开发与规范合并——应用：见工单starter与教师参考实现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环境目录被提交 · 全局py环境混乱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requirements.txt的作用？conda环境为什么不必进.gitignore？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排错题：出现「环境目录被提交」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原因：.gitignore缺；解决：加__pycache__/（conda环境在Anaconda目录）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知识：标准结构：src/tests/confi；conda环境隔离；requirement；Git五步：init/add/commi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技能：生成标准工程模板并推Git——应用：见工单starter与教师参考实现；dev分支开发与规范合并——应用：见工单starter与教师参考实现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交付：工单P1.2《标准Python工程模板》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七步管道构建与质量自测——应用：见工单start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B/A 档续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P1.2 p12_proj_template：本次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51 / 71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743541"/>
            <a:ext cx="11237976" cy="8028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743541"/>
            <a:ext cx="54864" cy="802849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82583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82583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807549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依赖可还原（requirements完整）；dev分支规范合并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32681" y="3834981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2681" y="3834981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本节取证项 通过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091013"/>
            <a:ext cx="10671047" cy="400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运行依赖 2/2 条钉下限｜开发依赖 4/4 条钉下限｜-r 引用 requirements.txt=是｜与运行依赖重名的开发项 0 个（无）｜git branch dev=是、git checkout dev=是、--no-ff 合并=是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610398"/>
            <a:ext cx="11237976" cy="8028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610398"/>
            <a:ext cx="54864" cy="80284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692694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6926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674406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优秀+GitHub Actions CI或pre-commit钩子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32681" y="4701838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32681" y="4701838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本节取证项 通过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957870"/>
            <a:ext cx="10671047" cy="400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pre-commit 钩子文件已产出=是（声明 2 个：black, flake8）｜.github/workflows 下 CI 文件 0 个｜工单优秀(B) 档前置=成立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6"/>
            <a:ext cx="11237976" cy="941831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6"/>
            <a:ext cx="54864" cy="941831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8"/>
            <a:ext cx="10908792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出处：工程化项目/p12_proj_template/output/report.txt 第 37 节「工单验收四档对照」——本机 2026-10-28 05:06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工程化项目/p12_proj_template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