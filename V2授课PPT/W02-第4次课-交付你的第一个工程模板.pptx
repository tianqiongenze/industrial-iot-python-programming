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18"/>
    <p:sldId id="280" r:id="rId32"/>
    <p:sldId id="307" r:id="rId59"/>
    <p:sldId id="363" r:id="rId15"/>
    <p:sldId id="364" r:id="rId16"/>
    <p:sldId id="365" r:id="rId17"/>
    <p:sldId id="369" r:id="rId21"/>
    <p:sldId id="370" r:id="rId22"/>
    <p:sldId id="371" r:id="rId23"/>
    <p:sldId id="334" r:id="rId86"/>
    <p:sldId id="336" r:id="rId88"/>
    <p:sldId id="361" r:id="rId113"/>
    <p:sldId id="362" r:id="rId114"/>
    <p:sldId id="367" r:id="rId19"/>
    <p:sldId id="3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2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32" Type="http://schemas.openxmlformats.org/officeDocument/2006/relationships/slide" Target="slides/slide3.xml"/><Relationship Id="rId59" Type="http://schemas.openxmlformats.org/officeDocument/2006/relationships/slide" Target="slides/slide4.xml"/><Relationship Id="rId86" Type="http://schemas.openxmlformats.org/officeDocument/2006/relationships/slide" Target="slides/slide8.xml"/><Relationship Id="rId88" Type="http://schemas.openxmlformats.org/officeDocument/2006/relationships/slide" Target="slides/slide9.xml"/><Relationship Id="rId113" Type="http://schemas.openxmlformats.org/officeDocument/2006/relationships/slide" Target="slides/slide10.xml"/><Relationship Id="rId114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开场30秒：本次课《交付你的第一个工程模板》，80分钟＝2课时×40分钟。课前已发工单+starter+微课知识卡，资讯·计划线上完成。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情境说书（30秒，口头讲，不必逐字念）：进组第一件事不是写代码。方总监下令：全组统一工程底座，'以后所有代码都长在这个模板上。'——工单P1.2：交付标准工程模板（venv+Git+目录规范），模板即资产。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| 预习知识点：PEP8规范；Git基本操作(init/add/commit) | 课中检查知识点：工程模板可运行；能git commit一次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交付你的第一个工程模板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Git/GitHub（工程模板核心·五步工作流）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进组第一件事不是写代码。方总监下令：全组统一工程底座，'以后所有代码都长在这个模板上。'——工单P1.2：交付标准工程模板（conda环境+Git+目录规范），模板即资产。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交付你的第一个工程模板（1）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项目结构设计：src/、tests/、docs/、data/、config/目录规范；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工具链配置：PyCharm CE扩展、pylint/flake8检查、black自动格式化；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单元测试入门：pytest编写与运行；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日志系统与配置管理（settings.yaml）；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工单P1.2实操：搭建标准Python工程模板并上传Git仓库。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p12_proj_template：本次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10305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1030522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conda环境激活可用+仓库初始化+结构完整+README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62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结构完整=是（四目录 4/4、模板缺失 0、空目录 0、.pyc 0）｜README.md 已落盘 889 字节且首行为一级标题=是｜仓库初始化三连（git init / git add . / git commit -m）=是｜venv 激活命令写在 setup_venv.sh=是｜本流水线解释器位于 conda 环境目录=是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649010"/>
            <a:ext cx="11237976" cy="10305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649010"/>
            <a:ext cx="54864" cy="1030522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73130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73130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71301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检查工具配置生效；pytest通过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32681" y="274045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2681" y="274045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996482"/>
            <a:ext cx="10671047" cy="62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检查工具配置：2 个钩子全部带 entry（2/2，black, flake8）｜配置要求的工具缺口 0 个｜pytest 配置 testpaths 已声明=是｜生成骨架真实加载：入口 main() 返回 0、自带 test_ 函数 3 个通过 3 个失败 0 个｜--fail-under 评分 entry 已声明=否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743541"/>
            <a:ext cx="11237976" cy="8028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743541"/>
            <a:ext cx="54864" cy="802849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82583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82583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80754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依赖可还原（requirements完整）；dev分支规范合并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83498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83498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091013"/>
            <a:ext cx="10671047" cy="400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运行依赖 2/2 条钉下限｜开发依赖 4/4 条钉下限｜-r 引用 requirements.txt=是｜与运行依赖重名的开发项 0 个（无）｜git branch dev=是、git checkout dev=是、--no-ff 合并=是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610398"/>
            <a:ext cx="11237976" cy="8028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610398"/>
            <a:ext cx="54864" cy="80284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692694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69269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674406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优秀+GitHub Actions CI或pre-commit钩子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701838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701838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957870"/>
            <a:ext cx="10671047" cy="400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pre-commit 钩子文件已产出=是（声明 2 个：black, flake8）｜.github/workflows 下 CI 文件 0 个｜工单优秀(B) 档前置=成立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出处：工程化项目/p12_proj_template/output/report.txt 第 37 节「工单验收四档对照」——本机 2026-10-28 05:06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工程化项目/p12_proj_template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12_proj_template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p12_proj_template：工单验收四档对照 第 37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7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上：p12_proj_template 分层达标逐字输出（见上一页）｜下：pytest 全量实跑（退出码 0，全绿）</a:t>
            </a:r>
          </a:p>
        </p:txBody>
      </p:sp>
      <p:pic>
        <p:nvPicPr>
          <p:cNvPr id="12" name="Picture 11" descr="p12_proj_template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98" y="1792224"/>
            <a:ext cx="7794555" cy="23149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14378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49 行起）：四档逐字原文，未改写</a:t>
            </a:r>
          </a:p>
        </p:txBody>
      </p:sp>
      <p:pic>
        <p:nvPicPr>
          <p:cNvPr id="14" name="Picture 13" descr="p12_proj_template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198" y="4418102"/>
            <a:ext cx="7794555" cy="12237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pytest：81 passed in 1.30s（本机实跑，非示例）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完成工单P1.2《标准Python工程模板》：及格标准环境可用+仓库初始化+结构完整；优秀标准依赖可还原+CI配置+检查工具集成；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用模板重构P1.1练习代码并提交规范commit；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预习Pandas的Series与DataFrame概念。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P2.2 特征工厂完成态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箱线图已产出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计算耗时 &lt; 100ms（向量化）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特征字典五列齐全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16</a:t>
            </a:r>
          </a:p>
        </p:txBody>
      </p:sp>
      <p:pic>
        <p:nvPicPr>
          <p:cNvPr id="16" name="Picture 15" descr="shot_w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9205" y="1900000"/>
            <a:ext cx="3001589" cy="16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七步管道构建与质量自测——应用：见工单start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dropna/fillna/interpolate各适用什么场景？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本课重难点地图 · 老师划重点（动手前必看）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8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重点 · 必会必考（本课知识点全景）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</a:rPr>
              <a:t>◆ B01 标准目录结构｜目录即车间布局：src生产区/tests质检区/config图纸/…</a:t>
            </a:r>
          </a:p>
          <a:p>
            <a:r>
              <a:rPr sz="950" b="0">
                <a:solidFill>
                  <a:srgbClr val="2B2F36"/>
                </a:solidFill>
              </a:rPr>
              <a:t>◆ B02 conda环境沙箱｜conda环境=每台机器各配工具箱：A要库1.0、B要2.0互不打架</a:t>
            </a:r>
          </a:p>
          <a:p>
            <a:r>
              <a:rPr sz="950" b="0">
                <a:solidFill>
                  <a:srgbClr val="2B2F36"/>
                </a:solidFill>
              </a:rPr>
              <a:t>◆ B03 Git五步工作流｜Git五步=写日记五连：clone取本子→add记→commit存…</a:t>
            </a:r>
          </a:p>
          <a:p>
            <a:r>
              <a:rPr sz="950" b="0">
                <a:solidFill>
                  <a:srgbClr val="2B2F36"/>
                </a:solidFill>
              </a:rPr>
              <a:t>◆ B04 commit前缀｜前缀=提交的分类标签：feat新功能/fix修bug/docs文档…</a:t>
            </a:r>
          </a:p>
          <a:p>
            <a:r>
              <a:rPr sz="950" b="0">
                <a:solidFill>
                  <a:srgbClr val="2B2F36"/>
                </a:solidFill>
              </a:rPr>
              <a:t>◆ B05 pylint与black｜pylint=机器质检员打分；black=自动整形师——先过机器再…</a:t>
            </a:r>
          </a:p>
          <a:p>
            <a:r>
              <a:rPr sz="950" b="0">
                <a:solidFill>
                  <a:srgbClr val="2B2F36"/>
                </a:solidFill>
              </a:rPr>
              <a:t>◆ B06 pytest自动发现｜pytest=自动点名的考官：test_开头文件与函数自动收集执行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难点 · 易卡壳（下一页逐个击破）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▲ 误区：全堆一个根目录——reviewer看目录就懂分层，混放=不及格</a:t>
            </a:r>
          </a:p>
          <a:p>
            <a:r>
              <a:rPr sz="900" b="0">
                <a:solidFill>
                  <a:srgbClr val="2B2F36"/>
                </a:solidFill>
              </a:rPr>
              <a:t>▲ 误区：不激活就pip install——装进base等于白装，命令行看前缀</a:t>
            </a:r>
          </a:p>
          <a:p>
            <a:r>
              <a:rPr sz="900" b="0">
                <a:solidFill>
                  <a:srgbClr val="2B2F36"/>
                </a:solidFill>
              </a:rPr>
              <a:t>▲ 误区：一周一commit大杂烩——小步提交才能回滚到任意中间态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高频易错 · 动手前先记住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✗ 环境目录被提交 → 加__pycache__/（conda环境在Anacond…</a:t>
            </a:r>
          </a:p>
          <a:p>
            <a:r>
              <a:rPr sz="900" b="0">
                <a:solidFill>
                  <a:srgbClr val="2B2F36"/>
                </a:solidFill>
              </a:rPr>
              <a:t>✗ 全局py环境混乱 → 看终端前缀(环境名)</a:t>
            </a:r>
          </a:p>
          <a:p>
            <a:r>
              <a:rPr sz="900" b="0">
                <a:solidFill>
                  <a:srgbClr val="2B2F36"/>
                </a:solidFill>
              </a:rPr>
              <a:t>✗ 一次commit全部 → 小步提交带前缀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达标自问 · 学没学会，问自己这四句（当堂评分同口径）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① 及格线我能过吗——conda环境可用+仓库+结构完整</a:t>
            </a:r>
          </a:p>
          <a:p>
            <a:r>
              <a:rPr sz="900" b="0">
                <a:solidFill>
                  <a:srgbClr val="2B2F36"/>
                </a:solidFill>
              </a:rPr>
              <a:t>② 优秀线我够吗——依赖可还原+dev分支规范合并</a:t>
            </a:r>
          </a:p>
          <a:p>
            <a:r>
              <a:rPr sz="900" b="0">
                <a:solidFill>
                  <a:srgbClr val="2B2F36"/>
                </a:solidFill>
              </a:rPr>
              <a:t>③ 技能点我能独立做出来吗——生成标准工程模板并推Git；dev分支开发与规范合并</a:t>
            </a:r>
          </a:p>
          <a:p>
            <a:r>
              <a:rPr sz="900" b="0">
                <a:solidFill>
                  <a:srgbClr val="2B2F36"/>
                </a:solidFill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</a:rPr>
              <a:t>素材来源：同周《第3次课-像企业团队一样写代码》知识卡与避坑清单（逐字摘录）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难点逐个击破 · 零基础照做就能会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9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难点1：B01 标准目录结构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误区：全堆一个根目录——reviewer看目录就懂分层，混放=不及格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目录即车间布局：src生产区/tests质检区/config图纸/data原料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工程模板骨架——新项目复制即用不重搭 src/cleaner.py + tests/test_cleaner.py 成对出现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难点2：B02 conda环境沙箱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误区：不激活就pip install——装进base等于白装，命令行看前缀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conda环境=每台机器各配工具箱：A要库1.0、B要2.0互不打架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多人协作/多项目共存的版本冲突解法 conda create -n pp03 &amp;&amp; conda activate pp03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难点3：B03 Git五步工作流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误区：一周一commit大杂烩——小步提交才能回滚到任意中间态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Git五步=写日记五连：clone取本子→add记→commit存→branch分册→merge合册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模板即资产：Git记录就是可追溯的开发档案 git add . &amp;&amp; git commit -m 'feat: 工程模板'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承上启下 · 动手前避坑清单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10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环境目录被提交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原因：.gitignore缺</a:t>
            </a:r>
          </a:p>
          <a:p>
            <a:r>
              <a:rPr sz="900" b="0">
                <a:solidFill>
                  <a:srgbClr val="2B2F36"/>
                </a:solidFill>
              </a:rPr>
              <a:t>✔ 解决：加__pycache__/（conda环境在Anacond…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全局py环境混乱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原因：没激活conda环境</a:t>
            </a:r>
          </a:p>
          <a:p>
            <a:r>
              <a:rPr sz="900" b="0">
                <a:solidFill>
                  <a:srgbClr val="2B2F36"/>
                </a:solidFill>
              </a:rPr>
              <a:t>✔ 解决：看终端前缀(环境名)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一次commit全部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原因：无说明</a:t>
            </a:r>
          </a:p>
          <a:p>
            <a:r>
              <a:rPr sz="900" b="0">
                <a:solidFill>
                  <a:srgbClr val="2B2F36"/>
                </a:solidFill>
              </a:rPr>
              <a:t>✔ 解决：小步提交带前缀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</a:rPr>
              <a:t>素材来源：同周《第3次课-像企业团队一样写代码》知识卡与避坑清单（逐字摘录）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