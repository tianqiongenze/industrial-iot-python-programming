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4" r:id="rId18"/>
    <p:sldId id="280" r:id="rId32"/>
    <p:sldId id="313" r:id="rId65"/>
    <p:sldId id="371" r:id="rId15"/>
    <p:sldId id="372" r:id="rId16"/>
    <p:sldId id="373" r:id="rId17"/>
    <p:sldId id="377" r:id="rId21"/>
    <p:sldId id="378" r:id="rId22"/>
    <p:sldId id="379" r:id="rId23"/>
    <p:sldId id="342" r:id="rId94"/>
    <p:sldId id="344" r:id="rId96"/>
    <p:sldId id="369" r:id="rId121"/>
    <p:sldId id="370" r:id="rId122"/>
    <p:sldId id="375" r:id="rId19"/>
    <p:sldId id="376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2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32" Type="http://schemas.openxmlformats.org/officeDocument/2006/relationships/slide" Target="slides/slide3.xml"/><Relationship Id="rId65" Type="http://schemas.openxmlformats.org/officeDocument/2006/relationships/slide" Target="slides/slide4.xml"/><Relationship Id="rId94" Type="http://schemas.openxmlformats.org/officeDocument/2006/relationships/slide" Target="slides/slide8.xml"/><Relationship Id="rId96" Type="http://schemas.openxmlformats.org/officeDocument/2006/relationships/slide" Target="slides/slide9.xml"/><Relationship Id="rId121" Type="http://schemas.openxmlformats.org/officeDocument/2006/relationships/slide" Target="slides/slide10.xml"/><Relationship Id="rId122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开场30秒：本次课《从振动信号提取30维特征》，80分钟＝2课时×40分钟。课前已发工单+starter+微课知识卡，资讯·计划线上完成。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情境说书（30秒，口头讲，不必逐字念）：振动数据洗干净了，但中台要的是'能喂给AI的特征'。吴工给出特征字典模板：'30个特征，向量化实现，100毫秒内。'——工单P2.2：NumPy特征工程。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预习知识点：NumPy数组运算；向量化与广播；FFT频域概念 | 课中检查知识点：30维特征&lt;100ms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从振动信号提取30维特征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振动数据洗干净了，但中台要的是'能喂给AI的特征'。吴工给出特征字典模板：'30个特征，向量化实现，100毫秒内。'——工单P2.2：NumPy特征工程。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从振动信号提取30维特征（1）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傅里叶变换（FFT）与频域分析：np.fft.fft、fftfreq；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时域特征（10个）：均值、标准差、峰值、峰峰值、RMS、峭度等；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频域特征（15个）：主频率、频率带宽、能量分布、频域质心等；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统计特征（5个）：偏度、峰度、变异系数、信息熵等；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工单P2.2实操：基于“特征字典模板+5个示例特征实现”骨架起步，补齐其余特征并完成向量化实现、特征标准化与箱线图可视化（4课时聚焦NumPy表达与性能优化，不从零推导公式）。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P2.2 p22_feature_factory：本次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916686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30特征计算正确；向量化为主；标准化正确；PEP 8≥75%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2681" y="1645920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32681" y="1645920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本节实测项 通过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主特征 30/30、重名 0、缺列 0｜向量化 AST 扫描 12 个特征函数逐样本循环 0 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535174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535174"/>
            <a:ext cx="54864" cy="916686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61747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61747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599182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1000样本&lt;100ms；特征字典含物理含义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31803" y="2626614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1803" y="2626614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882646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1000 窗 ≤ C 档线 100 ms（config: perf.target_ms，实测毫秒只写 runtime/timing.json 以免破坏 output/ 逐字节复现）｜特征字典 35 条物理含义空白 0 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515868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515868"/>
            <a:ext cx="54864" cy="916686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598163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59816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579875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&lt;50ms；广播运用充分；箱线图输出；文档完整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32681" y="3607308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32681" y="3607308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本节实测项 通过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863339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实测 ≤ B 档线 50 ms（config: perf.excellent_ms）｜箱线图 output/boxplot.png｜docs/ 过程文档 8 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496562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496562"/>
            <a:ext cx="54864" cy="91668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578857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57885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560570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850" b="0">
                <a:solidFill>
                  <a:srgbClr val="5C6E6A"/>
                </a:solidFill>
              </a:rPr>
              <a:t>   验收口径：</a:t>
            </a:r>
            <a:r>
              <a:rPr sz="850" b="0">
                <a:solidFill>
                  <a:srgbClr val="5C6E6A"/>
                </a:solidFill>
              </a:rPr>
              <a:t>优秀+衍生特征5个+相关性特征选择(去冗余)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32681" y="4588001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32681" y="4588001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850" b="1">
                <a:solidFill>
                  <a:srgbClr val="FFFFFF"/>
                </a:solidFill>
              </a:rPr>
              <a:t>本节实测项 通过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844033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前置优秀档=达标｜衍生 5/5 列｜去冗余 保留 19 + 剔除 11 = 主特征 30（分区完整=True）｜剔除项均带 kept 赢家与 |r| 证据=True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5"/>
            <a:ext cx="11237976" cy="941832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5"/>
            <a:ext cx="54864" cy="9418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7"/>
            <a:ext cx="1090879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出处：工程化项目/p22_feature_factory/output/report.txt 第 76 节「工单验收四档对照」——本机 2026-10-28 05:08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复现：cd 工程化项目/p22_feature_factory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85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P2.2 工单验收四档对照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6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22_feature_factory_work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23437"/>
            <a:ext cx="11237976" cy="37871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647210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p22_feature_factory：工单验收四档对照 第 76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P2.2 · 另一套阶梯逐字输出＋pytest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7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上：p22_feature_factory 分层达标逐字输出（见上一页）｜下：pytest 全量实跑（退出码 0，全绿）</a:t>
            </a:r>
          </a:p>
        </p:txBody>
      </p:sp>
      <p:pic>
        <p:nvPicPr>
          <p:cNvPr id="12" name="Picture 11" descr="p22_feature_factory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678" y="1792224"/>
            <a:ext cx="6387595" cy="26636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4492427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分层达标（第 68 行起）：四档逐字原文，未改写</a:t>
            </a:r>
          </a:p>
        </p:txBody>
      </p:sp>
      <p:pic>
        <p:nvPicPr>
          <p:cNvPr id="14" name="Picture 13" descr="p22_feature_factory_py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678" y="4766747"/>
            <a:ext cx="6387595" cy="87510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" y="5678424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50" b="0">
                <a:solidFill>
                  <a:srgbClr val="5C6E6A"/>
                </a:solidFill>
              </a:rPr>
              <a:t>▲ pytest：61 passed in 47.65s（本机实跑，非示例）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完成工单P2.2《设备故障特征提取系统》：及格标准30特征正确+向量化+标准化；优秀标准广播运用充分+&lt;50ms+特征字典完整；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手绘一张“时域→频域”变换示意图并配文字解释；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预习Matplotlib与Plotly可视化基础。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P6 模型服务完成态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serve 模式接口可调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model_v1.joblib 已保存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healthz 返回 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16</a:t>
            </a:r>
          </a:p>
        </p:txBody>
      </p:sp>
      <p:pic>
        <p:nvPicPr>
          <p:cNvPr id="16" name="Picture 15" descr="shot_w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00" y="2210763"/>
            <a:ext cx="4600000" cy="9784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搭建5+KPI仪表盘——应用：见工单starte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Streamlit每次交互后脚本如何重跑？缓存用哪个装饰器？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本课重难点地图 · 老师划重点（动手前必看）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8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重点 · 必会必考（本课知识点全景）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</a:rPr>
              <a:t>◆ B01 ndarray同构数组｜ndarray=同规格集装箱阵列：同类型/shape量形状/dty…</a:t>
            </a:r>
          </a:p>
          <a:p>
            <a:r>
              <a:rPr sz="950" b="0">
                <a:solidFill>
                  <a:srgbClr val="2B2F36"/>
                </a:solidFill>
              </a:rPr>
              <a:t>◆ B02 向量化｜向量化=整箱叉车vs逐件搬砖：底层C一次处理整块内存快10-100倍</a:t>
            </a:r>
          </a:p>
          <a:p>
            <a:r>
              <a:rPr sz="950" b="0">
                <a:solidFill>
                  <a:srgbClr val="2B2F36"/>
                </a:solidFill>
              </a:rPr>
              <a:t>◆ B03 广播｜广播=小矩阵自动复印对齐：列均值(30,)摊到3000行每行相减</a:t>
            </a:r>
          </a:p>
          <a:p>
            <a:r>
              <a:rPr sz="950" b="0">
                <a:solidFill>
                  <a:srgbClr val="2B2F36"/>
                </a:solidFill>
              </a:rPr>
              <a:t>◆ B04 rfft频域｜rfft=声音拆音叉：时序信号拆成正弦成分——频域找主频指纹</a:t>
            </a:r>
          </a:p>
          <a:p>
            <a:r>
              <a:rPr sz="950" b="0">
                <a:solidFill>
                  <a:srgbClr val="2B2F36"/>
                </a:solidFill>
              </a:rPr>
              <a:t>◆ B05 峭度与偏度｜峭度=冲击探测器(尖峰多则大)；偏度=歪斜度(拖尾朝哪边)</a:t>
            </a:r>
          </a:p>
          <a:p>
            <a:r>
              <a:rPr sz="950" b="0">
                <a:solidFill>
                  <a:srgbClr val="2B2F36"/>
                </a:solidFill>
              </a:rPr>
              <a:t>◆ B06 主频=谱峰位置｜主频=频谱最高峰的位置——设备的'嗓音音调'，故障会变调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难点 · 易卡壳（下一页逐个击破）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▲ 误区：往ndarray塞混合类型——异构先用Pandas再取.values</a:t>
            </a:r>
          </a:p>
          <a:p>
            <a:r>
              <a:rPr sz="900" b="0">
                <a:solidFill>
                  <a:srgbClr val="2B2F36"/>
                </a:solidFill>
              </a:rPr>
              <a:t>▲ 误区：以为for循环只是慢一点——数据量大时是分钟vs毫秒的量级差</a:t>
            </a:r>
          </a:p>
          <a:p>
            <a:r>
              <a:rPr sz="900" b="0">
                <a:solidFill>
                  <a:srgbClr val="2B2F36"/>
                </a:solidFill>
              </a:rPr>
              <a:t>▲ 误区：维度不匹配想当然——从右往左对齐，缺的补1，不匹配报错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高频易错 · 动手前先记住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✗ 频域能量翻倍 → rfft+补偿</a:t>
            </a:r>
          </a:p>
          <a:p>
            <a:r>
              <a:rPr sz="900" b="0">
                <a:solidFill>
                  <a:srgbClr val="2B2F36"/>
                </a:solidFill>
              </a:rPr>
              <a:t>✗ 100ms超标 → 纯向量化重写</a:t>
            </a:r>
          </a:p>
          <a:p>
            <a:r>
              <a:rPr sz="900" b="0">
                <a:solidFill>
                  <a:srgbClr val="2B2F36"/>
                </a:solidFill>
              </a:rPr>
              <a:t>✗ 公式口径混 → 字典里注明公式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达标自问 · 学没学会，问自己这四句（当堂评分同口径）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① 及格线我能过吗——30特征正确+向量化为主</a:t>
            </a:r>
          </a:p>
          <a:p>
            <a:r>
              <a:rPr sz="900" b="0">
                <a:solidFill>
                  <a:srgbClr val="2B2F36"/>
                </a:solidFill>
              </a:rPr>
              <a:t>② 优秀线我够吗——&lt;100ms+特征字典含物理含义</a:t>
            </a:r>
          </a:p>
          <a:p>
            <a:r>
              <a:rPr sz="900" b="0">
                <a:solidFill>
                  <a:srgbClr val="2B2F36"/>
                </a:solidFill>
              </a:rPr>
              <a:t>③ 技能点我能独立做出来吗——特征字典驱动补齐30维特征；FFT频域特征计算</a:t>
            </a:r>
          </a:p>
          <a:p>
            <a:r>
              <a:rPr sz="900" b="0">
                <a:solidFill>
                  <a:srgbClr val="2B2F36"/>
                </a:solidFill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</a:rPr>
              <a:t>素材来源：同周《第7次课-向量化：让计算快100倍》知识卡与避坑清单（逐字摘录）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难点逐个击破 · 零基础照做就能会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9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难点1：B01 ndarray同构数组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误区：往ndarray塞混合类型——异构先用Pandas再取.values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ndarray=同规格集装箱阵列：同类型/shape量形状/dtype标材质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向量化计算的地基——30维特征的容器 X = np.array([[78.5, 4.2, …], …]); X.shape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难点2：B02 向量化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误区：以为for循环只是慢一点——数据量大时是分钟vs毫秒的量级差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向量化=整箱叉车vs逐件搬砖：底层C一次处理整块内存快10-100倍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3000行特征提取&lt;100ms的验收指标靠它 (X - X.mean(axis=0)) / X.std(axis=0) 整列标准化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难点3：B03 广播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误区：维度不匹配想当然——从右往左对齐，缺的补1，不匹配报错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广播=小矩阵自动复印对齐：列均值(30,)摊到3000行每行相减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</a:rPr>
              <a:t>每个样本减同一均值——一行代码全样本 X - X.mean(axis=0) 形状(3000,30)-(30,)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承上启下 · 动手前避坑清单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10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频域能量翻倍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原因：忘×2/n或没取单边</a:t>
            </a:r>
          </a:p>
          <a:p>
            <a:r>
              <a:rPr sz="900" b="0">
                <a:solidFill>
                  <a:srgbClr val="2B2F36"/>
                </a:solidFill>
              </a:rPr>
              <a:t>✔ 解决：rfft+补偿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100ms超标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原因：用了apply/循环</a:t>
            </a:r>
          </a:p>
          <a:p>
            <a:r>
              <a:rPr sz="900" b="0">
                <a:solidFill>
                  <a:srgbClr val="2B2F36"/>
                </a:solidFill>
              </a:rPr>
              <a:t>✔ 解决：纯向量化重写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公式口径混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原因：峭度定义版本不一</a:t>
            </a:r>
          </a:p>
          <a:p>
            <a:r>
              <a:rPr sz="900" b="0">
                <a:solidFill>
                  <a:srgbClr val="2B2F36"/>
                </a:solidFill>
              </a:rPr>
              <a:t>✔ 解决：字典里注明公式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</a:rPr>
              <a:t>素材来源：同周《第7次课-向量化：让计算快100倍》知识卡与避坑清单（逐字摘录）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