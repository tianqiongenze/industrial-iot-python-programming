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2" r:id="rId18"/>
    <p:sldId id="280" r:id="rId32"/>
    <p:sldId id="311" r:id="rId63"/>
    <p:sldId id="369" r:id="rId15"/>
    <p:sldId id="370" r:id="rId16"/>
    <p:sldId id="371" r:id="rId17"/>
    <p:sldId id="375" r:id="rId21"/>
    <p:sldId id="376" r:id="rId22"/>
    <p:sldId id="377" r:id="rId23"/>
    <p:sldId id="378" r:id="rId24"/>
    <p:sldId id="379" r:id="rId25"/>
    <p:sldId id="340" r:id="rId92"/>
    <p:sldId id="342" r:id="rId94"/>
    <p:sldId id="367" r:id="rId119"/>
    <p:sldId id="368" r:id="rId120"/>
    <p:sldId id="373" r:id="rId19"/>
    <p:sldId id="374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2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32" Type="http://schemas.openxmlformats.org/officeDocument/2006/relationships/slide" Target="slides/slide3.xml"/><Relationship Id="rId63" Type="http://schemas.openxmlformats.org/officeDocument/2006/relationships/slide" Target="slides/slide4.xml"/><Relationship Id="rId92" Type="http://schemas.openxmlformats.org/officeDocument/2006/relationships/slide" Target="slides/slide13.xml"/><Relationship Id="rId94" Type="http://schemas.openxmlformats.org/officeDocument/2006/relationships/slide" Target="slides/slide14.xml"/><Relationship Id="rId119" Type="http://schemas.openxmlformats.org/officeDocument/2006/relationships/slide" Target="slides/slide15.xml"/><Relationship Id="rId12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开场30秒：本次课《从脏数据到可信数据》，80分钟＝2课时×40分钟。课前已发工单+starter+微课知识卡，资讯·计划线上完成。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从脏数据到可信数据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从脏数据到可信数据（1）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缺失值处理：dropna、fillna、interpolate；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异常值检测：IQR法、Z-score法、可视化检测；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类型转换与去重：astype、to_datetime、drop_duplicates；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数据合并与分组：merge、concat、groupby、pivot_table；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工单P2.1实操：构建完整数据处理管道（加载→清洗→验证→输出清洁数据+质量报告）。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p21_pandas_clean：本次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855999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管道完整；质量≥85%；PEP 8≥75%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七步管道 8/8 条台账留痕 1206→1186 行｜质量 100.0 ≥ 85｜PEP 8 子集 96.0%（2586/2695 项）≥ 75.0%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474487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474487"/>
            <a:ext cx="54864" cy="855999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55678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5678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3849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质量≥88%；处理日志可复现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565927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565927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21959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质量 100.0 ≥ 88｜同进程二次运行同一输入：8/8 步行数增量一致、clean_log 文本逐字节一致（台账 70 行，output/clean_log.txt，无时间戳）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394494"/>
            <a:ext cx="11237976" cy="85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394494"/>
            <a:ext cx="54864" cy="855999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47679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76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45850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质量≥90%；PEP 8≥85%；文档含使用示例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48593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48593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741966"/>
            <a:ext cx="10671047" cy="45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质量 100.0 ≥ 90｜PEP 8 子集 96.0% ≥ 85.0%｜使用示例 README.md:83（由 tests 逐字执行，防文案腐烂）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314502"/>
            <a:ext cx="11237976" cy="1098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314502"/>
            <a:ext cx="54864" cy="109874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39679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3967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37851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优秀+增量处理/自定义验证规则/100万行&lt;5分钟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405942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405942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661974"/>
            <a:ext cx="10671047" cy="696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增量重放 clean.csv 与全量逐字节一致（新增 0 行）｜自定义验证规则 3 条逐条计数、本次剔 0 行（分步见第 8 节）｜压测 1004740 行走同一条七步管道，预算 300s 内完成【达标】（verdict 取 runtime/bench.json 记录，秒数为波动指标不进本表）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出处：工程化项目/p21_pandas_clean/output/report.txt 第 132 节「分层达标」——本机 2026-10-28 05:07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工程化项目/p21_pandas_clean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6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21_pandas_clean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35816"/>
            <a:ext cx="11237976" cy="35624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534831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p21_pandas_clean：分层达标 第 132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P2.1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7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21_pandas_clean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90034"/>
            <a:ext cx="11237976" cy="15396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066213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pytest：34 passed in 52.60s（本机实跑，非示例）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431973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431973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514269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工程化项目/p21_pandas_clean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本课重难点地图 · 老师划重点（动手前必看）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重点 · 必会必考（本课知识点全景）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DataFrame摸底｜DataFrame=Excel表穿Python外衣：shape量尺…</a:t>
            </a:r>
          </a:p>
          <a:p>
            <a:r>
              <a:rPr sz="950" b="0">
                <a:solidFill>
                  <a:srgbClr val="2B2F36"/>
                </a:solidFill>
              </a:rPr>
              <a:t>◆ B02 缺失三策略｜缺失三策=修路三招：dropna封路/fillna填坑/inter…</a:t>
            </a:r>
          </a:p>
          <a:p>
            <a:r>
              <a:rPr sz="950" b="0">
                <a:solidFill>
                  <a:srgbClr val="2B2F36"/>
                </a:solidFill>
              </a:rPr>
              <a:t>◆ B03 时间戳统一｜to_datetime=多国时间翻译官：三种格式归一种，coerc…</a:t>
            </a:r>
          </a:p>
          <a:p>
            <a:r>
              <a:rPr sz="950" b="0">
                <a:solidFill>
                  <a:srgbClr val="2B2F36"/>
                </a:solidFill>
              </a:rPr>
              <a:t>◆ B04 combine_first补洞｜combine_first=主备电源：主列缺电自动切备份列有效值</a:t>
            </a:r>
          </a:p>
          <a:p>
            <a:r>
              <a:rPr sz="950" b="0">
                <a:solidFill>
                  <a:srgbClr val="2B2F36"/>
                </a:solidFill>
              </a:rPr>
              <a:t>◆ B05 IQR护栏｜IQR=分位数装护栏：Q3+1.5×IQR为界——只看排序位置不怕…</a:t>
            </a:r>
          </a:p>
          <a:p>
            <a:r>
              <a:rPr sz="950" b="0">
                <a:solidFill>
                  <a:srgbClr val="2B2F36"/>
                </a:solidFill>
              </a:rPr>
              <a:t>◆ B06 业务阈值与统计法AND｜双闸门=物理限位+统计护栏两道都过才放行——AND不是OR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难点 · 易卡壳（下一页逐个击破）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▲ 误区：跳过EDA直接清洗——脏在哪都不知道，白洗一遍</a:t>
            </a:r>
          </a:p>
          <a:p>
            <a:r>
              <a:rPr sz="900" b="0">
                <a:solidFill>
                  <a:srgbClr val="2B2F36"/>
                </a:solidFill>
              </a:rPr>
              <a:t>▲ 误区：一律dropna——时序删行会断时间轴，插值才是时序正解</a:t>
            </a:r>
          </a:p>
          <a:p>
            <a:r>
              <a:rPr sz="900" b="0">
                <a:solidFill>
                  <a:srgbClr val="2B2F36"/>
                </a:solidFill>
              </a:rPr>
              <a:t>▲ 误区：解析失败直接ValueError炸管道——coerce变NaT进缺失策略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高频易错 · 动手前先记住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✗ 链式赋值警告 → 用.loc或先copy()</a:t>
            </a:r>
          </a:p>
          <a:p>
            <a:r>
              <a:rPr sz="900" b="0">
                <a:solidFill>
                  <a:srgbClr val="2B2F36"/>
                </a:solidFill>
              </a:rPr>
              <a:t>✗ 统计量被污染 → 先清洗后缩放</a:t>
            </a:r>
          </a:p>
          <a:p>
            <a:r>
              <a:rPr sz="900" b="0">
                <a:solidFill>
                  <a:srgbClr val="2B2F36"/>
                </a:solidFill>
              </a:rPr>
              <a:t>✗ 评分上不去 → 统一格式后重评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达标自问 · 学没学会，问自己这四句（当堂评分同口径）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及格线我能过吗——管道完整+质量≥85%</a:t>
            </a:r>
          </a:p>
          <a:p>
            <a:r>
              <a:rPr sz="900" b="0">
                <a:solidFill>
                  <a:srgbClr val="2B2F36"/>
                </a:solidFill>
              </a:rPr>
              <a:t>② 优秀线我够吗——质量≥88%+日志可复现</a:t>
            </a:r>
          </a:p>
          <a:p>
            <a:r>
              <a:rPr sz="900" b="0">
                <a:solidFill>
                  <a:srgbClr val="2B2F36"/>
                </a:solidFill>
              </a:rPr>
              <a:t>③ 技能点我能独立做出来吗——七步管道构建与质量自测；三格式时间戳统一</a:t>
            </a:r>
          </a:p>
          <a:p>
            <a:r>
              <a:rPr sz="900" b="0">
                <a:solidFill>
                  <a:srgbClr val="2B2F36"/>
                </a:solidFill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素材来源：同周《第5次课-认识工业数据的两大容器》知识卡与避坑清单（逐字摘录）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难点逐个击破 · 零基础照做就能会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9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难点1：B01 DataFrame摸底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误区：跳过EDA直接清洗——脏在哪都不知道，白洗一遍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DataFrame=Excel表穿Python外衣：shape量尺/info体检/describe验血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拿到数据的第一个动作——先摸底再动手不盲洗 df.info()一眼看出哪列缺失哪列类型错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难点2：B02 缺失三策略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误区：一律dropna——时序删行会断时间轴，插值才是时序正解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缺失三策=修路三招：dropna封路/fillna填坑/interpolate顺坡补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传感器断线NaN——按业务选策略不是随手一删 df['vib'].interpolate() 时序线性插值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难点3：B03 时间戳统一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误区：解析失败直接ValueError炸管道——coerce变NaT进缺失策略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to_datetime=多国时间翻译官：三种格式归一种，coerce坏件标记不炸管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三系统时间格式不一(2026-9-1/09/01/…)的解药 pd.to_datetime(col, errors='coerce')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承上启下 · 动手前避坑清单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10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链式赋值警告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原因：视图上赋值</a:t>
            </a:r>
          </a:p>
          <a:p>
            <a:r>
              <a:rPr sz="900" b="0">
                <a:solidFill>
                  <a:srgbClr val="2B2F36"/>
                </a:solidFill>
              </a:rPr>
              <a:t>✔ 解决：用.loc或先copy()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统计量被污染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原因：异常值前先归一化</a:t>
            </a:r>
          </a:p>
          <a:p>
            <a:r>
              <a:rPr sz="900" b="0">
                <a:solidFill>
                  <a:srgbClr val="2B2F36"/>
                </a:solidFill>
              </a:rPr>
              <a:t>✔ 解决：先清洗后缩放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评分上不去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原因：时间列没转datetime</a:t>
            </a:r>
          </a:p>
          <a:p>
            <a:r>
              <a:rPr sz="900" b="0">
                <a:solidFill>
                  <a:srgbClr val="2B2F36"/>
                </a:solidFill>
              </a:rPr>
              <a:t>✔ 解决：统一格式后重评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素材来源：同周《第5次课-认识工业数据的两大容器》知识卡与避坑清单（逐字摘录）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本课知识速览卡 · 边做边对照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11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知识点速览（逐字摘自同周完整讲解课知识卡）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DataFrame摸底｜DataFrame=Excel表穿Python外衣：shape量尺/info体…</a:t>
            </a:r>
          </a:p>
          <a:p>
            <a:r>
              <a:rPr sz="950" b="0">
                <a:solidFill>
                  <a:srgbClr val="2B2F36"/>
                </a:solidFill>
              </a:rPr>
              <a:t>◆ B02 缺失三策略｜缺失三策=修路三招：dropna封路/fillna填坑/interpolate…</a:t>
            </a:r>
          </a:p>
          <a:p>
            <a:r>
              <a:rPr sz="950" b="0">
                <a:solidFill>
                  <a:srgbClr val="2B2F36"/>
                </a:solidFill>
              </a:rPr>
              <a:t>◆ B03 时间戳统一｜to_datetime=多国时间翻译官：三种格式归一种，coerce坏件标记不…</a:t>
            </a:r>
          </a:p>
          <a:p>
            <a:r>
              <a:rPr sz="950" b="0">
                <a:solidFill>
                  <a:srgbClr val="2B2F36"/>
                </a:solidFill>
              </a:rPr>
              <a:t>◆ B04 combine_first补洞｜combine_first=主备电源：主列缺电自动切备份列有效值</a:t>
            </a:r>
          </a:p>
          <a:p>
            <a:r>
              <a:rPr sz="950" b="0">
                <a:solidFill>
                  <a:srgbClr val="2B2F36"/>
                </a:solidFill>
              </a:rPr>
              <a:t>◆ B05 IQR护栏｜IQR=分位数装护栏：Q3+1.5×IQR为界——只看排序位置不怕极端值</a:t>
            </a:r>
          </a:p>
          <a:p>
            <a:r>
              <a:rPr sz="950" b="0">
                <a:solidFill>
                  <a:srgbClr val="2B2F36"/>
                </a:solidFill>
              </a:rPr>
              <a:t>◆ B06 业务阈值与统计法AND｜双闸门=物理限位+统计护栏两道都过才放行——AND不是OR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本讲达标线（当堂评分同口径）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及格(D)：管道完整+质量≥85%</a:t>
            </a:r>
          </a:p>
          <a:p>
            <a:r>
              <a:rPr sz="900" b="0">
                <a:solidFill>
                  <a:srgbClr val="2B2F36"/>
                </a:solidFill>
              </a:rPr>
              <a:t>② 优秀(B+)：质量≥88%+日志可复现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动手前三个提醒（踩坑点摘录）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⚠ 用.loc或先copy()</a:t>
            </a:r>
          </a:p>
          <a:p>
            <a:r>
              <a:rPr sz="900" b="0">
                <a:solidFill>
                  <a:srgbClr val="2B2F36"/>
                </a:solidFill>
              </a:rPr>
              <a:t>⚠ 先清洗后缩放</a:t>
            </a:r>
          </a:p>
          <a:p>
            <a:r>
              <a:rPr sz="900" b="0">
                <a:solidFill>
                  <a:srgbClr val="2B2F36"/>
                </a:solidFill>
              </a:rPr>
              <a:t>⚠ 统一格式后重评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素材来源：同周《第5次课-认识工业数据的两大容器》知识卡与避坑清单（逐字摘录）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下次课预告 · 带着问题去下一讲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12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带着问题去下一讲——预习任务与自测问题逐字取自课程安排，课前完成。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主题：特征字典驱动补齐30维特征——应用：见工单sta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预习快问：x**2向量化为什么比for快100倍？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课前完成：导学单 + 预习自测 + starter环境自检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P4.1 采集上报完成态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断线重连生效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MQTT 上报 ≥ 3 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数值 ÷10 还原正确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18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6102"/>
            <a:ext cx="4600000" cy="13877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