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71" r:id="rId69"/>
    <p:sldId id="257" r:id="rId5"/>
    <p:sldId id="259" r:id="rId6"/>
    <p:sldId id="260" r:id="rId7"/>
    <p:sldId id="261" r:id="rId8"/>
    <p:sldId id="264" r:id="rId9"/>
    <p:sldId id="266" r:id="rId10"/>
    <p:sldId id="267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80" r:id="rId19"/>
    <p:sldId id="281" r:id="rId20"/>
    <p:sldId id="282" r:id="rId21"/>
    <p:sldId id="287" r:id="rId22"/>
    <p:sldId id="289" r:id="rId23"/>
    <p:sldId id="290" r:id="rId24"/>
    <p:sldId id="292" r:id="rId25"/>
    <p:sldId id="295" r:id="rId26"/>
    <p:sldId id="298" r:id="rId27"/>
    <p:sldId id="301" r:id="rId28"/>
    <p:sldId id="304" r:id="rId29"/>
    <p:sldId id="309" r:id="rId30"/>
    <p:sldId id="311" r:id="rId31"/>
    <p:sldId id="312" r:id="rId32"/>
    <p:sldId id="316" r:id="rId33"/>
    <p:sldId id="317" r:id="rId34"/>
    <p:sldId id="318" r:id="rId35"/>
    <p:sldId id="319" r:id="rId36"/>
    <p:sldId id="320" r:id="rId37"/>
    <p:sldId id="322" r:id="rId38"/>
    <p:sldId id="324" r:id="rId39"/>
    <p:sldId id="326" r:id="rId40"/>
    <p:sldId id="328" r:id="rId41"/>
    <p:sldId id="329" r:id="rId42"/>
    <p:sldId id="331" r:id="rId43"/>
    <p:sldId id="333" r:id="rId44"/>
    <p:sldId id="367" r:id="rId45"/>
    <p:sldId id="335" r:id="rId46"/>
    <p:sldId id="336" r:id="rId47"/>
    <p:sldId id="368" r:id="rId66"/>
    <p:sldId id="369" r:id="rId67"/>
    <p:sldId id="370" r:id="rId68"/>
    <p:sldId id="337" r:id="rId48"/>
    <p:sldId id="338" r:id="rId49"/>
    <p:sldId id="339" r:id="rId50"/>
    <p:sldId id="341" r:id="rId51"/>
    <p:sldId id="342" r:id="rId52"/>
    <p:sldId id="343" r:id="rId53"/>
    <p:sldId id="345" r:id="rId54"/>
    <p:sldId id="346" r:id="rId55"/>
    <p:sldId id="347" r:id="rId56"/>
    <p:sldId id="354" r:id="rId57"/>
    <p:sldId id="359" r:id="rId58"/>
    <p:sldId id="360" r:id="rId59"/>
    <p:sldId id="361" r:id="rId60"/>
    <p:sldId id="365" r:id="rId61"/>
    <p:sldId id="366" r:id="rId62"/>
    <p:sldId id="372" r:id="rId70"/>
    <p:sldId id="373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ableStyles" Target="tableStyles.xml"/><Relationship Id="rId66" Type="http://schemas.openxmlformats.org/officeDocument/2006/relationships/slide" Target="slides/slide45.xml"/><Relationship Id="rId67" Type="http://schemas.openxmlformats.org/officeDocument/2006/relationships/slide" Target="slides/slide46.xml"/><Relationship Id="rId68" Type="http://schemas.openxmlformats.org/officeDocument/2006/relationships/slide" Target="slides/slide47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开场30秒：本次课《让程序同时听三个PLC说话》，80分钟＝2课时×40分钟。课前已发工单+starter+微课知识卡，资讯·计划线上完成。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情境说书（30秒，口头讲，不必逐字念）：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详解B1·线程并发：先读定义→场景为什么用它→看代码实例→扩展给A层。C/D层掌握前三格，A层加扩展格。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详解B2·Queue传送带：先读定义→场景为什么用它→看代码实例→扩展给A层。C/D层掌握前三格，A层加扩展格。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详解B3·get超时防死等：先读定义→场景为什么用它→看代码实例→扩展给A层。C/D层掌握前三格，A层加扩展格。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详解B4·退避重试：先读定义→场景为什么用它→看代码实例→扩展给A层。C/D层掌握前三格，A层加扩展格。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详解B5·daemon守护线程：先读定义→场景为什么用它→看代码实例→扩展给A层。C/D层掌握前三格，A层加扩展格。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详解B6·对账公式：先读定义→场景为什么用它→看代码实例→扩展给A层。C/D层掌握前三格，A层加扩展格。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现场演示《退避重连》：三步走——先整段跑通看结果，再逐行讲关键语句，最后现场改一个参数看输出变化（演10分钟的核心素材）。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工单发布话术：'数字化转型办公室发来工单P4.1《多源数据采集系统》，及格线是三，优秀线看A层标准'——念完发starter。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错误速查：现场演示第一条——制造「Ctrl+C退不出」，带着学生按'现象→原因→解决'三步排查。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预习知识点：多线程(threading/Queue)；网络编程(socket/MQTT) | 课中检查知识点：采集率≥95%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 panose="020B0502040204020203" charset="-122"/>
              </a:rPr>
              <a:t>Python程序设计（项目实战）</a:t>
            </a:r>
            <a:endParaRPr sz="2200" b="0">
              <a:solidFill>
                <a:srgbClr val="FFFFF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 panose="020B0502040204020203" charset="-122"/>
              </a:rPr>
              <a:t>◆ 重庆两江智造集团 · 数字化转型办公室</a:t>
            </a:r>
            <a:endParaRPr sz="13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 panose="020B0502040204020203" charset="-122"/>
              </a:rPr>
              <a:t>让程序同时听三个PLC说话</a:t>
            </a:r>
            <a:endParaRPr sz="34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 panose="020B0502040204020203" charset="-122"/>
              </a:rPr>
              <a:t>第六周 · 第11次课（2课时 · 80分钟）</a:t>
            </a:r>
            <a:endParaRPr sz="1800" b="0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双创中心302实训室  ·  理实一体  ·  配套：分层工单+starter  ·  本课主用：PyCharm CE + conda环境(pp03) + Git/GitHub（每周提交）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 panose="020B0502040204020203" charset="-122"/>
              </a:rPr>
              <a:t>重庆现代制造职业学院  智能控制学院 · 工业互联网应用专业</a:t>
            </a:r>
            <a:endParaRPr sz="12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本次课议程（六部分 · 80分钟）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01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课程定位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课前已读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性质·岗位·证书：为什么学这门课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02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课堂流程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约2′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80分钟时间盒与ABCD分层节奏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目标与资讯·情境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约5′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带着目标进课堂+两江智造本课剧情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04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知识精讲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约15′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基础知识大卡+代码演示（先例后理）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05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任务实施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六步法核心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工单发布·分层执行·避坑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06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检查与评价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约15′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三层质检·当堂评分·课后任务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9675" y="137541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 panose="020B0502040204020203" charset="-122"/>
              </a:rPr>
              <a:t>资讯·计划已于课前线上完成——课堂从决策/演示直接开始</a:t>
            </a:r>
            <a:endParaRPr sz="1200" b="0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01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课程定位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本课在课程体系中的位置（课程标准摘录）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01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课程定位：Python程序设计（项目实战）（课程标准摘录）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2040204020203" charset="-122"/>
              </a:rPr>
              <a:t>课程性质</a:t>
            </a:r>
            <a:endParaRPr sz="14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自包含工程应用课：C语言底子直接上工业项目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2040204020203" charset="-122"/>
              </a:rPr>
              <a:t>面向岗位</a:t>
            </a:r>
            <a:endParaRPr sz="14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数据工程师、数据分析、AI应用、采集技术员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2040204020203" charset="-122"/>
              </a:rPr>
              <a:t>对接证书</a:t>
            </a:r>
            <a:endParaRPr sz="14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Python开发、数据应用与服务（1+X）、AI应用实践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2040204020203" charset="-122"/>
              </a:rPr>
              <a:t>课程衔接</a:t>
            </a:r>
            <a:endParaRPr sz="14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前置仅需C语言 → 本课(第1-8周) → 后：毕业设计/平台实习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4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本课知识图谱（先见森林，再见树木）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让程序同时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听三个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5条分支导览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基础知识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线程并发；Queue线程安全传送带——应用：见工单starter与教师参考实现 · put/get超时防死等——应用：见工单starter与教师参考实现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继续夯实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退避重试1→2→4s封顶——应用：见工单starter与教师参考实现 · daemon=True随主退出——应用：见工单starter与教师参考实现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技能点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三线程骨架贯通(采集/订阅/处理)——应用：见工单starter与教师参考实现 · 断线重连实测(2号PLC掉线)——应用：见工单starter与教师参考实现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分层任务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D跟做保底 · C基础完成 · B标准达成 · A进阶拓展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课堂评价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功能40% · 技术25% · 规范20% · 素养15%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岗课赛证对照（本课坐标）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岗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数字化转型办公室：数据工程师、数据分析工程师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课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P4.1《多源数据采集系统》——本课工单即考核单元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证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Python开发职业技能等级证书（工信部）——工程模板/数据处理对应中级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赛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世界职业院校技能大赛（人工智能赛道）数据采集/处理赛项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6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02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课堂流程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80分钟时间盒与个人节奏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02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7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本次课流程（80分钟时间盒）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资讯·计划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课前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线上导学单+预习自测（已完成的打√）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决策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10min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备选方案对比 → 决策矩阵打分 → 结论公示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实施一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30min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骨架贯通：体验→应用，完成工单核心功能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检查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5min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三层质检：自检—互检—师查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实施二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25min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优化迭代：冲优秀标准/拓展任务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评价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10min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D/C/B/A量表评分 + 课后任务布置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 panose="020B0502040204020203" charset="-122"/>
              </a:rPr>
              <a:t>每课时40分钟 · 共80分钟（六步法课堂化）</a:t>
            </a:r>
            <a:endParaRPr sz="1200" b="0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8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03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目标与资讯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带着目标进课堂（Predict·预测）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03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9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10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知识目标：怎么学·怎么证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目标：掌握Modbus寄存器读写流程；掌握MQTT主题设计与QoS机制；理解多线程并发与Queue线程安全原理。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怎么学：知识卡先例后理→快查核对→应用页回到产线场景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怎么证：课前quiz+随堂自测+工单'技术质量25%'项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达标线：能复述定义+能说出产线例子=过关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10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11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能力目标：怎么练·怎么证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目标：能够开发多线程多源采集系统（采集率≥95%优秀≥99.5%）；能够处理断线重连与数据缓冲；代码PEP 8≥75%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怎么练：starter跟做（D）→独立完成（C）→规范+帮带（B）→拓展（A）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怎么证：工单'功能40%'全项+运行截图贴过程记录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达标线：代码能跑+输出符合工单样例=过关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11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12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素质目标：怎么养·怎么证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目标：建立“系统稳定性”工程意识（7×24运行思维），培养并发编程的严谨性（线程安全、资源释放）。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怎么养：规范命名/及时提交/报错必究——每个工单都在练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怎么证：Git提交历史（每周≥1次）+工单'素养15%'项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达标线：提交记录连续+命名规范=过关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12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课前资讯回顾（六步之“资讯·计划”）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 panose="020B0502040204020203" charset="-122"/>
              </a:rPr>
              <a:t>预习快问：</a:t>
            </a:r>
            <a:endParaRPr sz="15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 panose="020B0502040204020203" charset="-122"/>
              </a:rPr>
              <a:t>为什么‘共享list.append’有隐患而Queue安全？</a:t>
            </a:r>
            <a:endParaRPr sz="16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2040204020203" charset="-122"/>
              </a:rPr>
              <a:t>课前检查：</a:t>
            </a:r>
            <a:endParaRPr sz="15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模板仓库已克隆更新；导学单与实施计划已提交平台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13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课前预习与检查（教材衔接 · 上次课回顾）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📖 课前预习｜下次课教材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《Python程序设计项目化教》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项目4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多线程(threading/Queue)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网络编程(socket/MQTT)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✓ 课中检查｜上次课（W5）抽查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 panose="020B0502040204020203" charset="-122"/>
              </a:rPr>
              <a:t>抽查1</a:t>
            </a:r>
            <a:endParaRPr sz="1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5+KPI仪表盘可交互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 panose="020B0502040204020203" charset="-122"/>
              </a:rPr>
              <a:t>抽查方式：随机2人白板演示/口述——答对记过程分</a:t>
            </a:r>
            <a:endParaRPr sz="1150" b="1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14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18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课前测逐题精讲（错得最多的那道）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题目：为什么‘共享list.append’有隐患而Queue安全？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正确思路：从'考哪个知识卡'入手——先定位再作答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常见错误：背概念不看场景；看到代码就慌，先读注释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本课回收：这道题的考点会在知识卡X和随堂自测中再次出现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15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任务情境（集团项目案例）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◆ 重庆两江智造集团 · 数字化转型办公室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 panose="020B0502040204020203" charset="-122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  <a:endParaRPr sz="14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16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剧情拆解：任务 → 冲突 → 你的决策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68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任务背景：中台试运行暴露瓶颈：三个厂区数据源并发接入互相踩踏，还常有连接闪断。吴工画出三线程架构图：'骨架给你，</a:t>
            </a:r>
            <a:r>
              <a:rPr sz="1500">
                <a:solidFill>
                  <a:srgbClr val="010328"/>
                </a:solidFill>
                <a:latin typeface="微软雅黑" panose="020B0502040204020203" charset="-122"/>
                <a:sym typeface="+mn-ea"/>
              </a:rPr>
              <a:t>可靠性你来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冲突点：产线数据量大/格式杂/时限紧——手工做不完，必须编程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决策点：先做什么再做什么？数据从哪来？输出给谁看？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带着这三个问题进入知识精讲——每个知识点都是解药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17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三维目标 → 怎么算达标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知识目标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掌握Modbus寄存器读写流程；掌握MQTT主题设计与QoS机制；理解多线程并发与Queue线程安全原理。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能力目标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能够开发多线程多源采集系统（采集率≥95%优秀≥99.5%）；能够处理断线重连与数据缓冲；代码PEP 8≥75%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素质目标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建立“系统稳定性”工程意识（7×24运行思维），培养并发编程的严谨性（线程安全、资源释放）。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达标口径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对应工单P4.1评分：功能40%+技术25%+规范20%+素养15%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18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04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知识精讲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基础知识 → 详解 → 技能 → 代码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04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19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知识详解：线程并发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B01 · 线程并发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线程=车间三条传送带同时转：采集/处理/入库互不挡道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采集不能被入库阻塞——三线程并行是主链路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t = threading.Thread(target=worker); t.start()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误区：以为多线程必然更快——GIL下CPU密集不加速，IO密集才香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20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知识应用（1）：线程并发；Queue线程安全传送带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◆ 两江智造应用场景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线程并发；Queue线程安全传送带。在两江智造产线上的用法：见工单starter与教师参考实现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21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知识详解：Queue传送带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B02 · Queue传送带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queue.Queue=自带保险锁的传送带——线程间传数据不丢不撞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采集线程与入库线程解耦——快慢各干各的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q.put(row) / row = q.get(timeout=3)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误区：直接共享全局列表传数据——</a:t>
            </a:r>
            <a:r>
              <a:rPr sz="1300" b="0">
                <a:solidFill>
                  <a:srgbClr val="FF0000"/>
                </a:solidFill>
                <a:latin typeface="微软雅黑" panose="020B0502040204020203" charset="-122"/>
              </a:rPr>
              <a:t>裸列表非线程安全，必加锁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22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知识详解：get超时防死等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B03 · get超时防死等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get(timeout)=传送带空转3秒就检查——不给死等机会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采集断流时入库线程能检查退出标志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try: row=q.get(timeout=3) except Empty: continue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误区：裸get()死等——采集一断入库线程永久卡死成僵尸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23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知识详解：退避重试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B04 · 退避重试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指数退避=敲门礼仪：1s没应等2s再4s——封顶8s不轰炸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P4.1核心考点：2号PLC随机掉线必须重连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delay=min(delay*2, 8)——间隔翻倍不爆炸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误区：无退避疯狂重试=DDOS自己——掉线风暴越试越瘫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24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知识详解：daemon守护线程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B05 · daemon守护线程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daemon=True=随主灯灭的值夜班——主程序退出它跟着退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Ctrl+C后采集进程能干净退出不留后台僵尸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t = threading.Thread(target=worker, daemon=True)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误区：守护线程里放'必须写完'的落库逻辑——可能中途被掐断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25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知识详解：对账公式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B06 · 对账公式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对账=钱货两清：源计数=入库+异常+丢弃，一条不差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采集完整性的数学表达——工单验收硬指标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assert total_src == total_db + total_err + total_drop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误区：只报采集条数不对账——丢的行去哪了说不清等于失控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26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技能点：做完你应该会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S1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三线程骨架贯通(采集/订阅/处理)——应用：见工单starter与教师参考实现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S2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断线重连实测(2号PLC掉线)——应用：见工单starter与教师参考实现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S3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采集率统计与提升——应用：见工单starter与教师参考实现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S4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架构图绘制入工单——应用：见工单starter与教师参考实现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27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让程序同时听三个PLC说话（1）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TCP/IP与Socket复习深化；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Modbus协议详解：寄存器映射、读写命令、异常码；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MQTT深化：主题设计、QoS等级、遗嘱消息；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多线程基础：threading、Queue线程安全队列。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28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关键代码：退避重连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backoff = 1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while not stop.is_set():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got = False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for host, port in PLCS: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if read_one(host, port): got = True; stat["ok"] += 1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else: stat["fail"] += 1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backoff = 1 if got else min(backoff*2, 4)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time.sleep(0.5 if got else backoff)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29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05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任务实施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工单 · 分层 · 步骤 · 避坑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05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30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决策：并发模型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模型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复杂度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资源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顺序轮询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多线程+Queue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asyncio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决策结论写入工单，答辩必答；实施失误回溯决策复盘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31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23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决策怎么下：方案对比三问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本课决策题：决策：并发模型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问①可行吗——每个方案的实现路径走得通吗（技术风险）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问②值吗——开发时间/运行速度/可维护性三角权衡（工程账）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问③谁拍板——组内数据说话，理由写进工单（决策追责制）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规则：没有记录的决策=没有决策——写下来才算数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32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实施任务：工单P4.1《多源数据采集系统》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2040204020203" charset="-122"/>
              </a:rPr>
              <a:t>实施步骤</a:t>
            </a:r>
            <a:endParaRPr sz="15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1. 启动plc_simulator三台PLC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2. ModbusCollector轮询0.5s×3台(÷10还原)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3. read_one退避重试(1→2→4s)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及格标准（D）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三源贯通+采集率&gt;95%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优秀标准（B+）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断线重连实测通过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33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分层工单 · D 层任务卡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学徒 · 跟做保底层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目标: 架构观察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跑演示notebook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记录采集率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手画三线程图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✔ 达标标准: 能画线程图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34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分层工单 · C 层任务卡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操作员 · 基础完成层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目标: 单源贯通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Modbus采集跑通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Queue到Processor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SQLite见记录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✔ 达标标准: 数据能入库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35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分层工单 · B 层任务卡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组长 · 标准达成层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目标: 完整多源系统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补全read_one+on_message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断线重连调通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10分钟统计截图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✔ 达标标准: ≥95%+文档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36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分层工单 · A 层任务卡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师傅 · 进阶拓展层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目标: 高可用演示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主备采集切换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实时统计小面板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8小时稳定跑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✔ 达标标准: ≥99.5%+监控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 panose="020B0502040204020203" charset="-122"/>
              </a:rPr>
              <a:t>(A层加码: 采集率统计面板：实时打印成功率/延迟/丢弃数（简易APM）)</a:t>
            </a:r>
            <a:endParaRPr sz="115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37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实施步骤与注意事项（做）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 panose="020B0502040204020203" charset="-122"/>
              </a:rPr>
              <a:t>实施步骤</a:t>
            </a:r>
            <a:endParaRPr sz="17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启动plc_simulator三台PLC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ModbusCollector轮询0.5s×3台(÷10还原)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read_one退避重试(1→2→4s)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 panose="020B0502040204020203" charset="-122"/>
              </a:rPr>
              <a:t>⚠ 注意事项</a:t>
            </a:r>
            <a:endParaRPr sz="17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1. 线程命名：threading.Thread(name='Modbus')日志可辨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2. Queue.put(timeout=1)防永久阻塞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3. daemon=True保证Ctrl+C能退出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38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常见错误速查（避坑清单）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⚠ Ctrl+C退不出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原因: 没设daemon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✔ 解决: daemon=True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⚠ Queue满卡死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原因: put无超时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✔ 解决: put(timeout=1)+丢弃计数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⚠ 线程日志混乱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原因: 无名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✔ 解决: Thread(name='Modbus')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39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6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ABCD四层任务总览（先看全貌再领任务）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D·学徒（≥60）：架构观察——跟做保底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C·操作员（≥70）：单源贯通——基础完成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B·组长（≥80）：完整多源系统——标准达成+帮带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A·师傅（≥90）：高可用演示——进阶拓展+费曼讲解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规则：每人按工单勾选自己的层；每4周按达标情况动态升降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40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8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提交前最后一查（90秒）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代码能从头跑到尾不报错（python xx.py再跑一遍）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输出格式符合工单样例（对齐/单位/小数位）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文件命名：学号_姓名_工单号.py（不对=扣规范分）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运行截图已贴工单过程记录栏（过程性证据）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conda环境正确（提示符显示(pp03）再运行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41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  <a:endParaRPr sz="1100" b="1">
              <a:solidFill>
                <a:srgbClr val="0B5E54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P4.1 采集上报完成态</a:t>
            </a:r>
            <a:endParaRPr sz="2200" b="1">
              <a:solidFill>
                <a:srgbClr val="1B2B2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  <a:endParaRPr sz="1300" b="1">
              <a:solidFill>
                <a:srgbClr val="0B5E54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PLC1 五寄存器读取成功</a:t>
            </a:r>
            <a:endParaRPr sz="1050" b="0">
              <a:solidFill>
                <a:srgbClr val="1B2B28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MQTT 上报 ≥ 3 条</a:t>
            </a:r>
            <a:endParaRPr sz="1050" b="0">
              <a:solidFill>
                <a:srgbClr val="1B2B2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断线重连生效</a:t>
            </a:r>
            <a:endParaRPr sz="1050" b="0">
              <a:solidFill>
                <a:srgbClr val="1B2B28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数值 ÷10 还原正确</a:t>
            </a:r>
            <a:endParaRPr sz="1050" b="0">
              <a:solidFill>
                <a:srgbClr val="1B2B28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  <a:endParaRPr sz="1150" b="1">
              <a:solidFill>
                <a:srgbClr val="1B2B28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  <a:endParaRPr sz="1050" b="0">
              <a:solidFill>
                <a:srgbClr val="5C6E6A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  <a:endParaRPr sz="900" b="0">
              <a:solidFill>
                <a:srgbClr val="5C6E6A"/>
              </a:solidFill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382322"/>
            <a:ext cx="7863840" cy="16727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06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检查与评价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三层质检 · 评分 · 课后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06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43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过程检查（三层质检）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2040204020203" charset="-122"/>
              </a:rPr>
              <a:t>1  自检</a:t>
            </a:r>
            <a:endParaRPr sz="20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对照工单checklist逐项自查并截图留证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2040204020203" charset="-122"/>
              </a:rPr>
              <a:t>2  互检</a:t>
            </a:r>
            <a:endParaRPr sz="20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组间交换检查，互检表记录问题≥1条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2040204020203" charset="-122"/>
              </a:rPr>
              <a:t>3  师查</a:t>
            </a:r>
            <a:endParaRPr sz="20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教师抽查复核，重点盯D层完成度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复盘追问：如果当初选另一个方案，结果会怎样？（决策追责）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44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P4.1 p41_collector_hub：本次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45 / 62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916686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三源数据贯通；采集率&gt;95%；无数据丢失；系统文档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31803" y="1645920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31803" y="1645920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3/3 源各有成功读数｜默认链路采集率 97.22%（工单线 &gt;95.00%）｜重连上限抬到 4 次的零丢弃链路: 成功 36 丢弃 0｜成功+丢弃=计划恒等 通过｜docs/ 有效过程文档 8 篇（≥8 且每篇 &gt;200B）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535174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535174"/>
            <a:ext cx="54864" cy="916686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61747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174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99182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断线重连实测通过；统计输出准确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626614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626614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882646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同一份故障注入下不重连丢 3 条 → 重连丢 1 条（重连 7 次、挽回 2 条）｜分源计划之和 36 = 总计划 36｜计数自洽（调用=成功+丢弃+重试）通过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515868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515868"/>
            <a:ext cx="54864" cy="916686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59816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981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57987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采集率≥99.5%；延迟&lt;100ms；线程安全(无共享可变状态)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1803" y="3607308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1803" y="3607308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63339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取重连最多的零丢弃链路（最保守）采集率 100.00% ≥ 99.50%｜平均延迟 22.28ms/条 &lt; 100.00ms｜AST 扫描 core.py 模块级可变全局 0 个（无跨线程共享的可变对象）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96562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96562"/>
            <a:ext cx="54864" cy="91668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57885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7885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60570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优秀+故障自动转移/主从切换或性能监控小面板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1803" y="4588001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1803" y="4588001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44033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三链路对照即监控面板（不重连 / 重连默认 3 次 / 零丢弃 4 次），每条链路的计划-成功-丢弃-重试-调用-延迟六个计数各自自洽 通过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5"/>
            <a:ext cx="11237976" cy="941832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5"/>
            <a:ext cx="54864" cy="9418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7"/>
            <a:ext cx="10908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出处：工程化项目/p41_collector_hub/output/report.txt 第 36 节「工单验收四档对照」——本机 2026-10-28 05:08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工程化项目/p41_collector_hub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P4.1 工单验收四档对照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46 / 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41_collector_hub_work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048196"/>
            <a:ext cx="11237976" cy="33376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422451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p41_collector_hub：工单验收四档对照 第 36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P4.1 · 另一套阶梯逐字输出＋pytest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47 / 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上：p41_collector_hub 分层达标逐字输出（见上一页）｜下：pytest 全量实跑（退出码 0，全绿）</a:t>
            </a:r>
          </a:p>
        </p:txBody>
      </p:sp>
      <p:pic>
        <p:nvPicPr>
          <p:cNvPr id="12" name="Picture 11" descr="p41_collector_hub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72" y="1792224"/>
            <a:ext cx="9996406" cy="21692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3998020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分层达标（第 44 行起）：四档逐字原文，未改写</a:t>
            </a:r>
          </a:p>
        </p:txBody>
      </p:sp>
      <p:pic>
        <p:nvPicPr>
          <p:cNvPr id="14" name="Picture 13" descr="p41_collector_hub_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72" y="4272340"/>
            <a:ext cx="9996406" cy="13695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pytest：47 passed in 0.28s（本机实跑，非示例）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提交物与评分（工单P4.1）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 panose="020B0502040204020203" charset="-122"/>
              </a:rPr>
              <a:t>提交清单</a:t>
            </a:r>
            <a:endParaRPr sz="15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1. 程序/notebook（含运行输出）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2. 分层工单纸件（勾层+自评）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3. 决策矩阵照片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4. 过程记录/避坑笔记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 panose="020B0502040204020203" charset="-122"/>
              </a:rPr>
              <a:t>命名: 学号_姓名_P4.1</a:t>
            </a:r>
            <a:endParaRPr sz="12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 panose="020B0502040204020203" charset="-122"/>
              </a:rPr>
              <a:t>评分构成</a:t>
            </a:r>
            <a:endParaRPr sz="15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功能完成 40%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技术质量 25%（指标达标）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代码规范 20%（PEP 8）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工程素养 15%（留痕/协作）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 panose="020B0502040204020203" charset="-122"/>
              </a:rPr>
              <a:t>D≥60 / C≥70 / B≥80 / A≥90</a:t>
            </a:r>
            <a:endParaRPr sz="1250" b="1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48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总结评价与课后任务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2040204020203" charset="-122"/>
              </a:rPr>
              <a:t>评价（10分钟）：</a:t>
            </a:r>
            <a:endParaRPr sz="15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按D/C/B/A量表当堂评分；工单24小时内反馈评语与改进建议。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1. 完成工单P4.1《多源工业数据采集系统》：及格标准采集率&gt;95%+无数据丢失；优秀标准≥99.5%+延迟&lt;100ms+告警完善；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2. 撰写系统架构文档（模块图+数据流图）；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3. 预习SQL基础与数据库设计方法。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 panose="020B0502040204020203" charset="-122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见下次课工单任务书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49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素养目标（课程思政融入点）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责任感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工程责任：代码可维护、文档完整、测试先行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工匠精神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绿色计算：向量化省算力, 批量写入降开销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数据伦理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职业规划：以项目档案袋对接岗位与竞赛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50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工单评分细则（四级量表）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等级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达标线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对应要求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A·师傅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≥90分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进阶拓展完成+2分钟费曼展示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B·组长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≥80分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全功能+代码规范+帮带D/C层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C·操作员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≥70分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基础功能完成+错误速查自查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D·学徒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≥60分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跟做完成核心步骤+达标自评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功能40%+技术质量25%+代码规范20%+工程素养15%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51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高频FAQ（先自查再举手）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pandas读取大CSV慢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usecols选列+chunksize分块读，见W3微课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Modbus连接拒绝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先起plc_simulator再连5020；确认host是教师机IP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streamlit页面不刷新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改代码后浏览器右上Rerun或按R键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52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资源导航（卡住时按顺序查）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工单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P4.1任务书——步骤/及格线/评分细则都在里面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starter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学生代码框架/——TODO注释即步骤提示，未填也能跑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软件指南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../软件操作指南/——PyCharm/Jupyter/Git/Anaconda六份图文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Jupyter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Jupyter实训/——本周notebook师生版，先跑教师版看答案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Git提交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做完按Ctrl+K提交推送——每周至少1次，工程素养分依据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53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07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拓展与自测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把今天的能力圈再画大一圈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54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产业应用案例（学这个能干什么）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真实场景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三个系统的数据格式不统一，周报要人工合并两小时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用什么解决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Pandas管道+Streamlit仪表盘，一键刷新自动出周报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本课对应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P4.1的技能点即其最小实现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延伸方向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下一步：模型预警（P6）/智能运维平台（P7选做）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55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课程思政：如盐入水（30秒一个点）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工匠精神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报错必究——每个红色报错都是产线隐患的预演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数据诚信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指标不许造假——改数字骗过测试=产线事故的起点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协作素养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ABCD轮换履职——师傅带徒弟，贡献表如实填报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职业底线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代码抄作业=岗位上的'无证驾驶'，害人害己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56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全课知识图谱回顾（一图收束）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让程序同时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听三个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4条分支导览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知识回顾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线程并发；Queue线程安全传送带——应用：见工单starter与教师参考实现 · put/get超时防死等——应用：见工单starter与教师参考实现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技能回顾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三线程骨架贯通(采集/订阅/处理)——应用：见工单starter与教师参考实现 · 断线重连实测(2号PLC掉线)——应用：见工单starter与教师参考实现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易错回顾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Ctrl+C退不出 · Queue满卡死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交付物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工单P4.1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57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多解法一瞥（同一任务的不同打法）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解法A·直白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按工单步骤顺序实现——好懂好调试，D/C层路线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解法B·工程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函数封装+异常处理——可复用，B层路线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解法C·进阶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向量化/推导式/设计模式——性能优雅，A层路线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怎么选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先让它跑起来→再让它对→最后让它快（KISS原则）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58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自测答案与讲解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课前快问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为什么‘共享list.append’有隐患而Queue安全？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排错题：出现「Ctrl+C退不出」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原因：没设daemon；解决：daemon=True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复述题：用自己的话说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线程并发；Queue线程安全传送带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错题怎么办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回看对应知识卡+应用页，再跑一遍starter验证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59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9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今日一图流总结（贴脑墙上）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知识：线程并发；Queue线程安全传送带；put/get超时防死等；退避重试1→2→4s封顶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技能：三线程骨架贯通(采集/订阅/处理)——应用：见工单starter与教师参考实现；断线重连实测(2号PLC掉线)——应用：见工单starter与教师参考实现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交付：工单P4.1《多源数据采集系统》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习惯：做完就Ctrl+K提交Git——每周至少1次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明日：课前微课+导学单（下次课quiz从中出题）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60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 panose="020B0502040204020203" charset="-122"/>
              </a:rPr>
              <a:t>THANKS</a:t>
            </a:r>
            <a:endParaRPr sz="5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 panose="020B0502040204020203" charset="-122"/>
              </a:rPr>
              <a:t>感谢聆听 · 动手实践出真知</a:t>
            </a:r>
            <a:endParaRPr sz="2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 panose="020B0502040204020203" charset="-122"/>
              </a:rPr>
              <a:t>以生为本   |   做中学 · 学中做</a:t>
            </a:r>
            <a:endParaRPr sz="14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61 / 62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下次课预告（第7周）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 panose="020B0502040204020203" charset="-122"/>
              </a:rPr>
              <a:t>主题: 四表ER设计与ORM建模——应用：见工单star</a:t>
            </a:r>
            <a:endParaRPr sz="17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预习快问: 一对多关系在表结构上如何表达？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课前完成：导学单 + 预习自测 + starter环境自检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 panose="020B0502040204020203" charset="-122"/>
              </a:rPr>
              <a:t>带着问题来上课——Predict先于Run</a:t>
            </a:r>
            <a:endParaRPr sz="125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9603</Words>
  <Application>WPS 文字</Application>
  <PresentationFormat>On-screen Show (4:3)</PresentationFormat>
  <Paragraphs>1246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天琼恩泽</cp:lastModifiedBy>
  <cp:revision>5</cp:revision>
  <dcterms:created xsi:type="dcterms:W3CDTF">2026-10-19T10:52:23Z</dcterms:created>
  <dcterms:modified xsi:type="dcterms:W3CDTF">2026-10-19T10:52:23Z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1D2DB945DA05DC39D1E3D56ABE0DC829_42</vt:lpwstr>
  </property>
  <property fmtid="{D5CDD505-2E9C-101B-9397-08002B2CF9AE}" pid="3" name="KSOProductBuildVer">
    <vt:lpwstr>2052-12.1.28496.28496</vt:lpwstr>
  </property>
</Properties>
</file>