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79" r:id="rId30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80" r:id="rId31"/>
    <p:sldId id="281" r:id="rId3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3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W6_场景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1464469"/>
            <a:ext cx="5029200" cy="3929062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640080" y="777240"/>
            <a:ext cx="3480389" cy="289559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777240"/>
            <a:ext cx="3480389" cy="289559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</a:rPr>
              <a:t>Python程序设计（项目实战） · 8周·32课时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81328"/>
            <a:ext cx="5943600" cy="4572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C9A227"/>
                </a:solidFill>
                <a:latin typeface="Microsoft YaHei"/>
                <a:ea typeface="Microsoft YaHei"/>
              </a:rPr>
              <a:t>W06 · 第11次课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029968"/>
            <a:ext cx="5852160" cy="9144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0000"/>
              </a:lnSpc>
            </a:pPr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让程序同时听三个PLC说话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931920"/>
            <a:ext cx="1001361" cy="277495"/>
          </a:xfrm>
          <a:prstGeom prst="roundRect">
            <a:avLst>
              <a:gd name="adj" fmla="val 50000"/>
            </a:avLst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931920"/>
            <a:ext cx="1001361" cy="27749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FFFFFF"/>
                </a:solidFill>
                <a:latin typeface="Microsoft YaHei"/>
                <a:ea typeface="Microsoft YaHei"/>
              </a:rPr>
              <a:t>工单 P4.1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778601" y="3931920"/>
            <a:ext cx="1549400" cy="277495"/>
          </a:xfrm>
          <a:prstGeom prst="roundRect">
            <a:avLst>
              <a:gd name="adj" fmla="val 50000"/>
            </a:avLst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778601" y="3931920"/>
            <a:ext cx="1549400" cy="27749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FFFFFF"/>
                </a:solidFill>
                <a:latin typeface="Microsoft YaHei"/>
                <a:ea typeface="Microsoft YaHei"/>
              </a:rPr>
              <a:t>多源数据采集系统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4443984"/>
            <a:ext cx="3287748" cy="253365"/>
          </a:xfrm>
          <a:prstGeom prst="roundRect">
            <a:avLst>
              <a:gd name="adj" fmla="val 50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4443984"/>
            <a:ext cx="3287748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本节（上）：基础实现 · 概念打底 + D/C层保底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956048"/>
            <a:ext cx="5669280" cy="9601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C9D4E4"/>
                </a:solidFill>
                <a:latin typeface="Microsoft YaHei"/>
                <a:ea typeface="Microsoft YaHei"/>
              </a:rPr>
              <a:t>3台PLC+云端MQTT并发接入。三线程骨架已给；2号PLC会随机掉线——正好实测重连。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5989320"/>
            <a:ext cx="10881360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8C99B5"/>
                </a:solidFill>
                <a:latin typeface="Microsoft YaHei"/>
                <a:ea typeface="Microsoft YaHei"/>
              </a:rPr>
              <a:t>重庆两江智造集团 · 双创中心302实训室 · V1重制版（easyslides规范）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B5E54"/>
                </a:solidFill>
                <a:latin typeface="Microsoft YaHei"/>
                <a:ea typeface="Microsoft YaHei"/>
              </a:rPr>
              <a:t>课程定位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Python程序设计（项目实战） · V1 · W06-11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02 / 23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142039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142039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COURSE MAP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B2B28"/>
                </a:solidFill>
                <a:latin typeface="Microsoft YaHei"/>
                <a:ea typeface="Microsoft YaHei"/>
              </a:rPr>
              <a:t>这门课站在哪：定位与出路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C6E6A"/>
                </a:solidFill>
                <a:latin typeface="Microsoft YaHei"/>
                <a:ea typeface="Microsoft YaHei"/>
              </a:rPr>
              <a:t>四年后你手里的证书与岗位，都从这门课出发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71600"/>
            <a:ext cx="5506059" cy="19202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75488" y="1371600"/>
            <a:ext cx="64008" cy="192024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1517904"/>
            <a:ext cx="5048859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0B5E54"/>
                </a:solidFill>
                <a:latin typeface="Microsoft YaHei"/>
                <a:ea typeface="Microsoft YaHei"/>
              </a:rPr>
              <a:t>课程性质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1938528"/>
            <a:ext cx="4993995" cy="11887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B2B28"/>
                </a:solidFill>
                <a:latin typeface="Microsoft YaHei"/>
                <a:ea typeface="Microsoft YaHei"/>
              </a:rPr>
              <a:t>自包含工程应用课：C语言底子直接上工业项目（P1-P7任务链）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0147" y="1371600"/>
            <a:ext cx="5506059" cy="19202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10147" y="1371600"/>
            <a:ext cx="64008" cy="192024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66179" y="1517904"/>
            <a:ext cx="5048859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0B5E54"/>
                </a:solidFill>
                <a:latin typeface="Microsoft YaHei"/>
                <a:ea typeface="Microsoft YaHei"/>
              </a:rPr>
              <a:t>面向岗位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66179" y="1938528"/>
            <a:ext cx="4993995" cy="11887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B2B28"/>
                </a:solidFill>
                <a:latin typeface="Microsoft YaHei"/>
                <a:ea typeface="Microsoft YaHei"/>
              </a:rPr>
              <a:t>数据工程师 / 数据分析 / AI应用 / 采集技术员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75488" y="3456432"/>
            <a:ext cx="5506059" cy="19202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75488" y="3456432"/>
            <a:ext cx="64008" cy="192024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3602736"/>
            <a:ext cx="5048859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0B5E54"/>
                </a:solidFill>
                <a:latin typeface="Microsoft YaHei"/>
                <a:ea typeface="Microsoft YaHei"/>
              </a:rPr>
              <a:t>对接证书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4023360"/>
            <a:ext cx="4993995" cy="11887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B2B28"/>
                </a:solidFill>
                <a:latin typeface="Microsoft YaHei"/>
                <a:ea typeface="Microsoft YaHei"/>
              </a:rPr>
              <a:t>Python开发 · 数据应用与服务（1+X）· AI应用实践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10147" y="3456432"/>
            <a:ext cx="5506059" cy="19202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210147" y="3456432"/>
            <a:ext cx="64008" cy="192024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66179" y="3602736"/>
            <a:ext cx="5048859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0B5E54"/>
                </a:solidFill>
                <a:latin typeface="Microsoft YaHei"/>
                <a:ea typeface="Microsoft YaHei"/>
              </a:rPr>
              <a:t>课程衔接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66179" y="4023360"/>
            <a:ext cx="4993995" cy="11887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B2B28"/>
                </a:solidFill>
                <a:latin typeface="Microsoft YaHei"/>
                <a:ea typeface="Microsoft YaHei"/>
              </a:rPr>
              <a:t>前置仅需C语言 → 本课8周 → 后：毕业设计/平台实习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75488" y="5468112"/>
            <a:ext cx="11240719" cy="896112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94944" y="5559552"/>
            <a:ext cx="54864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B5E54"/>
                </a:solidFill>
                <a:latin typeface="Microsoft YaHei"/>
                <a:ea typeface="Microsoft YaHei"/>
              </a:rPr>
              <a:t>本课程路线图（当前周高亮）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94944" y="5888736"/>
            <a:ext cx="1313649" cy="365760"/>
          </a:xfrm>
          <a:prstGeom prst="roundRect">
            <a:avLst>
              <a:gd name="adj" fmla="val 18000"/>
            </a:avLst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94944" y="5888736"/>
            <a:ext cx="1313649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95000"/>
              </a:lnSpc>
            </a:pPr>
            <a:r>
              <a:rPr sz="950" b="1">
                <a:solidFill>
                  <a:srgbClr val="FFFFFF"/>
                </a:solidFill>
                <a:latin typeface="Microsoft YaHei"/>
                <a:ea typeface="Microsoft YaHei"/>
              </a:rPr>
              <a:t>W1</a:t>
            </a:r>
            <a:r>
              <a:rPr sz="800" b="0">
                <a:solidFill>
                  <a:srgbClr val="D8E1EC"/>
                </a:solidFill>
                <a:latin typeface="Microsoft YaHei"/>
                <a:ea typeface="Microsoft YaHei"/>
              </a:rPr>
              <a:t>
C→Py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2045169" y="5888736"/>
            <a:ext cx="1313649" cy="365760"/>
          </a:xfrm>
          <a:prstGeom prst="roundRect">
            <a:avLst>
              <a:gd name="adj" fmla="val 18000"/>
            </a:avLst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045169" y="5888736"/>
            <a:ext cx="1313649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95000"/>
              </a:lnSpc>
            </a:pPr>
            <a:r>
              <a:rPr sz="950" b="1">
                <a:solidFill>
                  <a:srgbClr val="FFFFFF"/>
                </a:solidFill>
                <a:latin typeface="Microsoft YaHei"/>
                <a:ea typeface="Microsoft YaHei"/>
              </a:rPr>
              <a:t>W2</a:t>
            </a:r>
            <a:r>
              <a:rPr sz="800" b="0">
                <a:solidFill>
                  <a:srgbClr val="D8E1EC"/>
                </a:solidFill>
                <a:latin typeface="Microsoft YaHei"/>
                <a:ea typeface="Microsoft YaHei"/>
              </a:rPr>
              <a:t>
工程规范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395395" y="5888736"/>
            <a:ext cx="1313649" cy="365760"/>
          </a:xfrm>
          <a:prstGeom prst="roundRect">
            <a:avLst>
              <a:gd name="adj" fmla="val 18000"/>
            </a:avLst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395395" y="5888736"/>
            <a:ext cx="1313649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95000"/>
              </a:lnSpc>
            </a:pPr>
            <a:r>
              <a:rPr sz="950" b="1">
                <a:solidFill>
                  <a:srgbClr val="FFFFFF"/>
                </a:solidFill>
                <a:latin typeface="Microsoft YaHei"/>
                <a:ea typeface="Microsoft YaHei"/>
              </a:rPr>
              <a:t>W3</a:t>
            </a:r>
            <a:r>
              <a:rPr sz="800" b="0">
                <a:solidFill>
                  <a:srgbClr val="D8E1EC"/>
                </a:solidFill>
                <a:latin typeface="Microsoft YaHei"/>
                <a:ea typeface="Microsoft YaHei"/>
              </a:rPr>
              <a:t>
Pand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745621" y="5888736"/>
            <a:ext cx="1313649" cy="365760"/>
          </a:xfrm>
          <a:prstGeom prst="roundRect">
            <a:avLst>
              <a:gd name="adj" fmla="val 18000"/>
            </a:avLst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745621" y="5888736"/>
            <a:ext cx="1313649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95000"/>
              </a:lnSpc>
            </a:pPr>
            <a:r>
              <a:rPr sz="950" b="1">
                <a:solidFill>
                  <a:srgbClr val="FFFFFF"/>
                </a:solidFill>
                <a:latin typeface="Microsoft YaHei"/>
                <a:ea typeface="Microsoft YaHei"/>
              </a:rPr>
              <a:t>W4</a:t>
            </a:r>
            <a:r>
              <a:rPr sz="800" b="0">
                <a:solidFill>
                  <a:srgbClr val="D8E1EC"/>
                </a:solidFill>
                <a:latin typeface="Microsoft YaHei"/>
                <a:ea typeface="Microsoft YaHei"/>
              </a:rPr>
              <a:t>
NumP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095847" y="5888736"/>
            <a:ext cx="1313649" cy="365760"/>
          </a:xfrm>
          <a:prstGeom prst="roundRect">
            <a:avLst>
              <a:gd name="adj" fmla="val 18000"/>
            </a:avLst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095847" y="5888736"/>
            <a:ext cx="1313649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95000"/>
              </a:lnSpc>
            </a:pPr>
            <a:r>
              <a:rPr sz="950" b="1">
                <a:solidFill>
                  <a:srgbClr val="FFFFFF"/>
                </a:solidFill>
                <a:latin typeface="Microsoft YaHei"/>
                <a:ea typeface="Microsoft YaHei"/>
              </a:rPr>
              <a:t>W5</a:t>
            </a:r>
            <a:r>
              <a:rPr sz="800" b="0">
                <a:solidFill>
                  <a:srgbClr val="D8E1EC"/>
                </a:solidFill>
                <a:latin typeface="Microsoft YaHei"/>
                <a:ea typeface="Microsoft YaHei"/>
              </a:rPr>
              <a:t>
交互式仪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446073" y="5888736"/>
            <a:ext cx="1313649" cy="365760"/>
          </a:xfrm>
          <a:prstGeom prst="roundRect">
            <a:avLst>
              <a:gd name="adj" fmla="val 18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446073" y="5888736"/>
            <a:ext cx="1313649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95000"/>
              </a:lnSpc>
            </a:pPr>
            <a:r>
              <a:rPr sz="950" b="1">
                <a:solidFill>
                  <a:srgbClr val="FFFFFF"/>
                </a:solidFill>
                <a:latin typeface="Microsoft YaHei"/>
                <a:ea typeface="Microsoft YaHei"/>
              </a:rPr>
              <a:t>W6</a:t>
            </a:r>
            <a:r>
              <a:rPr sz="800" b="0">
                <a:solidFill>
                  <a:srgbClr val="F0E6D8"/>
                </a:solidFill>
                <a:latin typeface="Microsoft YaHei"/>
                <a:ea typeface="Microsoft YaHei"/>
              </a:rPr>
              <a:t>
多线程采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796299" y="5888736"/>
            <a:ext cx="1313649" cy="365760"/>
          </a:xfrm>
          <a:prstGeom prst="roundRect">
            <a:avLst>
              <a:gd name="adj" fmla="val 18000"/>
            </a:avLst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796299" y="5888736"/>
            <a:ext cx="1313649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95000"/>
              </a:lnSpc>
            </a:pPr>
            <a:r>
              <a:rPr sz="950" b="1">
                <a:solidFill>
                  <a:srgbClr val="FFFFFF"/>
                </a:solidFill>
                <a:latin typeface="Microsoft YaHei"/>
                <a:ea typeface="Microsoft YaHei"/>
              </a:rPr>
              <a:t>W7</a:t>
            </a:r>
            <a:r>
              <a:rPr sz="800" b="0">
                <a:solidFill>
                  <a:srgbClr val="D8E1EC"/>
                </a:solidFill>
                <a:latin typeface="Microsoft YaHei"/>
                <a:ea typeface="Microsoft YaHei"/>
              </a:rPr>
              <a:t>
数据库设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10146525" y="5888736"/>
            <a:ext cx="1313649" cy="365760"/>
          </a:xfrm>
          <a:prstGeom prst="roundRect">
            <a:avLst>
              <a:gd name="adj" fmla="val 18000"/>
            </a:avLst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146525" y="5888736"/>
            <a:ext cx="1313649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95000"/>
              </a:lnSpc>
            </a:pPr>
            <a:r>
              <a:rPr sz="950" b="1">
                <a:solidFill>
                  <a:srgbClr val="FFFFFF"/>
                </a:solidFill>
                <a:latin typeface="Microsoft YaHei"/>
                <a:ea typeface="Microsoft YaHei"/>
              </a:rPr>
              <a:t>W8</a:t>
            </a:r>
            <a:r>
              <a:rPr sz="800" b="0">
                <a:solidFill>
                  <a:srgbClr val="D8E1EC"/>
                </a:solidFill>
                <a:latin typeface="Microsoft YaHei"/>
                <a:ea typeface="Microsoft YaHei"/>
              </a:rPr>
              <a:t>
Scik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B5E54"/>
                </a:solidFill>
                <a:latin typeface="Microsoft YaHei"/>
                <a:ea typeface="Microsoft YaHei"/>
              </a:rPr>
              <a:t>剧情情境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Python程序设计（项目实战） · V1 · W06-11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03 / 23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738541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738541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SCENARIO · 两江智造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B2B28"/>
                </a:solidFill>
                <a:latin typeface="Microsoft YaHei"/>
                <a:ea typeface="Microsoft YaHei"/>
              </a:rPr>
              <a:t>车间今天发生了什么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C6E6A"/>
                </a:solidFill>
                <a:latin typeface="Microsoft YaHei"/>
                <a:ea typeface="Microsoft YaHei"/>
              </a:rPr>
              <a:t>连续剧情 · 你（小郑）的第11次出场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48056" y="1598485"/>
            <a:ext cx="4261104" cy="3340989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W6_场景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" y="1625917"/>
            <a:ext cx="4206240" cy="3286125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4910328" y="1417320"/>
            <a:ext cx="6805879" cy="24231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910328" y="1417320"/>
            <a:ext cx="6805879" cy="9144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184648" y="1691640"/>
            <a:ext cx="6257239" cy="19202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30000"/>
              </a:lnSpc>
            </a:pPr>
            <a:r>
              <a:rPr sz="1450" b="0">
                <a:solidFill>
                  <a:srgbClr val="1B2B28"/>
                </a:solidFill>
                <a:latin typeface="Microsoft YaHei"/>
                <a:ea typeface="Microsoft YaHei"/>
              </a:rPr>
              <a:t>3台PLC+云端MQTT并发接入。三线程骨架已给；2号PLC会随机掉线——正好实测重连。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910328" y="4005072"/>
            <a:ext cx="6805879" cy="1600200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138928" y="4160520"/>
            <a:ext cx="960120" cy="241300"/>
          </a:xfrm>
          <a:prstGeom prst="roundRect">
            <a:avLst>
              <a:gd name="adj" fmla="val 50000"/>
            </a:avLst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138928" y="4160520"/>
            <a:ext cx="960120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本课工单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63640" y="4133088"/>
            <a:ext cx="5205679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B28"/>
                </a:solidFill>
                <a:latin typeface="Microsoft YaHei"/>
                <a:ea typeface="Microsoft YaHei"/>
              </a:rPr>
              <a:t>P4.1 · 多源数据采集系统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138928" y="4636008"/>
            <a:ext cx="960120" cy="241300"/>
          </a:xfrm>
          <a:prstGeom prst="roundRect">
            <a:avLst>
              <a:gd name="adj" fmla="val 50000"/>
            </a:avLst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138928" y="4636008"/>
            <a:ext cx="960120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交付要点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63640" y="4608576"/>
            <a:ext cx="5205679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B28"/>
                </a:solidFill>
                <a:latin typeface="Microsoft YaHei"/>
                <a:ea typeface="Microsoft YaHei"/>
              </a:rPr>
              <a:t>启动plc_simulator三台PLC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138928" y="5111496"/>
            <a:ext cx="960120" cy="241300"/>
          </a:xfrm>
          <a:prstGeom prst="roundRect">
            <a:avLst>
              <a:gd name="adj" fmla="val 50000"/>
            </a:avLst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138928" y="5111496"/>
            <a:ext cx="960120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交付要点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63640" y="5084064"/>
            <a:ext cx="5205679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B28"/>
                </a:solidFill>
                <a:latin typeface="Microsoft YaHei"/>
                <a:ea typeface="Microsoft YaHei"/>
              </a:rPr>
              <a:t>ModbusCollector轮询0.5s×3台(÷10还原)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38928" y="5303520"/>
            <a:ext cx="1280160" cy="2743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5C6E6A"/>
                </a:solidFill>
                <a:latin typeface="Microsoft YaHei"/>
                <a:ea typeface="Microsoft YaHei"/>
              </a:rPr>
              <a:t>出场人物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08776" y="5266944"/>
            <a:ext cx="714756" cy="241300"/>
          </a:xfrm>
          <a:prstGeom prst="roundRect">
            <a:avLst>
              <a:gd name="adj" fmla="val 50000"/>
            </a:avLst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208776" y="5266944"/>
            <a:ext cx="71475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方总监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033260" y="5266944"/>
            <a:ext cx="580136" cy="241300"/>
          </a:xfrm>
          <a:prstGeom prst="roundRect">
            <a:avLst>
              <a:gd name="adj" fmla="val 50000"/>
            </a:avLst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033260" y="5266944"/>
            <a:ext cx="58013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吴工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723124" y="5266944"/>
            <a:ext cx="580136" cy="241300"/>
          </a:xfrm>
          <a:prstGeom prst="roundRect">
            <a:avLst>
              <a:gd name="adj" fmla="val 50000"/>
            </a:avLst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723124" y="5266944"/>
            <a:ext cx="58013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小郑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B5E54"/>
                </a:solidFill>
                <a:latin typeface="Microsoft YaHei"/>
                <a:ea typeface="Microsoft YaHei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Python程序设计（项目实战） · V1 · W06-11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04 / 23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260774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260774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GOALS &amp; FLOW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B2B28"/>
                </a:solidFill>
                <a:latin typeface="Microsoft YaHei"/>
                <a:ea typeface="Microsoft YaHei"/>
              </a:rPr>
              <a:t>这节课结束时，你能做到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C6E6A"/>
                </a:solidFill>
                <a:latin typeface="Microsoft YaHei"/>
                <a:ea typeface="Microsoft YaHei"/>
              </a:rPr>
              <a:t>目标可测量：及格线/优秀线写在工单上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89888"/>
            <a:ext cx="3612794" cy="221284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75488" y="1389888"/>
            <a:ext cx="3612794" cy="82296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94944" y="1554480"/>
            <a:ext cx="3173882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5E54"/>
                </a:solidFill>
                <a:latin typeface="Microsoft YaHei"/>
                <a:ea typeface="Microsoft YaHei"/>
              </a:rPr>
              <a:t>知识目标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944" y="1956816"/>
            <a:ext cx="3173882" cy="11887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0">
                <a:solidFill>
                  <a:srgbClr val="1B2B28"/>
                </a:solidFill>
                <a:latin typeface="Microsoft YaHei"/>
                <a:ea typeface="Microsoft YaHei"/>
              </a:rPr>
              <a:t>掌握Modbus寄存器读写流程；掌握MQTT主题设计与QoS机制；理解多线程并发与Queue线程安全原理。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163824"/>
            <a:ext cx="3283610" cy="365760"/>
          </a:xfrm>
          <a:prstGeom prst="roundRect">
            <a:avLst>
              <a:gd name="adj" fmla="val 220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9808" y="3163824"/>
            <a:ext cx="3064154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C6E6A"/>
                </a:solidFill>
                <a:latin typeface="Microsoft YaHei"/>
                <a:ea typeface="Microsoft YaHei"/>
              </a:rPr>
              <a:t>检验：口头复述+快答2题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89450" y="1389888"/>
            <a:ext cx="3612794" cy="221284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289450" y="1389888"/>
            <a:ext cx="3612794" cy="82296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08906" y="1554480"/>
            <a:ext cx="3173882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5E54"/>
                </a:solidFill>
                <a:latin typeface="Microsoft YaHei"/>
                <a:ea typeface="Microsoft YaHei"/>
              </a:rPr>
              <a:t>能力目标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08906" y="1956816"/>
            <a:ext cx="3173882" cy="11887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0">
                <a:solidFill>
                  <a:srgbClr val="1B2B28"/>
                </a:solidFill>
                <a:latin typeface="Microsoft YaHei"/>
                <a:ea typeface="Microsoft YaHei"/>
              </a:rPr>
              <a:t>能够开发多线程多源采集系统（采集率≥95%优秀≥99.5%）；能够处理断线重连与数据缓冲；代码PEP 8≥75%。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454042" y="3163824"/>
            <a:ext cx="3283610" cy="365760"/>
          </a:xfrm>
          <a:prstGeom prst="roundRect">
            <a:avLst>
              <a:gd name="adj" fmla="val 220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63770" y="3163824"/>
            <a:ext cx="3064154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C6E6A"/>
                </a:solidFill>
                <a:latin typeface="Microsoft YaHei"/>
                <a:ea typeface="Microsoft YaHei"/>
              </a:rPr>
              <a:t>检验：工单运行通过+截图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103412" y="1389888"/>
            <a:ext cx="3612794" cy="221284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103412" y="1389888"/>
            <a:ext cx="3612794" cy="82296"/>
          </a:xfrm>
          <a:prstGeom prst="rect">
            <a:avLst/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22868" y="1554480"/>
            <a:ext cx="3173882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5E54"/>
                </a:solidFill>
                <a:latin typeface="Microsoft YaHei"/>
                <a:ea typeface="Microsoft YaHei"/>
              </a:rPr>
              <a:t>素质目标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22868" y="1956816"/>
            <a:ext cx="3173882" cy="11887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0">
                <a:solidFill>
                  <a:srgbClr val="1B2B28"/>
                </a:solidFill>
                <a:latin typeface="Microsoft YaHei"/>
                <a:ea typeface="Microsoft YaHei"/>
              </a:rPr>
              <a:t>建立“系统稳定性”工程意识（7×24运行思维），培养并发编程的严谨性（线程安全、资源释放）。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268004" y="3163824"/>
            <a:ext cx="3283610" cy="365760"/>
          </a:xfrm>
          <a:prstGeom prst="roundRect">
            <a:avLst>
              <a:gd name="adj" fmla="val 220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77732" y="3163824"/>
            <a:ext cx="3064154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C6E6A"/>
                </a:solidFill>
                <a:latin typeface="Microsoft YaHei"/>
                <a:ea typeface="Microsoft YaHei"/>
              </a:rPr>
              <a:t>检验：同桌互查代码规范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75488" y="3950208"/>
            <a:ext cx="11240719" cy="1591056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49808" y="4078224"/>
            <a:ext cx="5486400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0B5E54"/>
                </a:solidFill>
                <a:latin typeface="Microsoft YaHei"/>
                <a:ea typeface="Microsoft YaHei"/>
              </a:rPr>
              <a:t>课堂节奏（80分钟）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49808" y="4535424"/>
            <a:ext cx="1220927" cy="241300"/>
          </a:xfrm>
          <a:prstGeom prst="roundRect">
            <a:avLst>
              <a:gd name="adj" fmla="val 50000"/>
            </a:avLst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49808" y="4535424"/>
            <a:ext cx="1220927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1.启动plc_sim…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313834" y="4535424"/>
            <a:ext cx="1150924" cy="241300"/>
          </a:xfrm>
          <a:prstGeom prst="roundRect">
            <a:avLst>
              <a:gd name="adj" fmla="val 50000"/>
            </a:avLst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313834" y="4535424"/>
            <a:ext cx="1150924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2.ModbusCol…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877860" y="4535424"/>
            <a:ext cx="1191310" cy="241300"/>
          </a:xfrm>
          <a:prstGeom prst="roundRect">
            <a:avLst>
              <a:gd name="adj" fmla="val 50000"/>
            </a:avLst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877860" y="4535424"/>
            <a:ext cx="1191310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3.read_one退…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49808" y="5084064"/>
            <a:ext cx="10692079" cy="38404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5C6E6A"/>
                </a:solidFill>
                <a:latin typeface="Microsoft YaHei"/>
                <a:ea typeface="Microsoft YaHei"/>
              </a:rPr>
              <a:t>节奏纪律：讲10分钟必须动手一次；实操环节教师只答疑不代写——卡住先查《报错翻译对照表》，再举手。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3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331720"/>
            <a:ext cx="12191695" cy="118872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822960"/>
            <a:ext cx="2377440" cy="14630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6400" b="1">
                <a:solidFill>
                  <a:srgbClr val="C9A227"/>
                </a:solidFill>
                <a:latin typeface="Microsoft YaHei"/>
                <a:ea typeface="Microsoft YaHei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651760" y="2560320"/>
            <a:ext cx="8778240" cy="7315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知识精讲 · 讲透每个概念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651760" y="1572768"/>
            <a:ext cx="8961120" cy="5486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0">
                <a:solidFill>
                  <a:srgbClr val="C9D4E4"/>
                </a:solidFill>
                <a:latin typeface="Microsoft YaHei"/>
                <a:ea typeface="Microsoft YaHei"/>
              </a:rPr>
              <a:t>本章聚焦：多源采集——重点： · Modbus/MQTT协议集成；多… · 难点：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651760" y="4059936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88920" y="4059936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C9A227"/>
                </a:solidFill>
                <a:latin typeface="Microsoft YaHei"/>
                <a:ea typeface="Microsoft YaHe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46120" y="4059936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线程并发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4059936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('线程并发=操作系统在单核上快速切换执行多个任务（GIL使Pyt…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651760" y="4553712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263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88920" y="4553712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C9A227"/>
                </a:solidFill>
                <a:latin typeface="Microsoft YaHei"/>
                <a:ea typeface="Microsoft YaHei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46120" y="4553712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Queue传送带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4553712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('Queue线程安全传送带：生产者put进货、消费者get取货，…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651760" y="5047488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88920" y="5047488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C9A227"/>
                </a:solidFill>
                <a:latin typeface="Microsoft YaHei"/>
                <a:ea typeface="Microsoft YaHei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46120" y="5047488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get超时防死等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5047488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("q.get(timeout=5)最多等5秒，超时抛Empty异…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651760" y="5989320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88920" y="5989320"/>
            <a:ext cx="85039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C9A227"/>
                </a:solidFill>
                <a:latin typeface="Microsoft YaHei"/>
                <a:ea typeface="Microsoft YaHei"/>
              </a:rPr>
              <a:t>本章产出：四要素详解页×3 · 图解页×3 · 可跟打代码页×2 · 工单与分层工单各1份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5488" y="6473952"/>
            <a:ext cx="10515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8C99B5"/>
                </a:solidFill>
                <a:latin typeface="Microsoft YaHei"/>
                <a:ea typeface="Microsoft YaHei"/>
              </a:rPr>
              <a:t>Python程序设计（项目实战） · V1 · W06-11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B5E54"/>
                </a:solidFill>
                <a:latin typeface="Microsoft YaHei"/>
                <a:ea typeface="Microsoft YaHei"/>
              </a:rPr>
              <a:t>知识精讲 · 四要素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Python程序设计（项目实战） · V1 · W06-11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06 / 23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404952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404952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KNOWLEDGE B01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B2B28"/>
                </a:solidFill>
                <a:latin typeface="Microsoft YaHei"/>
                <a:ea typeface="Microsoft YaHei"/>
              </a:rPr>
              <a:t>B01 线程并发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C6E6A"/>
                </a:solidFill>
                <a:latin typeface="Microsoft YaHei"/>
                <a:ea typeface="Microsoft YaHei"/>
              </a:rPr>
              <a:t>定义 → 场景 → 实例 → 误区：一次讲透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7160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75488" y="1371600"/>
            <a:ext cx="64008" cy="2395728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94944" y="151790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4944" y="151790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定义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" y="193852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1B2B28"/>
                </a:solidFill>
                <a:latin typeface="Microsoft YaHei"/>
                <a:ea typeface="Microsoft YaHei"/>
              </a:rPr>
              <a:t>线程=车间三条传送带同时转：采集/处理/入库互不挡道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C6E6A"/>
                </a:solidFill>
                <a:latin typeface="Microsoft YaHei"/>
                <a:ea typeface="Microsoft YaHei"/>
              </a:rPr>
              <a:t>原理：线程并发=操作系统在单核上快速切换执行多个任务（GIL使Python线程不能真并行CPU计算，但IO等待时可切换）——采集卡在等网络时别的线程照干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05575" y="137160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05575" y="1371600"/>
            <a:ext cx="64008" cy="2395728"/>
          </a:xfrm>
          <a:prstGeom prst="rect">
            <a:avLst/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425031" y="151790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25031" y="151790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使用场景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3319" y="193852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1B2B28"/>
                </a:solidFill>
                <a:latin typeface="Microsoft YaHei"/>
                <a:ea typeface="Microsoft YaHei"/>
              </a:rPr>
              <a:t>采集不能被入库阻塞——三线程并行是主链路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C6E6A"/>
                </a:solidFill>
                <a:latin typeface="Microsoft YaHei"/>
                <a:ea typeface="Microsoft YaHei"/>
              </a:rPr>
              <a:t>怎么判断：三个PLC并发采集：单线程轮询一轮3秒，三线程各采各的一轮仍是1秒——IO密集场景线程正合适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75488" y="393192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75488" y="3931920"/>
            <a:ext cx="64008" cy="2395728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94944" y="407822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94944" y="407822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应用实例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3232" y="449884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1B2B28"/>
                </a:solidFill>
                <a:latin typeface="Consolas"/>
                <a:ea typeface="Microsoft YaHei"/>
              </a:rPr>
              <a:t>t = threading.Thread(target=worker); t.start()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C6E6A"/>
                </a:solidFill>
                <a:latin typeface="Consolas"/>
                <a:ea typeface="Microsoft YaHei"/>
              </a:rPr>
              <a:t>逐行看：t=threading.Thread(target=poll,args=(plc1,)) 开线程；t.start() 并发跑；t.join() 等收队——主线程不阻塞继续干别的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05575" y="393192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205575" y="3931920"/>
            <a:ext cx="64008" cy="2395728"/>
          </a:xfrm>
          <a:prstGeom prst="rect">
            <a:avLst/>
          </a:prstGeom>
          <a:solidFill>
            <a:srgbClr val="B977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425031" y="407822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B977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25031" y="407822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扩展与误区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43319" y="449884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1B2B28"/>
                </a:solidFill>
                <a:latin typeface="Microsoft YaHei"/>
                <a:ea typeface="Microsoft YaHei"/>
              </a:rPr>
              <a:t>误区：以为多线程必然更快——GIL下CPU密集不加速，IO密集才香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C6E6A"/>
                </a:solidFill>
                <a:latin typeface="Microsoft YaHei"/>
                <a:ea typeface="Microsoft YaHei"/>
              </a:rPr>
              <a:t>进阶：CPU密集用进程池multiprocessing绕开GIL；Python 3.13 freethread实验性去GIL——选型看瓶颈在IO还是CPU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B5E54"/>
                </a:solidFill>
                <a:latin typeface="Microsoft YaHei"/>
                <a:ea typeface="Microsoft YaHei"/>
              </a:rPr>
              <a:t>知识精讲 · 图解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Python程序设计（项目实战） · V1 · W06-11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07 / 23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260774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260774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VISUAL · B01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B2B28"/>
                </a:solidFill>
                <a:latin typeface="Microsoft YaHei"/>
                <a:ea typeface="Microsoft YaHei"/>
              </a:rPr>
              <a:t>线程并发：一张图看懂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C6E6A"/>
                </a:solidFill>
                <a:latin typeface="Microsoft YaHei"/>
                <a:ea typeface="Microsoft YaHei"/>
              </a:rPr>
              <a:t>图优先：先看图再回头读代码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48056" y="1899701"/>
            <a:ext cx="7278624" cy="2683694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683f1eb9bea65e2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" y="1927133"/>
            <a:ext cx="7223760" cy="262883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927848" y="1463040"/>
            <a:ext cx="3788359" cy="4114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5E54"/>
                </a:solidFill>
                <a:latin typeface="Microsoft YaHei"/>
                <a:ea typeface="Microsoft YaHei"/>
              </a:rPr>
              <a:t>四个观察点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27848" y="1920240"/>
            <a:ext cx="3788359" cy="733806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074152" y="2029968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74152" y="2029968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58200" y="2011680"/>
            <a:ext cx="3056839" cy="58750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B2B28"/>
                </a:solidFill>
                <a:latin typeface="Microsoft YaHei"/>
                <a:ea typeface="Microsoft YaHei"/>
              </a:rPr>
              <a:t>先想清楚数据从哪来到哪去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927848" y="2736342"/>
            <a:ext cx="3788359" cy="733806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074152" y="2846070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74152" y="2846070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58200" y="2827782"/>
            <a:ext cx="3056839" cy="58750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B2B28"/>
                </a:solidFill>
                <a:latin typeface="Microsoft YaHei"/>
                <a:ea typeface="Microsoft YaHei"/>
              </a:rPr>
              <a:t>每一步只做一件事，错了好定位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927848" y="3552444"/>
            <a:ext cx="3788359" cy="733806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074152" y="3662172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74152" y="3662172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58200" y="3643884"/>
            <a:ext cx="3056839" cy="58750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B2B28"/>
                </a:solidFill>
                <a:latin typeface="Microsoft YaHei"/>
                <a:ea typeface="Microsoft YaHei"/>
              </a:rPr>
              <a:t>追问：误区：以为多线程必然更快——GIL下CPU密集不加速，IO密集才香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75488" y="5230368"/>
            <a:ext cx="7223760" cy="89611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76656" y="5330952"/>
            <a:ext cx="6858000" cy="7315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2000"/>
              </a:lnSpc>
            </a:pPr>
            <a:r>
              <a:rPr sz="1200" b="1">
                <a:solidFill>
                  <a:srgbClr val="1B2B28"/>
                </a:solidFill>
                <a:latin typeface="Microsoft YaHei"/>
                <a:ea typeface="Microsoft YaHei"/>
              </a:rPr>
              <a:t>一句话：线程=车间三条传送带同时转：采集/处理/入库互不挡道</a:t>
            </a:r>
            <a:r>
              <a:rPr sz="1100" b="0">
                <a:solidFill>
                  <a:srgbClr val="5C6E6A"/>
                </a:solidFill>
                <a:latin typeface="Microsoft YaHei"/>
                <a:ea typeface="Microsoft YaHei"/>
              </a:rPr>
              <a:t>
何时用：采集不能被入库阻塞——三线程并行是主链路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B5E54"/>
                </a:solidFill>
                <a:latin typeface="Microsoft YaHei"/>
                <a:ea typeface="Microsoft YaHei"/>
              </a:rPr>
              <a:t>知识精讲 · 四要素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Python程序设计（项目实战） · V1 · W06-11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08 / 23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404952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404952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KNOWLEDGE B02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B2B28"/>
                </a:solidFill>
                <a:latin typeface="Microsoft YaHei"/>
                <a:ea typeface="Microsoft YaHei"/>
              </a:rPr>
              <a:t>B02 Queue传送带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C6E6A"/>
                </a:solidFill>
                <a:latin typeface="Microsoft YaHei"/>
                <a:ea typeface="Microsoft YaHei"/>
              </a:rPr>
              <a:t>定义 → 场景 → 实例 → 误区：一次讲透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7160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75488" y="1371600"/>
            <a:ext cx="64008" cy="2395728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94944" y="151790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4944" y="151790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定义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" y="193852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1B2B28"/>
                </a:solidFill>
                <a:latin typeface="Microsoft YaHei"/>
                <a:ea typeface="Microsoft YaHei"/>
              </a:rPr>
              <a:t>queue.Queue=自带保险锁的传送带——线程间传数据不丢不撞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C6E6A"/>
                </a:solidFill>
                <a:latin typeface="Microsoft YaHei"/>
                <a:ea typeface="Microsoft YaHei"/>
              </a:rPr>
              <a:t>原理：Queue线程安全传送带：生产者put进货、消费者get取货，自带锁不丢单——线程间传数据不走全局变量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05575" y="137160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05575" y="1371600"/>
            <a:ext cx="64008" cy="2395728"/>
          </a:xfrm>
          <a:prstGeom prst="rect">
            <a:avLst/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425031" y="151790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25031" y="151790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使用场景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3319" y="193852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1B2B28"/>
                </a:solidFill>
                <a:latin typeface="Microsoft YaHei"/>
                <a:ea typeface="Microsoft YaHei"/>
              </a:rPr>
              <a:t>采集线程与入库线程解耦——快慢各干各的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C6E6A"/>
                </a:solidFill>
                <a:latin typeface="Microsoft YaHei"/>
                <a:ea typeface="Microsoft YaHei"/>
              </a:rPr>
              <a:t>怎么判断：采集线程往队列塞原始数据、清洗线程从队列取——两环节速度解耦，互不等待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75488" y="393192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75488" y="3931920"/>
            <a:ext cx="64008" cy="2395728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94944" y="407822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94944" y="407822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应用实例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3232" y="449884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1B2B28"/>
                </a:solidFill>
                <a:latin typeface="Consolas"/>
                <a:ea typeface="Microsoft YaHei"/>
              </a:rPr>
              <a:t>q.put(row) / row = q.get(timeout=3)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C6E6A"/>
                </a:solidFill>
                <a:latin typeface="Consolas"/>
                <a:ea typeface="Microsoft YaHei"/>
              </a:rPr>
              <a:t>逐行看：q=queue.Queue(maxsize=100) 带背压的传送带（满则put阻塞防内存爆）；q.put(row) 塞；q.get() 取——中间缓冲解耦两侧速率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05575" y="393192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205575" y="3931920"/>
            <a:ext cx="64008" cy="2395728"/>
          </a:xfrm>
          <a:prstGeom prst="rect">
            <a:avLst/>
          </a:prstGeom>
          <a:solidFill>
            <a:srgbClr val="B977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425031" y="407822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B977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25031" y="407822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扩展与误区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43319" y="449884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1B2B28"/>
                </a:solidFill>
                <a:latin typeface="Microsoft YaHei"/>
                <a:ea typeface="Microsoft YaHei"/>
              </a:rPr>
              <a:t>误区：直接共享全局列表传数据——裸列表非线程安全，必加锁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C6E6A"/>
                </a:solidFill>
                <a:latin typeface="Microsoft YaHei"/>
                <a:ea typeface="Microsoft YaHei"/>
              </a:rPr>
              <a:t>进阶：qsize()监控积压（消费不动了先看这）；task_done()+join()任务级同步；进阶PriorityQueue告警优先处理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B5E54"/>
                </a:solidFill>
                <a:latin typeface="Microsoft YaHei"/>
                <a:ea typeface="Microsoft YaHei"/>
              </a:rPr>
              <a:t>知识精讲 · 图解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Python程序设计（项目实战） · V1 · W06-11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09 / 23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260774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260774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VISUAL · B02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B2B28"/>
                </a:solidFill>
                <a:latin typeface="Microsoft YaHei"/>
                <a:ea typeface="Microsoft YaHei"/>
              </a:rPr>
              <a:t>Queue传送带：一张图看懂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C6E6A"/>
                </a:solidFill>
                <a:latin typeface="Microsoft YaHei"/>
                <a:ea typeface="Microsoft YaHei"/>
              </a:rPr>
              <a:t>图优先：先看图再回头读代码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48056" y="1899701"/>
            <a:ext cx="7278624" cy="2683694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37fc07509ff3213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" y="1927133"/>
            <a:ext cx="7223760" cy="262883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927848" y="1463040"/>
            <a:ext cx="3788359" cy="4114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5E54"/>
                </a:solidFill>
                <a:latin typeface="Microsoft YaHei"/>
                <a:ea typeface="Microsoft YaHei"/>
              </a:rPr>
              <a:t>四个观察点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27848" y="1920240"/>
            <a:ext cx="3788359" cy="733806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074152" y="2029968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74152" y="2029968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58200" y="2011680"/>
            <a:ext cx="3056839" cy="58750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B2B28"/>
                </a:solidFill>
                <a:latin typeface="Microsoft YaHei"/>
                <a:ea typeface="Microsoft YaHei"/>
              </a:rPr>
              <a:t>先想清楚数据从哪来到哪去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927848" y="2736342"/>
            <a:ext cx="3788359" cy="733806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074152" y="2846070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74152" y="2846070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58200" y="2827782"/>
            <a:ext cx="3056839" cy="58750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B2B28"/>
                </a:solidFill>
                <a:latin typeface="Microsoft YaHei"/>
                <a:ea typeface="Microsoft YaHei"/>
              </a:rPr>
              <a:t>每一步只做一件事，错了好定位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927848" y="3552444"/>
            <a:ext cx="3788359" cy="733806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074152" y="3662172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74152" y="3662172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58200" y="3643884"/>
            <a:ext cx="3056839" cy="58750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B2B28"/>
                </a:solidFill>
                <a:latin typeface="Microsoft YaHei"/>
                <a:ea typeface="Microsoft YaHei"/>
              </a:rPr>
              <a:t>追问：误区：直接共享全局列表传数据——裸列表非线程安全，必加锁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75488" y="5230368"/>
            <a:ext cx="7223760" cy="89611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76656" y="5330952"/>
            <a:ext cx="6858000" cy="7315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2000"/>
              </a:lnSpc>
            </a:pPr>
            <a:r>
              <a:rPr sz="1200" b="1">
                <a:solidFill>
                  <a:srgbClr val="1B2B28"/>
                </a:solidFill>
                <a:latin typeface="Microsoft YaHei"/>
                <a:ea typeface="Microsoft YaHei"/>
              </a:rPr>
              <a:t>一句话：queue.Queue=自带保险锁的传送带——线程间传数据不丢不撞</a:t>
            </a:r>
            <a:r>
              <a:rPr sz="1100" b="0">
                <a:solidFill>
                  <a:srgbClr val="5C6E6A"/>
                </a:solidFill>
                <a:latin typeface="Microsoft YaHei"/>
                <a:ea typeface="Microsoft YaHei"/>
              </a:rPr>
              <a:t>
何时用：采集线程与入库线程解耦——快慢各干各的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B5E54"/>
                </a:solidFill>
                <a:latin typeface="Microsoft YaHei"/>
                <a:ea typeface="Microsoft YaHei"/>
              </a:rPr>
              <a:t>知识精讲 · 四要素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Python程序设计（项目实战） · V1 · W06-11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10 / 23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404952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404952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KNOWLEDGE B03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B2B28"/>
                </a:solidFill>
                <a:latin typeface="Microsoft YaHei"/>
                <a:ea typeface="Microsoft YaHei"/>
              </a:rPr>
              <a:t>B03 get超时防死等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C6E6A"/>
                </a:solidFill>
                <a:latin typeface="Microsoft YaHei"/>
                <a:ea typeface="Microsoft YaHei"/>
              </a:rPr>
              <a:t>定义 → 场景 → 实例 → 误区：一次讲透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7160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75488" y="1371600"/>
            <a:ext cx="64008" cy="2395728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94944" y="151790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4944" y="151790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定义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" y="193852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1B2B28"/>
                </a:solidFill>
                <a:latin typeface="Microsoft YaHei"/>
                <a:ea typeface="Microsoft YaHei"/>
              </a:rPr>
              <a:t>get(timeout)=传送带空转3秒就检查——不给死等机会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C6E6A"/>
                </a:solidFill>
                <a:latin typeface="Microsoft YaHei"/>
                <a:ea typeface="Microsoft YaHei"/>
              </a:rPr>
              <a:t>原理：q.get(timeout=5)最多等5秒，超时抛Empty异常——防止设备'死寂'时消费线程永远挂起（死等的反义词是有时限的等）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05575" y="137160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05575" y="1371600"/>
            <a:ext cx="64008" cy="2395728"/>
          </a:xfrm>
          <a:prstGeom prst="rect">
            <a:avLst/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425031" y="151790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25031" y="151790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使用场景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3319" y="193852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1B2B28"/>
                </a:solidFill>
                <a:latin typeface="Microsoft YaHei"/>
                <a:ea typeface="Microsoft YaHei"/>
              </a:rPr>
              <a:t>采集断流时入库线程能检查退出标志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C6E6A"/>
                </a:solidFill>
                <a:latin typeface="Microsoft YaHei"/>
                <a:ea typeface="Microsoft YaHei"/>
              </a:rPr>
              <a:t>怎么判断：任何阻塞调用都要带超时：网络读/队列取/条件等——无限等待=僵尸线程的温床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75488" y="393192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75488" y="3931920"/>
            <a:ext cx="64008" cy="2395728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94944" y="407822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94944" y="407822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应用实例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3232" y="449884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1B2B28"/>
                </a:solidFill>
                <a:latin typeface="Consolas"/>
                <a:ea typeface="Microsoft YaHei"/>
              </a:rPr>
              <a:t>try: row=q.get(timeout=3) except Empty: continue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C6E6A"/>
                </a:solidFill>
                <a:latin typeface="Consolas"/>
                <a:ea typeface="Microsoft YaHei"/>
              </a:rPr>
              <a:t>逐行看：try: row=q.get(timeout=5) 限时等；except queue.Empty: 记录心跳超时并continue —— 线程永远活着且有响应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05575" y="393192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205575" y="3931920"/>
            <a:ext cx="64008" cy="2395728"/>
          </a:xfrm>
          <a:prstGeom prst="rect">
            <a:avLst/>
          </a:prstGeom>
          <a:solidFill>
            <a:srgbClr val="B977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425031" y="407822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B977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25031" y="407822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扩展与误区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43319" y="449884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1B2B28"/>
                </a:solidFill>
                <a:latin typeface="Microsoft YaHei"/>
                <a:ea typeface="Microsoft YaHei"/>
              </a:rPr>
              <a:t>误区：裸get()死等——采集一断入库线程永久卡死成僵尸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C6E6A"/>
                </a:solidFill>
                <a:latin typeface="Microsoft YaHei"/>
                <a:ea typeface="Microsoft YaHei"/>
              </a:rPr>
              <a:t>进阶：socket.setdefaulttimeout全局兜底；采集循环外层再包看门狗（N分钟无数据自动重启线程）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B5E54"/>
                </a:solidFill>
                <a:latin typeface="Microsoft YaHei"/>
                <a:ea typeface="Microsoft YaHei"/>
              </a:rPr>
              <a:t>知识精讲 · 图解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Python程序设计（项目实战） · V1 · W06-11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11 / 23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260774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260774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VISUAL · B03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B2B28"/>
                </a:solidFill>
                <a:latin typeface="Microsoft YaHei"/>
                <a:ea typeface="Microsoft YaHei"/>
              </a:rPr>
              <a:t>get超时防死等：一张图看懂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C6E6A"/>
                </a:solidFill>
                <a:latin typeface="Microsoft YaHei"/>
                <a:ea typeface="Microsoft YaHei"/>
              </a:rPr>
              <a:t>图优先：先看图再回头读代码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48056" y="1899701"/>
            <a:ext cx="7278624" cy="2683694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54e89a0545047fd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" y="1927133"/>
            <a:ext cx="7223760" cy="262883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927848" y="1463040"/>
            <a:ext cx="3788359" cy="4114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5E54"/>
                </a:solidFill>
                <a:latin typeface="Microsoft YaHei"/>
                <a:ea typeface="Microsoft YaHei"/>
              </a:rPr>
              <a:t>四个观察点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27848" y="1920240"/>
            <a:ext cx="3788359" cy="733806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074152" y="2029968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74152" y="2029968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58200" y="2011680"/>
            <a:ext cx="3056839" cy="58750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B2B28"/>
                </a:solidFill>
                <a:latin typeface="Microsoft YaHei"/>
                <a:ea typeface="Microsoft YaHei"/>
              </a:rPr>
              <a:t>先想清楚数据从哪来到哪去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927848" y="2736342"/>
            <a:ext cx="3788359" cy="733806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074152" y="2846070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74152" y="2846070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58200" y="2827782"/>
            <a:ext cx="3056839" cy="58750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B2B28"/>
                </a:solidFill>
                <a:latin typeface="Microsoft YaHei"/>
                <a:ea typeface="Microsoft YaHei"/>
              </a:rPr>
              <a:t>每一步只做一件事，错了好定位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927848" y="3552444"/>
            <a:ext cx="3788359" cy="733806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074152" y="3662172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74152" y="3662172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58200" y="3643884"/>
            <a:ext cx="3056839" cy="58750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B2B28"/>
                </a:solidFill>
                <a:latin typeface="Microsoft YaHei"/>
                <a:ea typeface="Microsoft YaHei"/>
              </a:rPr>
              <a:t>追问：误区：裸get()死等——采集一断入库线程永久卡死成僵尸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75488" y="5230368"/>
            <a:ext cx="7223760" cy="89611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76656" y="5330952"/>
            <a:ext cx="6858000" cy="7315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2000"/>
              </a:lnSpc>
            </a:pPr>
            <a:r>
              <a:rPr sz="1200" b="1">
                <a:solidFill>
                  <a:srgbClr val="1B2B28"/>
                </a:solidFill>
                <a:latin typeface="Microsoft YaHei"/>
                <a:ea typeface="Microsoft YaHei"/>
              </a:rPr>
              <a:t>一句话：get(timeout)=传送带空转3秒就检查——不给死等机会</a:t>
            </a:r>
            <a:r>
              <a:rPr sz="1100" b="0">
                <a:solidFill>
                  <a:srgbClr val="5C6E6A"/>
                </a:solidFill>
                <a:latin typeface="Microsoft YaHei"/>
                <a:ea typeface="Microsoft YaHei"/>
              </a:rPr>
              <a:t>
何时用：采集断流时入库线程能检查退出标志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3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331720"/>
            <a:ext cx="12191695" cy="118872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822960"/>
            <a:ext cx="2377440" cy="14630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6400" b="1">
                <a:solidFill>
                  <a:srgbClr val="C9A227"/>
                </a:solidFill>
                <a:latin typeface="Microsoft YaHei"/>
                <a:ea typeface="Microsoft YaHei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651760" y="2560320"/>
            <a:ext cx="8778240" cy="7315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技能实操 · 代码跑起来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651760" y="1572768"/>
            <a:ext cx="8961120" cy="5486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0">
                <a:solidFill>
                  <a:srgbClr val="C9D4E4"/>
                </a:solidFill>
                <a:latin typeface="Microsoft YaHei"/>
                <a:ea typeface="Microsoft YaHei"/>
              </a:rPr>
              <a:t>本章聚焦：多源采集——重点： · Modbus/MQTT协议集成；多… · 难点：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651760" y="3840480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88920" y="3840480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C9A227"/>
                </a:solidFill>
                <a:latin typeface="Microsoft YaHei"/>
                <a:ea typeface="Microsoft YaHe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46120" y="3840480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退避重连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3840480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backoff = 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651760" y="4334256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263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88920" y="4334256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C9A227"/>
                </a:solidFill>
                <a:latin typeface="Microsoft YaHei"/>
                <a:ea typeface="Microsoft YaHei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46120" y="4334256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技能 · 三线程骨架贯通(采集/…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4334256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三线程骨架贯通(采集/订阅/处理)——应用：见工单starter与…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651760" y="4828032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88920" y="4828032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C9A227"/>
                </a:solidFill>
                <a:latin typeface="Microsoft YaHei"/>
                <a:ea typeface="Microsoft YaHei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46120" y="4828032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技能 · 断线重连实测(2号PL…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4828032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断线重连实测(2号PLC掉线)——应用：见工单starter与教师…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651760" y="5321808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263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88920" y="5321808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C9A227"/>
                </a:solidFill>
                <a:latin typeface="Microsoft YaHei"/>
                <a:ea typeface="Microsoft YaHei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46120" y="5321808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技能 · 采集率统计与提升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5321808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采集率统计与提升——应用：见工单starter与教师参考实现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651760" y="5815584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788920" y="5815584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C9A227"/>
                </a:solidFill>
                <a:latin typeface="Microsoft YaHei"/>
                <a:ea typeface="Microsoft YaHei"/>
              </a:rPr>
              <a:t>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46120" y="5815584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技能 · 架构图绘制入工单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5815584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架构图绘制入工单——应用：见工单starter与教师参考实现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651760" y="5989320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788920" y="5989320"/>
            <a:ext cx="85039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C9A227"/>
                </a:solidFill>
                <a:latin typeface="Microsoft YaHei"/>
                <a:ea typeface="Microsoft YaHei"/>
              </a:rPr>
              <a:t>本章产出：四要素详解页×5 · 图解页×3 · 可跟打代码页×2 · 工单与分层工单各1份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5488" y="6473952"/>
            <a:ext cx="10515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8C99B5"/>
                </a:solidFill>
                <a:latin typeface="Microsoft YaHei"/>
                <a:ea typeface="Microsoft YaHei"/>
              </a:rPr>
              <a:t>Python程序设计（项目实战） · V1 · W06-11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B5E54"/>
                </a:solidFill>
                <a:latin typeface="Microsoft YaHei"/>
                <a:ea typeface="Microsoft YaHei"/>
              </a:rPr>
              <a:t>技能实操 · 可执行代码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Python程序设计（项目实战） · V1 · W06-11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13 / 23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966764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966764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CODE LAB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B2B28"/>
                </a:solidFill>
                <a:latin typeface="Microsoft YaHei"/>
                <a:ea typeface="Microsoft YaHei"/>
              </a:rPr>
              <a:t>退避重连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C6E6A"/>
                </a:solidFill>
                <a:latin typeface="Microsoft YaHei"/>
                <a:ea typeface="Microsoft YaHei"/>
              </a:rPr>
              <a:t>代码节选 · 依赖工单/starter 上下文（课堂跟打 starter 看完整运行）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71600"/>
            <a:ext cx="11021263" cy="4754880"/>
          </a:xfrm>
          <a:prstGeom prst="roundRect">
            <a:avLst>
              <a:gd name="adj" fmla="val 4500"/>
            </a:avLst>
          </a:prstGeom>
          <a:solidFill>
            <a:srgbClr val="0C1B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03504" y="1453896"/>
            <a:ext cx="2103120" cy="237744"/>
          </a:xfrm>
          <a:prstGeom prst="roundRect">
            <a:avLst>
              <a:gd name="adj" fmla="val 50000"/>
            </a:avLst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3504" y="1453896"/>
            <a:ext cx="2103120" cy="237744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FFFFFF"/>
                </a:solidFill>
                <a:latin typeface="Microsoft YaHei"/>
                <a:ea typeface="Microsoft YaHei"/>
              </a:rPr>
              <a:t> 代码节选 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" y="1764792"/>
            <a:ext cx="10728655" cy="427024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6000"/>
              </a:lnSpc>
            </a:pPr>
            <a:r>
              <a:rPr sz="1200" b="0">
                <a:solidFill>
                  <a:srgbClr val="D6E6E1"/>
                </a:solidFill>
                <a:latin typeface="Consolas"/>
                <a:ea typeface="Microsoft YaHei"/>
              </a:rPr>
              <a:t>backoff = 1</a:t>
            </a:r>
          </a:p>
          <a:p>
            <a:pPr algn="l">
              <a:lnSpc>
                <a:spcPct val="106000"/>
              </a:lnSpc>
            </a:pPr>
            <a:r>
              <a:rPr sz="1200" b="0">
                <a:solidFill>
                  <a:srgbClr val="D6E6E1"/>
                </a:solidFill>
                <a:latin typeface="Consolas"/>
                <a:ea typeface="Microsoft YaHei"/>
              </a:rPr>
              <a:t>while not stop.is_set():</a:t>
            </a:r>
          </a:p>
          <a:p>
            <a:pPr algn="l">
              <a:lnSpc>
                <a:spcPct val="106000"/>
              </a:lnSpc>
            </a:pPr>
            <a:r>
              <a:rPr sz="1200" b="0">
                <a:solidFill>
                  <a:srgbClr val="D6E6E1"/>
                </a:solidFill>
                <a:latin typeface="Consolas"/>
                <a:ea typeface="Microsoft YaHei"/>
              </a:rPr>
              <a:t>    got = False</a:t>
            </a:r>
          </a:p>
          <a:p>
            <a:pPr algn="l">
              <a:lnSpc>
                <a:spcPct val="106000"/>
              </a:lnSpc>
            </a:pPr>
            <a:r>
              <a:rPr sz="1200" b="0">
                <a:solidFill>
                  <a:srgbClr val="D6E6E1"/>
                </a:solidFill>
                <a:latin typeface="Consolas"/>
                <a:ea typeface="Microsoft YaHei"/>
              </a:rPr>
              <a:t>    for host, port in PLCS:</a:t>
            </a:r>
          </a:p>
          <a:p>
            <a:pPr algn="l">
              <a:lnSpc>
                <a:spcPct val="106000"/>
              </a:lnSpc>
            </a:pPr>
            <a:r>
              <a:rPr sz="1200" b="0">
                <a:solidFill>
                  <a:srgbClr val="D6E6E1"/>
                </a:solidFill>
                <a:latin typeface="Consolas"/>
                <a:ea typeface="Microsoft YaHei"/>
              </a:rPr>
              <a:t>        if read_one(host, port): got = True; stat["ok"] += 1</a:t>
            </a:r>
          </a:p>
          <a:p>
            <a:pPr algn="l">
              <a:lnSpc>
                <a:spcPct val="106000"/>
              </a:lnSpc>
            </a:pPr>
            <a:r>
              <a:rPr sz="1200" b="0">
                <a:solidFill>
                  <a:srgbClr val="D6E6E1"/>
                </a:solidFill>
                <a:latin typeface="Consolas"/>
                <a:ea typeface="Microsoft YaHei"/>
              </a:rPr>
              <a:t>        else: stat["fail"] += 1</a:t>
            </a:r>
          </a:p>
          <a:p>
            <a:pPr algn="l">
              <a:lnSpc>
                <a:spcPct val="106000"/>
              </a:lnSpc>
            </a:pPr>
            <a:r>
              <a:rPr sz="1200" b="0">
                <a:solidFill>
                  <a:srgbClr val="D6E6E1"/>
                </a:solidFill>
                <a:latin typeface="Consolas"/>
                <a:ea typeface="Microsoft YaHei"/>
              </a:rPr>
              <a:t>    backoff = 1 if got else min(backoff*2, 4)</a:t>
            </a:r>
          </a:p>
          <a:p>
            <a:pPr algn="l">
              <a:lnSpc>
                <a:spcPct val="106000"/>
              </a:lnSpc>
            </a:pPr>
            <a:r>
              <a:rPr sz="1200" b="0">
                <a:solidFill>
                  <a:srgbClr val="D6E6E1"/>
                </a:solidFill>
                <a:latin typeface="Consolas"/>
                <a:ea typeface="Microsoft YaHei"/>
              </a:rPr>
              <a:t>    time.sleep(0.5 if got else backoff)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75488" y="5349240"/>
            <a:ext cx="11240719" cy="777240"/>
          </a:xfrm>
          <a:prstGeom prst="roundRect">
            <a:avLst>
              <a:gd name="adj" fmla="val 5500"/>
            </a:avLst>
          </a:prstGeom>
          <a:solidFill>
            <a:srgbClr val="FDF6E9"/>
          </a:solidFill>
          <a:ln w="9525">
            <a:solidFill>
              <a:srgbClr val="E5C9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04088" y="5477256"/>
            <a:ext cx="10783519" cy="5486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8A6D1D"/>
                </a:solidFill>
                <a:latin typeface="Microsoft YaHei"/>
                <a:ea typeface="Microsoft YaHei"/>
              </a:rPr>
              <a:t>本段引用工单上下文变量（starter 已备好）——跟打 starter 后取消注释对应行即可复现。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B5E54"/>
                </a:solidFill>
                <a:latin typeface="Microsoft YaHei"/>
                <a:ea typeface="Microsoft YaHei"/>
              </a:rPr>
              <a:t>避坑指南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Python程序设计（项目实战） · V1 · W06-11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14 / 23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475628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475628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DEBUG · 常见报错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B2B28"/>
                </a:solidFill>
                <a:latin typeface="Microsoft YaHei"/>
                <a:ea typeface="Microsoft YaHei"/>
              </a:rPr>
              <a:t>报错翻译：程序'说'了什么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C6E6A"/>
                </a:solidFill>
                <a:latin typeface="Microsoft YaHei"/>
                <a:ea typeface="Microsoft YaHei"/>
              </a:rPr>
              <a:t>报错是程序在说话——先读最后一行，再往上找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89888"/>
            <a:ext cx="11240719" cy="457200"/>
          </a:xfrm>
          <a:prstGeom prst="roundRect">
            <a:avLst>
              <a:gd name="adj" fmla="val 5500"/>
            </a:avLst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2648" y="1463040"/>
            <a:ext cx="2788920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报错/现象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38728" y="1463040"/>
            <a:ext cx="3749039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为什么会这样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24928" y="1463040"/>
            <a:ext cx="3977639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怎么修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75488" y="1847088"/>
            <a:ext cx="11240719" cy="9601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2648" y="1938528"/>
            <a:ext cx="2697480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C0392B"/>
                </a:solidFill>
                <a:latin typeface="Microsoft YaHei"/>
                <a:ea typeface="Microsoft YaHei"/>
              </a:rPr>
              <a:t>Ctrl+C退不出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38728" y="1938528"/>
            <a:ext cx="3657599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1B2B28"/>
                </a:solidFill>
                <a:latin typeface="Microsoft YaHei"/>
                <a:ea typeface="Microsoft YaHei"/>
              </a:rPr>
              <a:t>没设daemon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24928" y="1938528"/>
            <a:ext cx="3886199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1B2B28"/>
                </a:solidFill>
                <a:latin typeface="Microsoft YaHei"/>
                <a:ea typeface="Microsoft YaHei"/>
              </a:rPr>
              <a:t>daemon=True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75488" y="2880360"/>
            <a:ext cx="11240719" cy="960120"/>
          </a:xfrm>
          <a:prstGeom prst="roundRect">
            <a:avLst>
              <a:gd name="adj" fmla="val 5500"/>
            </a:avLst>
          </a:prstGeom>
          <a:solidFill>
            <a:srgbClr val="F3F8F6"/>
          </a:solidFill>
          <a:ln w="9525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2648" y="2971800"/>
            <a:ext cx="2697480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C0392B"/>
                </a:solidFill>
                <a:latin typeface="Microsoft YaHei"/>
                <a:ea typeface="Microsoft YaHei"/>
              </a:rPr>
              <a:t>Queue满卡死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38728" y="2971800"/>
            <a:ext cx="3657599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1B2B28"/>
                </a:solidFill>
                <a:latin typeface="Microsoft YaHei"/>
                <a:ea typeface="Microsoft YaHei"/>
              </a:rPr>
              <a:t>put无超时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24928" y="2971800"/>
            <a:ext cx="3886199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1B2B28"/>
                </a:solidFill>
                <a:latin typeface="Microsoft YaHei"/>
                <a:ea typeface="Microsoft YaHei"/>
              </a:rPr>
              <a:t>put(timeout=1)+丢弃计数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75488" y="3913632"/>
            <a:ext cx="11240719" cy="9601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12648" y="4005072"/>
            <a:ext cx="2697480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C0392B"/>
                </a:solidFill>
                <a:latin typeface="Microsoft YaHei"/>
                <a:ea typeface="Microsoft YaHei"/>
              </a:rPr>
              <a:t>线程日志混乱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38728" y="4005072"/>
            <a:ext cx="3657599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1B2B28"/>
                </a:solidFill>
                <a:latin typeface="Microsoft YaHei"/>
                <a:ea typeface="Microsoft YaHei"/>
              </a:rPr>
              <a:t>无名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24928" y="4005072"/>
            <a:ext cx="3886199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1B2B28"/>
                </a:solidFill>
                <a:latin typeface="Microsoft YaHei"/>
                <a:ea typeface="Microsoft YaHei"/>
              </a:rPr>
              <a:t>Thread(name='Modbus')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75488" y="4992624"/>
            <a:ext cx="11240719" cy="713232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04088" y="5102352"/>
            <a:ext cx="3566160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B5E54"/>
                </a:solidFill>
                <a:latin typeface="Microsoft YaHei"/>
                <a:ea typeface="Microsoft YaHei"/>
              </a:rPr>
              <a:t>① 读最后一行  </a:t>
            </a:r>
            <a:r>
              <a:rPr sz="1050" b="0">
                <a:solidFill>
                  <a:srgbClr val="5C6E6A"/>
                </a:solidFill>
                <a:latin typeface="Microsoft YaHei"/>
                <a:ea typeface="Microsoft YaHei"/>
              </a:rPr>
              <a:t>报错类型+行号都在这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61688" y="5102352"/>
            <a:ext cx="3566160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B5E54"/>
                </a:solidFill>
                <a:latin typeface="Microsoft YaHei"/>
                <a:ea typeface="Microsoft YaHei"/>
              </a:rPr>
              <a:t>② 定位变量  </a:t>
            </a:r>
            <a:r>
              <a:rPr sz="1050" b="0">
                <a:solidFill>
                  <a:srgbClr val="5C6E6A"/>
                </a:solidFill>
                <a:latin typeface="Microsoft YaHei"/>
                <a:ea typeface="Microsoft YaHei"/>
              </a:rPr>
              <a:t>NameError=没定义/拼错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19288" y="5102352"/>
            <a:ext cx="3566160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B5E54"/>
                </a:solidFill>
                <a:latin typeface="Microsoft YaHei"/>
                <a:ea typeface="Microsoft YaHei"/>
              </a:rPr>
              <a:t>③ 最小复现  </a:t>
            </a:r>
            <a:r>
              <a:rPr sz="1050" b="0">
                <a:solidFill>
                  <a:srgbClr val="5C6E6A"/>
                </a:solidFill>
                <a:latin typeface="Microsoft YaHei"/>
                <a:ea typeface="Microsoft YaHei"/>
              </a:rPr>
              <a:t>注释一半再跑，二分找错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3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331720"/>
            <a:ext cx="12191695" cy="118872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822960"/>
            <a:ext cx="2377440" cy="14630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6400" b="1">
                <a:solidFill>
                  <a:srgbClr val="C9A227"/>
                </a:solidFill>
                <a:latin typeface="Microsoft YaHei"/>
                <a:ea typeface="Microsoft YaHei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651760" y="2560320"/>
            <a:ext cx="8778240" cy="7315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工单实战 · 按单交付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651760" y="1572768"/>
            <a:ext cx="8961120" cy="5486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0">
                <a:solidFill>
                  <a:srgbClr val="C9D4E4"/>
                </a:solidFill>
                <a:latin typeface="Microsoft YaHei"/>
                <a:ea typeface="Microsoft YaHei"/>
              </a:rPr>
              <a:t>本章聚焦：多源采集——重点： · Modbus/MQTT协议集成；多… · 难点：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651760" y="4059936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88920" y="4059936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C9A227"/>
                </a:solidFill>
                <a:latin typeface="Microsoft YaHei"/>
                <a:ea typeface="Microsoft YaHe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46120" y="4059936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交付清单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4059936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按工单步骤逐项打勾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651760" y="4553712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263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88920" y="4553712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C9A227"/>
                </a:solidFill>
                <a:latin typeface="Microsoft YaHei"/>
                <a:ea typeface="Microsoft YaHei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46120" y="4553712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及格/优秀线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4553712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D/C保底 · B/A冲刺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651760" y="5047488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88920" y="5047488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C9A227"/>
                </a:solidFill>
                <a:latin typeface="Microsoft YaHei"/>
                <a:ea typeface="Microsoft YaHei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46120" y="5047488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A/B/C/D分层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5047488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按当前水平选起点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651760" y="5989320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88920" y="5989320"/>
            <a:ext cx="85039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C9A227"/>
                </a:solidFill>
                <a:latin typeface="Microsoft YaHei"/>
                <a:ea typeface="Microsoft YaHei"/>
              </a:rPr>
              <a:t>本章产出：四要素详解页×3 · 图解页×3 · 可跟打代码页×2 · 工单与分层工单各1份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5488" y="6473952"/>
            <a:ext cx="10515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8C99B5"/>
                </a:solidFill>
                <a:latin typeface="Microsoft YaHei"/>
                <a:ea typeface="Microsoft YaHei"/>
              </a:rPr>
              <a:t>Python程序设计（项目实战） · V1 · W06-11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B5E54"/>
                </a:solidFill>
                <a:latin typeface="Microsoft YaHei"/>
                <a:ea typeface="Microsoft YaHei"/>
              </a:rPr>
              <a:t>工单实战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Python程序设计（项目实战） · V1 · W06-11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16 / 23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142039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142039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WORK ORDER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B2B28"/>
                </a:solidFill>
                <a:latin typeface="Microsoft YaHei"/>
                <a:ea typeface="Microsoft YaHei"/>
              </a:rPr>
              <a:t>工单 P4.1 · 多源数据采集系统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C6E6A"/>
                </a:solidFill>
                <a:latin typeface="Microsoft YaHei"/>
                <a:ea typeface="Microsoft YaHei"/>
              </a:rPr>
              <a:t>按单交付：及格线保底，优秀线冲刺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71600"/>
            <a:ext cx="6583680" cy="47091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9808" y="1499616"/>
            <a:ext cx="6035040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5E54"/>
                </a:solidFill>
                <a:latin typeface="Microsoft YaHei"/>
                <a:ea typeface="Microsoft YaHei"/>
              </a:rPr>
              <a:t>交付清单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9808" y="1920240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9808" y="1920240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25296" y="1901952"/>
            <a:ext cx="5669280" cy="53035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0">
                <a:solidFill>
                  <a:srgbClr val="1B2B28"/>
                </a:solidFill>
                <a:latin typeface="Microsoft YaHei"/>
                <a:ea typeface="Microsoft YaHei"/>
              </a:rPr>
              <a:t>启动plc_simulator三台PLC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9808" y="2505456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9808" y="2505456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25296" y="2487168"/>
            <a:ext cx="5669280" cy="53035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0">
                <a:solidFill>
                  <a:srgbClr val="1B2B28"/>
                </a:solidFill>
                <a:latin typeface="Microsoft YaHei"/>
                <a:ea typeface="Microsoft YaHei"/>
              </a:rPr>
              <a:t>ModbusCollector轮询0.5s×3台(÷10还原)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49808" y="3090672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9808" y="3090672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25296" y="3072384"/>
            <a:ext cx="5669280" cy="53035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0">
                <a:solidFill>
                  <a:srgbClr val="1B2B28"/>
                </a:solidFill>
                <a:latin typeface="Microsoft YaHei"/>
                <a:ea typeface="Microsoft YaHei"/>
              </a:rPr>
              <a:t>read_one退避重试(1→2→4s)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49808" y="4526280"/>
            <a:ext cx="6035040" cy="1389888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50976" y="4617720"/>
            <a:ext cx="5669280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B5E54"/>
                </a:solidFill>
                <a:latin typeface="Microsoft YaHei"/>
                <a:ea typeface="Microsoft YaHei"/>
              </a:rPr>
              <a:t>验收清单（教师按此打分）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50976" y="4992624"/>
            <a:ext cx="146304" cy="146304"/>
          </a:xfrm>
          <a:prstGeom prst="rect">
            <a:avLst/>
          </a:prstGeom>
          <a:noFill/>
          <a:ln w="15240">
            <a:solidFill>
              <a:srgbClr val="0B5E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88720" y="4928616"/>
            <a:ext cx="5486400" cy="2926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1B2B28"/>
                </a:solidFill>
                <a:latin typeface="Microsoft YaHei"/>
                <a:ea typeface="Microsoft YaHei"/>
              </a:rPr>
              <a:t>程序运行无报错，输出与示例一致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50976" y="5303520"/>
            <a:ext cx="146304" cy="146304"/>
          </a:xfrm>
          <a:prstGeom prst="rect">
            <a:avLst/>
          </a:prstGeom>
          <a:noFill/>
          <a:ln w="15240">
            <a:solidFill>
              <a:srgbClr val="0B5E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188720" y="5239512"/>
            <a:ext cx="5486400" cy="2926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1B2B28"/>
                </a:solidFill>
                <a:latin typeface="Microsoft YaHei"/>
                <a:ea typeface="Microsoft YaHei"/>
              </a:rPr>
              <a:t>截图含完整运行结果与文件名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50976" y="5614416"/>
            <a:ext cx="146304" cy="146304"/>
          </a:xfrm>
          <a:prstGeom prst="rect">
            <a:avLst/>
          </a:prstGeom>
          <a:noFill/>
          <a:ln w="15240">
            <a:solidFill>
              <a:srgbClr val="0B5E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88720" y="5550408"/>
            <a:ext cx="5486400" cy="2926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1B2B28"/>
                </a:solidFill>
                <a:latin typeface="Microsoft YaHei"/>
                <a:ea typeface="Microsoft YaHei"/>
              </a:rPr>
              <a:t>变量命名规范率达标（snake_case）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287768" y="1371600"/>
            <a:ext cx="4428439" cy="1691640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525512" y="1499616"/>
            <a:ext cx="3971239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3A4A63"/>
                </a:solidFill>
                <a:latin typeface="Microsoft YaHei"/>
                <a:ea typeface="Microsoft YaHei"/>
              </a:rPr>
              <a:t>及格线 · D/C层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525512" y="1865376"/>
            <a:ext cx="3925519" cy="9601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2000"/>
              </a:lnSpc>
            </a:pPr>
            <a:r>
              <a:rPr sz="1350" b="0">
                <a:solidFill>
                  <a:srgbClr val="1B2B28"/>
                </a:solidFill>
                <a:latin typeface="Microsoft YaHei"/>
                <a:ea typeface="Microsoft YaHei"/>
              </a:rPr>
              <a:t>三源贯通+采集率&gt;95%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525512" y="2779776"/>
            <a:ext cx="397123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C6E6A"/>
                </a:solidFill>
                <a:latin typeface="Microsoft YaHei"/>
                <a:ea typeface="Microsoft YaHei"/>
              </a:rPr>
              <a:t>检查方式：运行+截图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287768" y="3246119"/>
            <a:ext cx="4428439" cy="1691640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525512" y="3374135"/>
            <a:ext cx="3971239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C9A227"/>
                </a:solidFill>
                <a:latin typeface="Microsoft YaHei"/>
                <a:ea typeface="Microsoft YaHei"/>
              </a:rPr>
              <a:t>优秀线 · B/A层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525512" y="3739895"/>
            <a:ext cx="3925519" cy="9601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22000"/>
              </a:lnSpc>
            </a:pPr>
            <a:r>
              <a:rPr sz="1350" b="0">
                <a:solidFill>
                  <a:srgbClr val="1B2B28"/>
                </a:solidFill>
                <a:latin typeface="Microsoft YaHei"/>
                <a:ea typeface="Microsoft YaHei"/>
              </a:rPr>
              <a:t>断线重连实测通过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525512" y="4654295"/>
            <a:ext cx="397123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C6E6A"/>
                </a:solidFill>
                <a:latin typeface="Microsoft YaHei"/>
                <a:ea typeface="Microsoft YaHei"/>
              </a:rPr>
              <a:t>检查方式：运行+规范+答辩追问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287768" y="5138928"/>
            <a:ext cx="4428439" cy="941832"/>
          </a:xfrm>
          <a:prstGeom prst="roundRect">
            <a:avLst>
              <a:gd name="adj" fmla="val 5500"/>
            </a:avLst>
          </a:prstGeom>
          <a:solidFill>
            <a:srgbClr val="063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525512" y="5257800"/>
            <a:ext cx="3971239" cy="7315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C9A227"/>
                </a:solidFill>
                <a:latin typeface="Microsoft YaHei"/>
                <a:ea typeface="Microsoft YaHei"/>
              </a:rPr>
              <a:t>提交物</a:t>
            </a:r>
            <a:r>
              <a:rPr sz="1050" b="0">
                <a:solidFill>
                  <a:srgbClr val="D8E1EC"/>
                </a:solidFill>
                <a:latin typeface="Microsoft YaHei"/>
                <a:ea typeface="Microsoft YaHei"/>
              </a:rPr>
              <a:t>
代码文件+运行截图+工单决策记录（上传学习平台）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B5E54"/>
                </a:solidFill>
                <a:latin typeface="Microsoft YaHei"/>
                <a:ea typeface="Microsoft YaHei"/>
              </a:rPr>
              <a:t>工单实战 · 完成效果图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Python程序设计（项目实战） · V1 · W06-11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17 / 23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845967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845967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TARGET · 完成后长这样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B2B28"/>
                </a:solidFill>
                <a:latin typeface="Microsoft YaHei"/>
                <a:ea typeface="Microsoft YaHei"/>
              </a:rPr>
              <a:t>P4.1 采集上报完成态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C6E6A"/>
                </a:solidFill>
                <a:latin typeface="Microsoft YaHei"/>
                <a:ea typeface="Microsoft YaHei"/>
              </a:rPr>
              <a:t>工单交付的'标准照'——做到与图中一致即达标（数字可因随机种子略有差异）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48056" y="2172010"/>
            <a:ext cx="7918704" cy="1727596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shot_w4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" y="2199442"/>
            <a:ext cx="7863840" cy="1672732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8567928" y="1463040"/>
            <a:ext cx="3148279" cy="4114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5E54"/>
                </a:solidFill>
                <a:latin typeface="Microsoft YaHei"/>
                <a:ea typeface="Microsoft YaHei"/>
              </a:rPr>
              <a:t>四个自检点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567928" y="1920240"/>
            <a:ext cx="3148279" cy="635508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714232" y="2011680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714232" y="2011680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98280" y="2002536"/>
            <a:ext cx="2416759" cy="50749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B2B28"/>
                </a:solidFill>
                <a:latin typeface="Microsoft YaHei"/>
                <a:ea typeface="Microsoft YaHei"/>
              </a:rPr>
              <a:t>PLC1五寄存器读取成功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567928" y="2628900"/>
            <a:ext cx="3148279" cy="635508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714232" y="2720340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714232" y="2720340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98280" y="2711196"/>
            <a:ext cx="2416759" cy="50749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B2B28"/>
                </a:solidFill>
                <a:latin typeface="Microsoft YaHei"/>
                <a:ea typeface="Microsoft YaHei"/>
              </a:rPr>
              <a:t>MQTT上报≥3条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567928" y="3337560"/>
            <a:ext cx="3148279" cy="635508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714232" y="3429000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714232" y="3429000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98280" y="3419856"/>
            <a:ext cx="2416759" cy="50749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B2B28"/>
                </a:solidFill>
                <a:latin typeface="Microsoft YaHei"/>
                <a:ea typeface="Microsoft YaHei"/>
              </a:rPr>
              <a:t>断线重连生效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567928" y="4046220"/>
            <a:ext cx="3148279" cy="635508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8714232" y="4137660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714232" y="4137660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98280" y="4128516"/>
            <a:ext cx="2416759" cy="50749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B2B28"/>
                </a:solidFill>
                <a:latin typeface="Microsoft YaHei"/>
                <a:ea typeface="Microsoft YaHei"/>
              </a:rPr>
              <a:t>数值÷10还原正确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75488" y="5230368"/>
            <a:ext cx="7863840" cy="89611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76656" y="5330952"/>
            <a:ext cx="7498079" cy="7315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2000"/>
              </a:lnSpc>
            </a:pPr>
            <a:r>
              <a:rPr sz="1200" b="1">
                <a:solidFill>
                  <a:srgbClr val="1B2B28"/>
                </a:solidFill>
                <a:latin typeface="Microsoft YaHei"/>
                <a:ea typeface="Microsoft YaHei"/>
              </a:rPr>
              <a:t>怎么看：终端退出码0+关键数字在及格线以上</a:t>
            </a:r>
            <a:r>
              <a:rPr sz="1100" b="0">
                <a:solidFill>
                  <a:srgbClr val="5C6E6A"/>
                </a:solidFill>
                <a:latin typeface="Microsoft YaHei"/>
                <a:ea typeface="Microsoft YaHei"/>
              </a:rPr>
              <a:t>
截图提交：运行窗口含文件名与输出，截全屏交工单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B5E54"/>
                </a:solidFill>
                <a:latin typeface="Microsoft YaHei"/>
                <a:ea typeface="Microsoft YaHei"/>
              </a:rPr>
              <a:t>分层任务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Python程序设计（项目实战） · V1 · W06-11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18 / 23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458666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458666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A/B/C/D LAYERS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B2B28"/>
                </a:solidFill>
                <a:latin typeface="Microsoft YaHei"/>
                <a:ea typeface="Microsoft YaHei"/>
              </a:rPr>
              <a:t>同一工单，四条爬梯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C6E6A"/>
                </a:solidFill>
                <a:latin typeface="Microsoft YaHei"/>
                <a:ea typeface="Microsoft YaHei"/>
              </a:rPr>
              <a:t>按当前水平选起点，D层保底人人可交付，A层给足挑战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89888"/>
            <a:ext cx="2686735" cy="46634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75488" y="1389888"/>
            <a:ext cx="2686735" cy="7772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" y="1481328"/>
            <a:ext cx="2320975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</a:rPr>
              <a:t>A 层 · 挑战层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2304288"/>
            <a:ext cx="2320975" cy="84124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1B2B28"/>
                </a:solidFill>
                <a:latin typeface="Microsoft YaHei"/>
                <a:ea typeface="Microsoft YaHei"/>
              </a:rPr>
              <a:t>高可用演示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3236976"/>
            <a:ext cx="1433761" cy="229235"/>
          </a:xfrm>
          <a:prstGeom prst="roundRect">
            <a:avLst>
              <a:gd name="adj" fmla="val 500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" y="3236976"/>
            <a:ext cx="1433761" cy="22923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1B2B28"/>
                </a:solidFill>
                <a:latin typeface="Microsoft YaHei"/>
                <a:ea typeface="Microsoft YaHei"/>
              </a:rPr>
              <a:t>达标：≥99.5%+监控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3730752"/>
            <a:ext cx="2320975" cy="5029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C6E6A"/>
                </a:solidFill>
                <a:latin typeface="Microsoft YaHei"/>
                <a:ea typeface="Microsoft YaHei"/>
              </a:rPr>
              <a:t>· 主备采集切换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4297680"/>
            <a:ext cx="2320975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C6E6A"/>
                </a:solidFill>
                <a:latin typeface="Microsoft YaHei"/>
                <a:ea typeface="Microsoft YaHei"/>
              </a:rPr>
              <a:t>· 实时统计小面板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4864608"/>
            <a:ext cx="2320975" cy="5029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C6E6A"/>
                </a:solidFill>
                <a:latin typeface="Microsoft YaHei"/>
                <a:ea typeface="Microsoft YaHei"/>
              </a:rPr>
              <a:t>· 8小时稳定跑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" y="5577840"/>
            <a:ext cx="2320975" cy="4572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2000"/>
              </a:lnSpc>
            </a:pPr>
            <a:r>
              <a:rPr sz="950" b="0">
                <a:solidFill>
                  <a:srgbClr val="C0392B"/>
                </a:solidFill>
                <a:latin typeface="Microsoft YaHei"/>
                <a:ea typeface="Microsoft YaHei"/>
              </a:rPr>
              <a:t>卡壳&gt;10分钟→降B层，先拿过程分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326815" y="1389888"/>
            <a:ext cx="2686735" cy="46634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326815" y="1389888"/>
            <a:ext cx="2686735" cy="77724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509695" y="1481328"/>
            <a:ext cx="2320975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</a:rPr>
              <a:t>B 层 · 进阶层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09695" y="2304288"/>
            <a:ext cx="2320975" cy="84124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1B2B28"/>
                </a:solidFill>
                <a:latin typeface="Microsoft YaHei"/>
                <a:ea typeface="Microsoft YaHei"/>
              </a:rPr>
              <a:t>完整多源系统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509695" y="3236976"/>
            <a:ext cx="1316103" cy="229235"/>
          </a:xfrm>
          <a:prstGeom prst="roundRect">
            <a:avLst>
              <a:gd name="adj" fmla="val 500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509695" y="3236976"/>
            <a:ext cx="1316103" cy="22923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1B2B28"/>
                </a:solidFill>
                <a:latin typeface="Microsoft YaHei"/>
                <a:ea typeface="Microsoft YaHei"/>
              </a:rPr>
              <a:t>达标：≥95%+文档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09695" y="3730752"/>
            <a:ext cx="2320975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C6E6A"/>
                </a:solidFill>
                <a:latin typeface="Microsoft YaHei"/>
                <a:ea typeface="Microsoft YaHei"/>
              </a:rPr>
              <a:t>· 补全read_one+on_message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09695" y="4297680"/>
            <a:ext cx="2320975" cy="5029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C6E6A"/>
                </a:solidFill>
                <a:latin typeface="Microsoft YaHei"/>
                <a:ea typeface="Microsoft YaHei"/>
              </a:rPr>
              <a:t>· 断线重连调通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509695" y="4864608"/>
            <a:ext cx="2320975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C6E6A"/>
                </a:solidFill>
                <a:latin typeface="Microsoft YaHei"/>
                <a:ea typeface="Microsoft YaHei"/>
              </a:rPr>
              <a:t>· 10分钟统计截图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09695" y="5577840"/>
            <a:ext cx="2320975" cy="4572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2000"/>
              </a:lnSpc>
            </a:pPr>
            <a:r>
              <a:rPr sz="950" b="0">
                <a:solidFill>
                  <a:srgbClr val="C9A227"/>
                </a:solidFill>
                <a:latin typeface="Microsoft YaHei"/>
                <a:ea typeface="Microsoft YaHei"/>
              </a:rPr>
              <a:t>完成C层后冲刺：先跑通再优化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178143" y="1389888"/>
            <a:ext cx="2686735" cy="46634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178143" y="1389888"/>
            <a:ext cx="2686735" cy="77724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61023" y="1481328"/>
            <a:ext cx="2320975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</a:rPr>
              <a:t>C 层 · 基础层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61023" y="2304288"/>
            <a:ext cx="2320975" cy="84124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1B2B28"/>
                </a:solidFill>
                <a:latin typeface="Microsoft YaHei"/>
                <a:ea typeface="Microsoft YaHei"/>
              </a:rPr>
              <a:t>单源贯通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361023" y="3236976"/>
            <a:ext cx="1334008" cy="229235"/>
          </a:xfrm>
          <a:prstGeom prst="roundRect">
            <a:avLst>
              <a:gd name="adj" fmla="val 500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361023" y="3236976"/>
            <a:ext cx="1334008" cy="22923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1B2B28"/>
                </a:solidFill>
                <a:latin typeface="Microsoft YaHei"/>
                <a:ea typeface="Microsoft YaHei"/>
              </a:rPr>
              <a:t>达标：数据能入库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61023" y="3730752"/>
            <a:ext cx="2320975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C6E6A"/>
                </a:solidFill>
                <a:latin typeface="Microsoft YaHei"/>
                <a:ea typeface="Microsoft YaHei"/>
              </a:rPr>
              <a:t>· Modbus采集跑通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61023" y="4297680"/>
            <a:ext cx="2320975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C6E6A"/>
                </a:solidFill>
                <a:latin typeface="Microsoft YaHei"/>
                <a:ea typeface="Microsoft YaHei"/>
              </a:rPr>
              <a:t>· Queue到Processor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361023" y="4864608"/>
            <a:ext cx="2320975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C6E6A"/>
                </a:solidFill>
                <a:latin typeface="Microsoft YaHei"/>
                <a:ea typeface="Microsoft YaHei"/>
              </a:rPr>
              <a:t>· SQLite见记录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61023" y="5577840"/>
            <a:ext cx="2320975" cy="4572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2000"/>
              </a:lnSpc>
            </a:pPr>
            <a:r>
              <a:rPr sz="950" b="0">
                <a:solidFill>
                  <a:srgbClr val="0B5E54"/>
                </a:solidFill>
                <a:latin typeface="Microsoft YaHei"/>
                <a:ea typeface="Microsoft YaHei"/>
              </a:rPr>
              <a:t>照示例改参数，跑通即得分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9029471" y="1389888"/>
            <a:ext cx="2686735" cy="46634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9029471" y="1389888"/>
            <a:ext cx="2686735" cy="777240"/>
          </a:xfrm>
          <a:prstGeom prst="rect">
            <a:avLst/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212351" y="1481328"/>
            <a:ext cx="2320975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</a:rPr>
              <a:t>D 层 · 保底层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212351" y="2304288"/>
            <a:ext cx="2320975" cy="84124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1B2B28"/>
                </a:solidFill>
                <a:latin typeface="Microsoft YaHei"/>
                <a:ea typeface="Microsoft YaHei"/>
              </a:rPr>
              <a:t>架构观察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9212351" y="3236976"/>
            <a:ext cx="1334008" cy="229235"/>
          </a:xfrm>
          <a:prstGeom prst="roundRect">
            <a:avLst>
              <a:gd name="adj" fmla="val 500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212351" y="3236976"/>
            <a:ext cx="1334008" cy="22923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1B2B28"/>
                </a:solidFill>
                <a:latin typeface="Microsoft YaHei"/>
                <a:ea typeface="Microsoft YaHei"/>
              </a:rPr>
              <a:t>达标：能画线程图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212351" y="3730752"/>
            <a:ext cx="2320975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C6E6A"/>
                </a:solidFill>
                <a:latin typeface="Microsoft YaHei"/>
                <a:ea typeface="Microsoft YaHei"/>
              </a:rPr>
              <a:t>· 跑演示notebook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212351" y="4297680"/>
            <a:ext cx="2320975" cy="5029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C6E6A"/>
                </a:solidFill>
                <a:latin typeface="Microsoft YaHei"/>
                <a:ea typeface="Microsoft YaHei"/>
              </a:rPr>
              <a:t>· 记录采集率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212351" y="4864608"/>
            <a:ext cx="2320975" cy="5029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C6E6A"/>
                </a:solidFill>
                <a:latin typeface="Microsoft YaHei"/>
                <a:ea typeface="Microsoft YaHei"/>
              </a:rPr>
              <a:t>· 手画三线程图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212351" y="5577840"/>
            <a:ext cx="2320975" cy="4572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2000"/>
              </a:lnSpc>
            </a:pPr>
            <a:r>
              <a:rPr sz="950" b="0">
                <a:solidFill>
                  <a:srgbClr val="3A4A63"/>
                </a:solidFill>
                <a:latin typeface="Microsoft YaHei"/>
                <a:ea typeface="Microsoft YaHei"/>
              </a:rPr>
              <a:t>逐行跟打示例，跑通就是胜利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B5E54"/>
                </a:solidFill>
                <a:latin typeface="Microsoft YaHei"/>
                <a:ea typeface="Microsoft YaHei"/>
              </a:rPr>
              <a:t>方案决策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Python程序设计（项目实战） · V1 · W06-11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19 / 23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580227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580227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DECISION MATRIX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B2B28"/>
                </a:solidFill>
                <a:latin typeface="Microsoft YaHei"/>
                <a:ea typeface="Microsoft YaHei"/>
              </a:rPr>
              <a:t>决策：并发模型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C6E6A"/>
                </a:solidFill>
                <a:latin typeface="Microsoft YaHei"/>
                <a:ea typeface="Microsoft YaHei"/>
              </a:rPr>
              <a:t>工程不是选最好的，是选当前约束下最划算的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417320"/>
            <a:ext cx="11240719" cy="475488"/>
          </a:xfrm>
          <a:prstGeom prst="roundRect">
            <a:avLst>
              <a:gd name="adj" fmla="val 5500"/>
            </a:avLst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85216" y="1508760"/>
            <a:ext cx="3564026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</a:rPr>
              <a:t>模型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32122" y="1508760"/>
            <a:ext cx="3564026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</a:rPr>
              <a:t>复杂度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79028" y="1508760"/>
            <a:ext cx="3564026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</a:rPr>
              <a:t>资源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75488" y="1892808"/>
            <a:ext cx="11240719" cy="10515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3504" y="1947672"/>
            <a:ext cx="3527450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1B2B28"/>
                </a:solidFill>
                <a:latin typeface="Microsoft YaHei"/>
                <a:ea typeface="Microsoft YaHei"/>
              </a:rPr>
              <a:t>顺序轮询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50410" y="1947672"/>
            <a:ext cx="3527450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1B2B28"/>
                </a:solidFill>
                <a:latin typeface="Microsoft YaHei"/>
                <a:ea typeface="Microsoft YaHei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97316" y="1947672"/>
            <a:ext cx="3527450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C9A227"/>
                </a:solidFill>
                <a:latin typeface="Microsoft YaHei"/>
                <a:ea typeface="Microsoft YaHei"/>
              </a:rPr>
              <a:t/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75488" y="3008376"/>
            <a:ext cx="11240719" cy="1051560"/>
          </a:xfrm>
          <a:prstGeom prst="roundRect">
            <a:avLst>
              <a:gd name="adj" fmla="val 5500"/>
            </a:avLst>
          </a:prstGeom>
          <a:solidFill>
            <a:srgbClr val="F3F8F6"/>
          </a:solidFill>
          <a:ln w="9525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03504" y="3063240"/>
            <a:ext cx="3527450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1B2B28"/>
                </a:solidFill>
                <a:latin typeface="Microsoft YaHei"/>
                <a:ea typeface="Microsoft YaHei"/>
              </a:rPr>
              <a:t>多线程+Queue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50410" y="3063240"/>
            <a:ext cx="3527450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1B2B28"/>
                </a:solidFill>
                <a:latin typeface="Microsoft YaHei"/>
                <a:ea typeface="Microsoft YaHei"/>
              </a:rPr>
              <a:t/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97316" y="3063240"/>
            <a:ext cx="3527450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C9A227"/>
                </a:solidFill>
                <a:latin typeface="Microsoft YaHei"/>
                <a:ea typeface="Microsoft YaHei"/>
              </a:rPr>
              <a:t/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75488" y="4123944"/>
            <a:ext cx="11240719" cy="10515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03504" y="4178808"/>
            <a:ext cx="3527450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1B2B28"/>
                </a:solidFill>
                <a:latin typeface="Microsoft YaHei"/>
                <a:ea typeface="Microsoft YaHei"/>
              </a:rPr>
              <a:t>asyncio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50410" y="4178808"/>
            <a:ext cx="3527450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1B2B28"/>
                </a:solidFill>
                <a:latin typeface="Microsoft YaHei"/>
                <a:ea typeface="Microsoft YaHei"/>
              </a:rPr>
              <a:t/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97316" y="4178808"/>
            <a:ext cx="3527450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C9A227"/>
                </a:solidFill>
                <a:latin typeface="Microsoft YaHei"/>
                <a:ea typeface="Microsoft YaHei"/>
              </a:rPr>
              <a:t/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75488" y="5285232"/>
            <a:ext cx="11240719" cy="685800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04088" y="5385816"/>
            <a:ext cx="107835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>
                <a:solidFill>
                  <a:srgbClr val="0B5E54"/>
                </a:solidFill>
                <a:latin typeface="Microsoft YaHei"/>
                <a:ea typeface="Microsoft YaHei"/>
              </a:rPr>
              <a:t>决策纪律：决策结论写入工单，答辩必答；实施失误回溯决策复盘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B5E54"/>
                </a:solidFill>
                <a:latin typeface="Microsoft YaHei"/>
                <a:ea typeface="Microsoft YaHei"/>
              </a:rPr>
              <a:t>课堂检查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Python程序设计（项目实战） · V1 · W06-11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20 / 23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475628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475628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CHECK · 当堂验收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B2B28"/>
                </a:solidFill>
                <a:latin typeface="Microsoft YaHei"/>
                <a:ea typeface="Microsoft YaHei"/>
              </a:rPr>
              <a:t>做完不算完，验过才算数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C6E6A"/>
                </a:solidFill>
                <a:latin typeface="Microsoft YaHei"/>
                <a:ea typeface="Microsoft YaHei"/>
              </a:rPr>
              <a:t>教师抽查 + 同桌互查 + 运行截图三选二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417320"/>
            <a:ext cx="6309360" cy="129844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94944" y="1545336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94944" y="1545336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检查点 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944" y="1856232"/>
            <a:ext cx="5852160" cy="5486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>
                <a:solidFill>
                  <a:srgbClr val="1B2B28"/>
                </a:solidFill>
                <a:latin typeface="Microsoft YaHei"/>
                <a:ea typeface="Microsoft YaHei"/>
              </a:rPr>
              <a:t>为什么‘共享list.append’有隐患而Queue安全？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944" y="2423160"/>
            <a:ext cx="58521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提示：答案都在本节'四要素详解'页——翻回去指给同桌看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059168" y="1417320"/>
            <a:ext cx="4657039" cy="2615184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296912" y="1536192"/>
            <a:ext cx="4199839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0B5E54"/>
                </a:solidFill>
                <a:latin typeface="Microsoft YaHei"/>
                <a:ea typeface="Microsoft YaHei"/>
              </a:rPr>
              <a:t>当堂评分构成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296912" y="1993392"/>
            <a:ext cx="1920240" cy="274320"/>
          </a:xfrm>
          <a:prstGeom prst="rect">
            <a:avLst/>
          </a:prstGeom>
          <a:solidFill>
            <a:srgbClr val="D8E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296912" y="1993392"/>
            <a:ext cx="768096" cy="27432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45168" y="1947672"/>
            <a:ext cx="2096719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B28"/>
                </a:solidFill>
                <a:latin typeface="Microsoft YaHei"/>
                <a:ea typeface="Microsoft YaHei"/>
              </a:rPr>
              <a:t>运行通过 40%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296912" y="2450592"/>
            <a:ext cx="1920240" cy="274320"/>
          </a:xfrm>
          <a:prstGeom prst="rect">
            <a:avLst/>
          </a:prstGeom>
          <a:solidFill>
            <a:srgbClr val="D8E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296912" y="2450592"/>
            <a:ext cx="384048" cy="27432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345168" y="2404872"/>
            <a:ext cx="2096719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B28"/>
                </a:solidFill>
                <a:latin typeface="Microsoft YaHei"/>
                <a:ea typeface="Microsoft YaHei"/>
              </a:rPr>
              <a:t>规范与注释 20%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296912" y="2907792"/>
            <a:ext cx="1920240" cy="274320"/>
          </a:xfrm>
          <a:prstGeom prst="rect">
            <a:avLst/>
          </a:prstGeom>
          <a:solidFill>
            <a:srgbClr val="D8E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296912" y="2907792"/>
            <a:ext cx="384048" cy="27432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345168" y="2862072"/>
            <a:ext cx="2096719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B28"/>
                </a:solidFill>
                <a:latin typeface="Microsoft YaHei"/>
                <a:ea typeface="Microsoft YaHei"/>
              </a:rPr>
              <a:t>决策记录 20%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296912" y="3364992"/>
            <a:ext cx="1920240" cy="274320"/>
          </a:xfrm>
          <a:prstGeom prst="rect">
            <a:avLst/>
          </a:prstGeom>
          <a:solidFill>
            <a:srgbClr val="D8E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296912" y="3364992"/>
            <a:ext cx="384048" cy="27432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345168" y="3319272"/>
            <a:ext cx="2096719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B28"/>
                </a:solidFill>
                <a:latin typeface="Microsoft YaHei"/>
                <a:ea typeface="Microsoft YaHei"/>
              </a:rPr>
              <a:t>互查反馈 20%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296912" y="3840480"/>
            <a:ext cx="4199839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C6E6A"/>
                </a:solidFill>
                <a:latin typeface="Microsoft YaHei"/>
                <a:ea typeface="Microsoft YaHei"/>
              </a:rPr>
              <a:t>未过怎么办：当堂改→教师复核→记录到错题本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75488" y="4370832"/>
            <a:ext cx="11240719" cy="960120"/>
          </a:xfrm>
          <a:prstGeom prst="roundRect">
            <a:avLst>
              <a:gd name="adj" fmla="val 5500"/>
            </a:avLst>
          </a:prstGeom>
          <a:solidFill>
            <a:srgbClr val="063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49808" y="4498848"/>
            <a:ext cx="10881360" cy="71323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1">
                <a:solidFill>
                  <a:srgbClr val="D8E1EC"/>
                </a:solidFill>
                <a:latin typeface="Microsoft YaHei"/>
                <a:ea typeface="Microsoft YaHei"/>
              </a:rPr>
              <a:t>及格线：</a:t>
            </a:r>
            <a:r>
              <a:rPr sz="1250" b="0">
                <a:solidFill>
                  <a:srgbClr val="FFFFFF"/>
                </a:solidFill>
                <a:latin typeface="Microsoft YaHei"/>
                <a:ea typeface="Microsoft YaHei"/>
              </a:rPr>
              <a:t>三源贯通+采集率&gt;95%</a:t>
            </a:r>
            <a:r>
              <a:rPr sz="1250" b="1">
                <a:solidFill>
                  <a:srgbClr val="D8E1EC"/>
                </a:solidFill>
                <a:latin typeface="Microsoft YaHei"/>
                <a:ea typeface="Microsoft YaHei"/>
              </a:rPr>
              <a:t>
优秀线：</a:t>
            </a:r>
            <a:r>
              <a:rPr sz="1250" b="0">
                <a:solidFill>
                  <a:srgbClr val="F5C08A"/>
                </a:solidFill>
                <a:latin typeface="Microsoft YaHei"/>
                <a:ea typeface="Microsoft YaHei"/>
              </a:rPr>
              <a:t>断线重连实测通过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B5E54"/>
                </a:solidFill>
                <a:latin typeface="Microsoft YaHei"/>
                <a:ea typeface="Microsoft YaHei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Python程序设计（项目实战） · V1 · W06-11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21 / 23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924359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924359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SUMMARY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B2B28"/>
                </a:solidFill>
                <a:latin typeface="Microsoft YaHei"/>
                <a:ea typeface="Microsoft YaHei"/>
              </a:rPr>
              <a:t>一张图带走本课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C6E6A"/>
                </a:solidFill>
                <a:latin typeface="Microsoft YaHei"/>
                <a:ea typeface="Microsoft YaHei"/>
              </a:rPr>
              <a:t>讲给自己听一遍，才算真的学会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44939" y="1389888"/>
            <a:ext cx="7450618" cy="3986784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6349288ce1daf55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2371" y="1417320"/>
            <a:ext cx="7395754" cy="393192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8293608" y="1481328"/>
            <a:ext cx="3422599" cy="4114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5E54"/>
                </a:solidFill>
                <a:latin typeface="Microsoft YaHei"/>
                <a:ea typeface="Microsoft YaHei"/>
              </a:rPr>
              <a:t>三句话总结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93608" y="1920240"/>
            <a:ext cx="3422599" cy="896112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439912" y="2029968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39912" y="2029968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23960" y="2011680"/>
            <a:ext cx="2709367" cy="6400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B2B28"/>
                </a:solidFill>
                <a:latin typeface="Microsoft YaHei"/>
                <a:ea typeface="Microsoft YaHei"/>
              </a:rPr>
              <a:t>线程并发：线程=车间三条传送带同时转：采集/处理/入库互…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93608" y="2907792"/>
            <a:ext cx="3422599" cy="896112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439912" y="3017520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39912" y="3017520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23960" y="2999232"/>
            <a:ext cx="2709367" cy="6400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B2B28"/>
                </a:solidFill>
                <a:latin typeface="Microsoft YaHei"/>
                <a:ea typeface="Microsoft YaHei"/>
              </a:rPr>
              <a:t>Queue传送带：queue.Queue=自带保险锁的传送带——…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293608" y="3895344"/>
            <a:ext cx="3422599" cy="896112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439912" y="4005072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439912" y="4005072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23960" y="3986784"/>
            <a:ext cx="2709367" cy="6400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B2B28"/>
                </a:solidFill>
                <a:latin typeface="Microsoft YaHei"/>
                <a:ea typeface="Microsoft YaHei"/>
              </a:rPr>
              <a:t>get超时防死等：get(timeout)=传送带空转3秒就检查…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293608" y="4882896"/>
            <a:ext cx="3422599" cy="1005840"/>
          </a:xfrm>
          <a:prstGeom prst="roundRect">
            <a:avLst>
              <a:gd name="adj" fmla="val 5500"/>
            </a:avLst>
          </a:prstGeom>
          <a:solidFill>
            <a:srgbClr val="063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76488" y="4974336"/>
            <a:ext cx="3056839" cy="31089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C9A227"/>
                </a:solidFill>
                <a:latin typeface="Microsoft YaHei"/>
                <a:ea typeface="Microsoft YaHei"/>
              </a:rPr>
              <a:t>下一步行动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76488" y="5285232"/>
            <a:ext cx="3056839" cy="5486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8000"/>
              </a:lnSpc>
            </a:pPr>
            <a:r>
              <a:rPr sz="1050" b="0">
                <a:solidFill>
                  <a:srgbClr val="D8E1EC"/>
                </a:solidFill>
                <a:latin typeface="Microsoft YaHei"/>
                <a:ea typeface="Microsoft YaHei"/>
              </a:rPr>
              <a:t>①工单P4.1收尾跑绿并上传 ②错题本记1条 ③预习微课+导学单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B5E54"/>
                </a:solidFill>
                <a:latin typeface="Microsoft YaHei"/>
                <a:ea typeface="Microsoft YaHei"/>
              </a:rPr>
              <a:t>课后与预告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Python程序设计（项目实战） · V1 · W06-11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22 / 23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523687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523687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NEXT &amp; HOMEWORK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B2B28"/>
                </a:solidFill>
                <a:latin typeface="Microsoft YaHei"/>
                <a:ea typeface="Microsoft YaHei"/>
              </a:rPr>
              <a:t>下课之后，上课之前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C6E6A"/>
                </a:solidFill>
                <a:latin typeface="Microsoft YaHei"/>
                <a:ea typeface="Microsoft YaHei"/>
              </a:rPr>
              <a:t>作业当堂布置当堂记：写进工单本，别靠脑子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89888"/>
            <a:ext cx="5852160" cy="3977639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1517904"/>
            <a:ext cx="5303520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5E54"/>
                </a:solidFill>
                <a:latin typeface="Microsoft YaHei"/>
                <a:ea typeface="Microsoft YaHei"/>
              </a:rPr>
              <a:t>今日作业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1956816"/>
            <a:ext cx="292608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1956816"/>
            <a:ext cx="292608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61288" y="1938528"/>
            <a:ext cx="4937760" cy="53035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0">
                <a:solidFill>
                  <a:srgbClr val="1B2B28"/>
                </a:solidFill>
                <a:latin typeface="Microsoft YaHei"/>
                <a:ea typeface="Microsoft YaHei"/>
              </a:rPr>
              <a:t>1. 完成工单P4.1《多源工业数据采集系统》：及格标准采集率&gt;95%+无数据丢失；优秀标准≥99.5%+延迟&lt;100ms+告警完善；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2523744"/>
            <a:ext cx="292608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2523744"/>
            <a:ext cx="292608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61288" y="2505456"/>
            <a:ext cx="4937760" cy="53035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0">
                <a:solidFill>
                  <a:srgbClr val="1B2B28"/>
                </a:solidFill>
                <a:latin typeface="Microsoft YaHei"/>
                <a:ea typeface="Microsoft YaHei"/>
              </a:rPr>
              <a:t>2. 撰写系统架构文档（模块图+数据流图）；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3090672"/>
            <a:ext cx="292608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3090672"/>
            <a:ext cx="292608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61288" y="3072384"/>
            <a:ext cx="4937760" cy="53035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0">
                <a:solidFill>
                  <a:srgbClr val="1B2B28"/>
                </a:solidFill>
                <a:latin typeface="Microsoft YaHei"/>
                <a:ea typeface="Microsoft YaHei"/>
              </a:rPr>
              <a:t>3. 预习SQL基础与数据库设计方法。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" y="4526280"/>
            <a:ext cx="5349240" cy="749808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4617720"/>
            <a:ext cx="5029200" cy="56692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>
                <a:solidFill>
                  <a:srgbClr val="0B5E54"/>
                </a:solidFill>
                <a:latin typeface="Microsoft YaHei"/>
                <a:ea typeface="Microsoft YaHei"/>
              </a:rPr>
              <a:t>提交物：</a:t>
            </a:r>
            <a:r>
              <a:rPr sz="1050" b="0">
                <a:solidFill>
                  <a:srgbClr val="1B2B28"/>
                </a:solidFill>
                <a:latin typeface="Microsoft YaHei"/>
                <a:ea typeface="Microsoft YaHei"/>
              </a:rPr>
              <a:t>学号_姓名_W06.py + 运行截图（含文件名）+ 工单决策记录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56248" y="1389888"/>
            <a:ext cx="5159959" cy="3977639"/>
          </a:xfrm>
          <a:prstGeom prst="roundRect">
            <a:avLst>
              <a:gd name="adj" fmla="val 5500"/>
            </a:avLst>
          </a:prstGeom>
          <a:solidFill>
            <a:srgbClr val="063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30568" y="1536192"/>
            <a:ext cx="4611319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C9A227"/>
                </a:solidFill>
                <a:latin typeface="Microsoft YaHei"/>
                <a:ea typeface="Microsoft YaHei"/>
              </a:rPr>
              <a:t>下次课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30568" y="1956816"/>
            <a:ext cx="4611319" cy="9144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</a:rPr>
              <a:t>搭建多源数据采集中枢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30568" y="3017520"/>
            <a:ext cx="4611319" cy="31089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C9A227"/>
                </a:solidFill>
                <a:latin typeface="Microsoft YaHei"/>
                <a:ea typeface="Microsoft YaHei"/>
              </a:rPr>
              <a:t>为什么接下来学它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30568" y="3364992"/>
            <a:ext cx="4611319" cy="12344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D8E1EC"/>
                </a:solidFill>
                <a:latin typeface="Microsoft YaHei"/>
                <a:ea typeface="Microsoft YaHei"/>
              </a:rPr>
              <a:t>数据落了地却没有家。吴工：'给数据建个仓库吧——设备、测点、记录、告警四张表。'——工单P5：ER设计+ORM开发+索引优化。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30568" y="4663440"/>
            <a:ext cx="4611319" cy="60350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C9D4E4"/>
                </a:solidFill>
                <a:latin typeface="Microsoft YaHei"/>
                <a:ea typeface="Microsoft YaHei"/>
              </a:rPr>
              <a:t>预习动作：微课视频 + 导学单先行；带着一个问题上考场。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75488" y="5596128"/>
            <a:ext cx="11240719" cy="777240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49808" y="5705856"/>
            <a:ext cx="10881360" cy="56692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0B5E54"/>
                </a:solidFill>
                <a:latin typeface="Microsoft YaHei"/>
                <a:ea typeface="Microsoft YaHei"/>
              </a:rPr>
              <a:t>工具链：PyCharm CE（主编辑器） · Jupyter（实训） · Git/GitHub（每周提交） · conda环境</a:t>
            </a:r>
            <a:r>
              <a:rPr sz="1100" b="0">
                <a:solidFill>
                  <a:srgbClr val="5C6E6A"/>
                </a:solidFill>
                <a:latin typeface="Microsoft YaHei"/>
                <a:ea typeface="Microsoft YaHei"/>
              </a:rPr>
              <a:t>
报错了？先查《报错翻译对照表》，再看微课'排错三步法'。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3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041648" y="1920240"/>
            <a:ext cx="4114800" cy="82296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463040" y="2240280"/>
            <a:ext cx="9235440" cy="10058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3400" b="1">
                <a:solidFill>
                  <a:srgbClr val="FFFFFF"/>
                </a:solidFill>
                <a:latin typeface="Microsoft YaHei"/>
                <a:ea typeface="Microsoft YaHei"/>
              </a:rPr>
              <a:t>感谢垂听 · 动手出真知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0" y="3310128"/>
            <a:ext cx="9235440" cy="4572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>
                <a:solidFill>
                  <a:srgbClr val="C9D4E4"/>
                </a:solidFill>
                <a:latin typeface="Microsoft YaHei"/>
                <a:ea typeface="Microsoft YaHei"/>
              </a:rPr>
              <a:t>把今天的工单跑绿，就是给下周的自己铺路。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651760" y="4160520"/>
            <a:ext cx="6858000" cy="1417320"/>
          </a:xfrm>
          <a:prstGeom prst="roundRect">
            <a:avLst>
              <a:gd name="adj" fmla="val 55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880360" y="4279392"/>
            <a:ext cx="6400800" cy="329184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C9A227"/>
                </a:solidFill>
                <a:latin typeface="Microsoft YaHei"/>
                <a:ea typeface="Microsoft YaHei"/>
              </a:rPr>
              <a:t>课后三件事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80360" y="4626864"/>
            <a:ext cx="64008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D8E1EC"/>
                </a:solidFill>
                <a:latin typeface="Microsoft YaHei"/>
                <a:ea typeface="Microsoft YaHei"/>
              </a:rPr>
              <a:t>1. 工单P4.1跑绿并上传学习平台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80360" y="4956048"/>
            <a:ext cx="64008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D8E1EC"/>
                </a:solidFill>
                <a:latin typeface="Microsoft YaHei"/>
                <a:ea typeface="Microsoft YaHei"/>
              </a:rPr>
              <a:t>2. 错题本记1条今天踩的坑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80360" y="5285232"/>
            <a:ext cx="64008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D8E1EC"/>
                </a:solidFill>
                <a:latin typeface="Microsoft YaHei"/>
                <a:ea typeface="Microsoft YaHei"/>
              </a:rPr>
              <a:t>3. 预习微课+导学单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51760" y="5779008"/>
            <a:ext cx="6858000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C9A227"/>
                </a:solidFill>
                <a:latin typeface="Microsoft YaHei"/>
                <a:ea typeface="Microsoft YaHei"/>
              </a:rPr>
              <a:t>下次课 → 搭建多源数据采集中枢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" y="6419088"/>
            <a:ext cx="10515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8C99B5"/>
                </a:solidFill>
                <a:latin typeface="Microsoft YaHei"/>
                <a:ea typeface="Microsoft YaHei"/>
              </a:rPr>
              <a:t>Python程序设计（项目实战） · V1 · W06-11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/>
              <a:t>安全与合规警示（操作前必读）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28655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/>
              <a:t>1. 上机前确认本工位电源开关与急停位置，确认设备处于安全状态。</a:t>
            </a:r>
          </a:p>
          <a:p>
            <a:pPr>
              <a:spcAft>
                <a:spcPts val="1000"/>
              </a:spcAft>
            </a:pPr>
            <a:r>
              <a:rPr sz="1800"/>
              <a:t>2. 涉及接线的操作一律先断电、后验电、再作业，禁止带电插拔。</a:t>
            </a:r>
          </a:p>
          <a:p>
            <a:pPr>
              <a:spcAft>
                <a:spcPts val="1000"/>
              </a:spcAft>
            </a:pPr>
            <a:r>
              <a:rPr sz="1800"/>
              <a:t>3. 身体任何部位不进入设备运动/散热区域，长发束起，不佩戴悬垂饰物。</a:t>
            </a:r>
          </a:p>
          <a:p>
            <a:pPr>
              <a:spcAft>
                <a:spcPts val="1000"/>
              </a:spcAft>
            </a:pPr>
            <a:r>
              <a:rPr sz="1800"/>
              <a:t>4. 调试程序前先静态检查、再低速小样本试运行，确认无异常后放大规模。</a:t>
            </a:r>
          </a:p>
          <a:p>
            <a:pPr>
              <a:spcAft>
                <a:spcPts val="1000"/>
              </a:spcAft>
            </a:pPr>
            <a:r>
              <a:rPr sz="1800"/>
              <a:t>5. 任何不确定或异常情况，立即停止操作并报告指导教师，不擅自处置。</a:t>
            </a:r>
          </a:p>
          <a:p>
            <a:r>
              <a:rPr sz="1400" b="1"/>
              <a:t>以上任一条违反，本次任务按课程标准「安全规范一票否决」条款记 0 分并中止实训。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/>
              <a:t>本任务六步法导航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28655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/>
              <a:t>六步法：资讯 → 计划 → 决策 → 实施 → 检查 → 评估</a:t>
            </a:r>
          </a:p>
          <a:p>
            <a:pPr>
              <a:spcAft>
                <a:spcPts val="1000"/>
              </a:spcAft>
            </a:pPr>
            <a:r>
              <a:rPr sz="1800"/>
              <a:t>本讲对应工单：《Python程序设计-项目实战》分层任务工单</a:t>
            </a:r>
          </a:p>
          <a:p>
            <a:pPr>
              <a:spcAft>
                <a:spcPts val="1000"/>
              </a:spcAft>
            </a:pPr>
            <a:r>
              <a:rPr sz="1800"/>
              <a:t>课堂产出：工单第六节实施记录须当堂填写，含操作前安全打勾与学生本人签字。</a:t>
            </a:r>
          </a:p>
          <a:p>
            <a:pPr>
              <a:spcAft>
                <a:spcPts val="1000"/>
              </a:spcAft>
            </a:pPr>
            <a:r>
              <a:rPr sz="1800"/>
              <a:t>课后交付：班组长／操作员／教师三方联签后交回，缺签视为未交付。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/>
              <a:t>本讲与岗位任务单的衔接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28655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/>
              <a:t>本讲在工作过程系统化课程中承担的任务环节：任务实施</a:t>
            </a:r>
          </a:p>
          <a:p>
            <a:pPr>
              <a:spcAft>
                <a:spcPts val="1000"/>
              </a:spcAft>
            </a:pPr>
            <a:r>
              <a:rPr sz="1800"/>
              <a:t>考核对齐：过程性成绩取自本讲工单第六节各模块得分合计（满分 100）。</a:t>
            </a:r>
          </a:p>
          <a:p>
            <a:pPr>
              <a:spcAft>
                <a:spcPts val="1000"/>
              </a:spcAft>
            </a:pPr>
            <a:r>
              <a:rPr sz="1800"/>
              <a:t>达标线：综合成绩≥60 分，且无安全红线一票否决记录</a:t>
            </a:r>
          </a:p>
          <a:p>
            <a:pPr>
              <a:spcAft>
                <a:spcPts val="1000"/>
              </a:spcAft>
            </a:pPr>
            <a:r>
              <a:rPr sz="1800"/>
              <a:t>无效工单判定：未打安全勾、无本人签字、无三方联签。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让程序同时听三个PLC说话</dc:title>
  <dc:subject/>
  <dc:creator>两江智造教学组</dc:creator>
  <cp:keywords/>
  <dc:description>V1.1 · easyslides 规范重制（页面充实版）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