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80" r:id="rId31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64469"/>
            <a:ext cx="5029200" cy="3929062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480389" cy="289559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480389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Python程序设计（项目实战） · 8周·32课时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C9A227"/>
                </a:solidFill>
                <a:latin typeface="Microsoft YaHei"/>
                <a:ea typeface="Microsoft YaHei"/>
              </a:rPr>
              <a:t>W05 · 第9次课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产线驾驶舱：5个KPI一屏掌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1001361" cy="27749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100136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P3.1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78601" y="3931920"/>
            <a:ext cx="1682539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78601" y="3931920"/>
            <a:ext cx="168253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产线KPI实时仪表盘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287748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28774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本节（上）：基础实现 · 概念打底 + D/C层保底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课程定位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COURSE 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这门课站在哪：定位与出路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四年后你手里的证书与岗位，都从这门课出发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课程性质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自包含工程应用课：C语言底子直接上工业项目（P1-P7任务链）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0147" y="1371600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0147" y="1371600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66179" y="1517904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面向岗位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6179" y="1938528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数据工程师 / 数据分析 / AI应用 / 采集技术员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5488" y="3456432"/>
            <a:ext cx="64008" cy="1920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对接证书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Python开发 · 数据应用与服务（1+X）· AI应用实践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0147" y="3456432"/>
            <a:ext cx="5506059" cy="19202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0147" y="3456432"/>
            <a:ext cx="64008" cy="1920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6179" y="3602736"/>
            <a:ext cx="504885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B5E54"/>
                </a:solidFill>
                <a:latin typeface="Microsoft YaHei"/>
                <a:ea typeface="Microsoft YaHei"/>
              </a:rPr>
              <a:t>课程衔接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6179" y="4023360"/>
            <a:ext cx="4993995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B2B28"/>
                </a:solidFill>
                <a:latin typeface="Microsoft YaHei"/>
                <a:ea typeface="Microsoft YaHei"/>
              </a:rPr>
              <a:t>前置仅需C语言 → 本课8周 → 后：毕业设计/平台实习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5468112"/>
            <a:ext cx="1124071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4944" y="5559552"/>
            <a:ext cx="54864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本课程路线图（当前周高亮）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94944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W1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C→Py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04516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04516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W2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工程规范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9539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9539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W3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Pand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45621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45621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W4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NumP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095847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095847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W5</a:t>
            </a:r>
            <a:r>
              <a:rPr sz="800" b="0">
                <a:solidFill>
                  <a:srgbClr val="F0E6D8"/>
                </a:solidFill>
                <a:latin typeface="Microsoft YaHei"/>
                <a:ea typeface="Microsoft YaHei"/>
              </a:rPr>
              <a:t>
交互式仪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446073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6073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W6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多线程采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796299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96299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W7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数据库设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0146525" y="5888736"/>
            <a:ext cx="1313649" cy="365760"/>
          </a:xfrm>
          <a:prstGeom prst="roundRect">
            <a:avLst>
              <a:gd name="adj" fmla="val 18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146525" y="5888736"/>
            <a:ext cx="131364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95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W8</a:t>
            </a:r>
            <a:r>
              <a:rPr sz="800" b="0">
                <a:solidFill>
                  <a:srgbClr val="D8E1EC"/>
                </a:solidFill>
                <a:latin typeface="Microsoft YaHei"/>
                <a:ea typeface="Microsoft YaHei"/>
              </a:rPr>
              <a:t>
Scik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剧情情境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738541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738541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SCENARIO · 两江智造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车间今天发生了什么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连续剧情 · 你（小郑）的第9次出场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598485"/>
            <a:ext cx="4261104" cy="334098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W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25917"/>
            <a:ext cx="4206240" cy="3286125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4910328" y="1417320"/>
            <a:ext cx="6805879" cy="2423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10328" y="1417320"/>
            <a:ext cx="6805879" cy="914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84648" y="1691640"/>
            <a:ext cx="6257239" cy="19202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450" b="0">
                <a:solidFill>
                  <a:srgbClr val="1B2B28"/>
                </a:solidFill>
                <a:latin typeface="Microsoft YaHei"/>
                <a:ea typeface="Microsoft YaHei"/>
              </a:rPr>
              <a:t>交付两个数据产品：产线驾驶舱(5KPI+筛选)与每日四段式图文日报(HTML+PDF, &lt;2分钟)。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10328" y="4005072"/>
            <a:ext cx="6805879" cy="16002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38928" y="4160520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38928" y="4160520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本课工单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4133088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P3.1 · 产线KPI实时仪表盘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138928" y="4636008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38928" y="4636008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4608576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跑通starter最小仪表盘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38928" y="5111496"/>
            <a:ext cx="960120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138928" y="5111496"/>
            <a:ext cx="96012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交付要点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5084064"/>
            <a:ext cx="520567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1B2B28"/>
                </a:solidFill>
                <a:latin typeface="Microsoft YaHei"/>
                <a:ea typeface="Microsoft YaHei"/>
              </a:rPr>
              <a:t>5个KPI: 趋势/良率/状态灯/告警/对标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303520"/>
            <a:ext cx="1280160" cy="2743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5C6E6A"/>
                </a:solidFill>
                <a:latin typeface="Microsoft YaHei"/>
                <a:ea typeface="Microsoft YaHei"/>
              </a:rPr>
              <a:t>出场人物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5266944"/>
            <a:ext cx="71475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08776" y="5266944"/>
            <a:ext cx="71475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方总监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033260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33260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吴工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23124" y="5266944"/>
            <a:ext cx="58013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23124" y="5266944"/>
            <a:ext cx="58013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小郑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知识目标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掌握Matplotlib/Plotly的常用图表绘制；理解Dash仪表盘组件结构；掌握Jinja2模板与PDF报表生成流程。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能够搭建含5个KPI的交互式仪表盘；能够自动生成图文并茂的HTML+PDF日报；报告生成&lt;2分钟（优秀&lt;1分钟）。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素质目标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建立“数据产品”意识——可视化是给决策者用的产品，培养用户视角与美学素养。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B5E54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156309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156309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1.跑通starter…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13834" y="4535424"/>
            <a:ext cx="132593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13834" y="4535424"/>
            <a:ext cx="132593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2.5个KPI: 趋势…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77860" y="4535424"/>
            <a:ext cx="1562862" cy="241300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77860" y="4535424"/>
            <a:ext cx="1562862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3.侧栏筛选(日期+设…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Streamlit脚本式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('Streamlit脚本式交互：从上到下执行一遍=渲染一次，控件…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cache缓存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('@st.cache_data把函数结果缓存：同参数再调用直接取…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st.metric指标卡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('st.metric指标卡=数字+涨跌箭头：大字号当前值、小三角…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06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B01 Streamlit脚本式交互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Streamlit=整页重放的幻灯片：每次点交互从头跑一遍脚本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原理：Streamlit脚本式交互：从上到下执行一遍=渲染一次，控件改值→整脚本重跑——没有回调没有路由，写脚本即写应用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零前端基础出交互页面——数据分析师的浏览器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怎么判断：数据科学 demo/内部仪表盘从想法到上线一小时——不用学前端框架（React/Vue）的捷径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st.title('产线KPI'); st.sidebar.selectbox('设备', devs)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逐行看：st.title('产线驾驶舱') 标题；st.slider('阈值',0,100,80) 滑块；st.line_chart(df) 图——纯Python顺序写，保存即热更新浏览器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误区：用Web框架思维写全局状态——重跑虽笨但可预测，cache治重算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进阶：st.session_state跨重跑存状态；st.cache_data缓存下一节；fragment局部刷新（进阶性能优化）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Streamlit脚本式交互：一张图看懂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624889"/>
            <a:ext cx="7278624" cy="323331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da7ad227cba8af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52321"/>
            <a:ext cx="7223760" cy="317845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四个名字四个值：换值即换型（动态类型）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贴标签顺序任意，但先用必先贴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追问：误区：用Web框架思维写全局状态——重跑虽笨但可预测，cache治重算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一句话：Streamlit=整页重放的幻灯片：每次点交互从头跑一遍脚本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何时用：零前端基础出交互页面——数据分析师的浏览器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B02 cache缓存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@st.cache_data=给函数盖'已算'章：参数不变直接取上次结果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原理：@st.cache_data把函数结果缓存：同参数再调用直接取缓存跳过计算——10秒的查询第二次秒开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读库/重计算函数加缓存——交互秒开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怎么判断：读CSV/算KPI这类'输入不变结果不变'的函数统统加缓存——仪表盘流畅的秘密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@st.cache_data def load(): return pd.read_sql(…)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逐行看：@st.cache_data def load(): return pd.read_csv('big.csv') 首跑算10s；改滑块触发重跑时load()直接命中缓存——重渲染不重算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误区：数据更新了还拿旧缓存——记得clear或设TTL过期时间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进阶：ttl=300五分钟过期保数据新鲜；clear()手动失效；cache_resource缓存模型对象（不序列化的大件）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09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cache缓存：一张图看懂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a657cb099891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追问：误区：数据更新了还拿旧缓存——记得clear或设TTL过期时间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一句话：@st.cache_data=给函数盖'已算'章：参数不变直接取上次结果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何时用：读库/重计算函数加缓存——交互秒开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B03 st.metric指标卡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st.metric=大字报KPI卡：数字+涨跌箭头一眼看板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原理：st.metric指标卡=数字+涨跌箭头：大字号当前值、小三角环比变化——管理层一眼读数的原子组件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KPI仪表盘的第一视觉元素——OEE/停机/产量三卡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怎么判断：驾驶舱五个KPI（OEE/合格率/停机/能耗/报警）横排metric——比表格直观一个量级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Consolas"/>
                <a:ea typeface="Microsoft YaHei"/>
              </a:rPr>
              <a:t>c1.metric('OEE','87%',delta='+2%')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Consolas"/>
                <a:ea typeface="Microsoft YaHei"/>
              </a:rPr>
              <a:t>逐行看：st.metric('合格率','98.2%','+0.4%') 值+delta；delta_color='inverse'跌为绿（报警类指标反向）；columns(5)五卡横排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误区：delta正负好坏想当然——停机数上升是坏事，delta_color要对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进阶：metric动态取数（df实时算）；st.column_config.ProgressColumn表格内进度条——进阶组件库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st.metric指标卡：一张图看懂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044375" y="1362456"/>
            <a:ext cx="6085985" cy="37581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540180267ed10d7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807" y="1389888"/>
            <a:ext cx="6031121" cy="37033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绿区 ≥85% 达标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仪表盘=把表跑成图给管理层看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追问：误区：delta正负好坏想当然——停机数上升是坏事，delta_color要对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一句话：st.metric=大字报KPI卡：数字+涨跌箭头一眼看板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何时用：KPI仪表盘的第一视觉元素——OEE/停机/产量三卡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c1, c2, c3, c4 = st.columns(4)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from jinja2 import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搭建5+KPI仪表盘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搭建5+KPI仪表盘——应用：见工单starter与教师参考实现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时间/设备联动筛选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时间/设备联动筛选——应用：见工单starter与教师参考实现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HTML+PDF双格式…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HTML+PDF双格式日报——应用：见工单starter与教师参考…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KPI指标卡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c1, c2, c3, c4 = st.columns(4)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c1.metric("总产量", f"{int(df.output.sum()):,}")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c2.metric("平均良率", f"{df['yield'].mean():.1%}")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c3.metric("设备在线", f"{df.device_id.nunique()}/4")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14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模板渲染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0C1B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from jinja2 import Template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html = Template(open("report.tpl").read()).render(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6E6E1"/>
                </a:solidFill>
                <a:latin typeface="Consolas"/>
                <a:ea typeface="Microsoft YaHei"/>
              </a:rPr>
              <a:t>    total=total, yield_=y, anomalies=alerts)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15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交互后变慢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没缓存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@st.cache_data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Jinja2空白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变量名不匹配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对照模板逐个核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f-string遇yield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保留字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df['yield']取列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本章聚焦：可视化与报表——重点： · Plotly/Dash组件与回调机… · 难点：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C9A227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17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工单 P3.1 · 产线KPI实时仪表盘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跑通starter最小仪表盘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5个KPI: 趋势/良率/状态灯/告警/对标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侧栏筛选(日期+设备)+cache_data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B5E54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0B5E5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5KPI可用+时间筛选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C9A227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>联动流畅+Plotly交互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工单实战 · 完成效果图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18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84596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84596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TARGET · 完成后长这样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P3 仪表盘运行态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工单交付的'标准照'——做到与图中一致即达标（数字可因随机种子略有差异）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22136"/>
            <a:ext cx="7918704" cy="242734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ot_w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849568"/>
            <a:ext cx="7863840" cy="2372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67928" y="1463040"/>
            <a:ext cx="314827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四个自检点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67928" y="192024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714232" y="201168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14232" y="201168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200253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streamlit本地启动无报错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67928" y="262890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714232" y="27203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14232" y="27203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271119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5个KPI卡显示数字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567928" y="333756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714232" y="342900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14232" y="342900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41985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图表可交互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567928" y="4046220"/>
            <a:ext cx="3148279" cy="6355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714232" y="413766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714232" y="413766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98280" y="4128516"/>
            <a:ext cx="2416759" cy="50749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浏览器8500端口可访问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230368"/>
            <a:ext cx="786384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6656" y="5330952"/>
            <a:ext cx="749807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1B2B28"/>
                </a:solidFill>
                <a:latin typeface="Microsoft YaHei"/>
                <a:ea typeface="Microsoft YaHei"/>
              </a:rPr>
              <a:t>怎么看：终端退出码0+关键数字在及格线以上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截图提交：运行窗口含文件名与输出，截全屏交工单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19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钻取+定时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571881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57188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达标：7指标+加载&lt;2s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点击钻取明细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schedule定时生成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移动端适配检查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仪表盘+日报双交付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57443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57443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达标：5KPI+四段PDF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Streamlit五KPI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筛选联动+缓存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Jinja2+PDF日报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9A227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二选一交付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达标：仪表盘或日报达基线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跑通starter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完成5KPI版仪表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或HTML日报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B5E54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1B2B28"/>
                </a:solidFill>
                <a:latin typeface="Microsoft YaHei"/>
                <a:ea typeface="Microsoft YaHei"/>
              </a:rPr>
              <a:t>starter跑通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206119" cy="229235"/>
          </a:xfrm>
          <a:prstGeom prst="roundRect">
            <a:avLst>
              <a:gd name="adj" fmla="val 500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206119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1B2B28"/>
                </a:solidFill>
                <a:latin typeface="Microsoft YaHei"/>
                <a:ea typeface="Microsoft YaHei"/>
              </a:rPr>
              <a:t>达标：页面能开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streamlit run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改一个KPI数值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C6E6A"/>
                </a:solidFill>
                <a:latin typeface="Microsoft YaHei"/>
                <a:ea typeface="Microsoft YaHei"/>
              </a:rPr>
              <a:t>· 截图到工单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20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决策：可视化框架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框架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539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上手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0557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交互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15755" y="1508760"/>
            <a:ext cx="262729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部署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Streamlit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1368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2386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4043" y="1947672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3F8F6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Dash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1368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2386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34043" y="3063240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3504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B2B28"/>
                </a:solidFill>
                <a:latin typeface="Microsoft YaHei"/>
                <a:ea typeface="Microsoft YaHei"/>
              </a:rPr>
              <a:t>纯HTML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1368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2386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B2B28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34043" y="4178808"/>
            <a:ext cx="2590723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C9A227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0B5E54"/>
                </a:solidFill>
                <a:latin typeface="Microsoft YaHei"/>
                <a:ea typeface="Microsoft YaHei"/>
              </a:rPr>
              <a:t>决策纪律：决策结论写入工单，答辩必答；实施失误回溯决策复盘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21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1B2B28"/>
                </a:solidFill>
                <a:latin typeface="Microsoft YaHei"/>
                <a:ea typeface="Microsoft YaHei"/>
              </a:rPr>
              <a:t>Streamlit每次交互后脚本如何重跑？缓存用哪个装饰器？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B5E54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B2B28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C6E6A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5KPI可用+时间筛选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联动流畅+Plotly交互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22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b8cfad69ae1e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Streamlit脚本式交互：Streamlit=整页重放的幻灯片：每次点交…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cache缓存：@st.cache_data=给函数盖'已算'…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1B2B28"/>
                </a:solidFill>
                <a:latin typeface="Microsoft YaHei"/>
                <a:ea typeface="Microsoft YaHei"/>
              </a:rPr>
              <a:t>st.metric指标卡：st.metric=大字报KPI卡：数字+涨跌…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①工单P3.1收尾跑绿并上传 ②错题本记1条 ③预习微课+导学单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0B5E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C6E6A"/>
                </a:solidFill>
                <a:latin typeface="Microsoft YaHei"/>
                <a:ea typeface="Microsoft YaHei"/>
              </a:rPr>
              <a:t>23 / 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B2B28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C6E6A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1. 完成工单P3.1《产线KPI实时仪表盘》：及格标准5个KPI+时间筛选可用；优秀标准≥7指标+钻取交互+加载&lt;2秒；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2523744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2523744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61288" y="2505456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2. 完成工单P3.2《每日生产分析报告系统》：及格标准四部分完整+PDF正确；优秀标准异常自动识别+&lt;1分钟+美观度≥4/5；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090672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090672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1288" y="3072384"/>
            <a:ext cx="493776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1B2B28"/>
                </a:solidFill>
                <a:latin typeface="Microsoft YaHei"/>
                <a:ea typeface="Microsoft YaHei"/>
              </a:rPr>
              <a:t>3. 预习TCP/IP与MQTT协议基础。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0B5E54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1B2B28"/>
                </a:solidFill>
                <a:latin typeface="Microsoft YaHei"/>
                <a:ea typeface="Microsoft YaHei"/>
              </a:rPr>
              <a:t>学号_姓名_W05.py + 运行截图（含文件名）+ 工单决策记录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每天早上8点的生产日报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中台试运行暴露瓶颈：三个厂区数据源并发接入互相踩踏，还常有连接闪断。吴工画出三线程架构图：'骨架给你，可靠性你来。'——工单P4.1：多源采集系统（2号PLC会随机掉线，正好实测）。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4F1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0B5E54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C6E6A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3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C9A227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工单P3.1跑绿并上传学习平台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9A227"/>
                </a:solidFill>
                <a:latin typeface="Microsoft YaHei"/>
                <a:ea typeface="Microsoft YaHei"/>
              </a:rPr>
              <a:t>下次课 → 每天早上8点的生产日报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Python程序设计（项目实战） · V1 · W05-09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安全与合规警示（操作前必读）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1. 上机前确认本工位电源开关与急停位置，确认设备处于安全状态。</a:t>
            </a:r>
          </a:p>
          <a:p>
            <a:pPr>
              <a:spcAft>
                <a:spcPts val="1000"/>
              </a:spcAft>
            </a:pPr>
            <a:r>
              <a:rPr sz="1800"/>
              <a:t>2. 涉及接线的操作一律先断电、后验电、再作业，禁止带电插拔。</a:t>
            </a:r>
          </a:p>
          <a:p>
            <a:pPr>
              <a:spcAft>
                <a:spcPts val="1000"/>
              </a:spcAft>
            </a:pPr>
            <a:r>
              <a:rPr sz="1800"/>
              <a:t>3. 身体任何部位不进入设备运动/散热区域，长发束起，不佩戴悬垂饰物。</a:t>
            </a:r>
          </a:p>
          <a:p>
            <a:pPr>
              <a:spcAft>
                <a:spcPts val="1000"/>
              </a:spcAft>
            </a:pPr>
            <a:r>
              <a:rPr sz="1800"/>
              <a:t>4. 调试程序前先静态检查、再低速小样本试运行，确认无异常后放大规模。</a:t>
            </a:r>
          </a:p>
          <a:p>
            <a:pPr>
              <a:spcAft>
                <a:spcPts val="1000"/>
              </a:spcAft>
            </a:pPr>
            <a:r>
              <a:rPr sz="1800"/>
              <a:t>5. 任何不确定或异常情况，立即停止操作并报告指导教师，不擅自处置。</a:t>
            </a:r>
          </a:p>
          <a:p>
            <a:r>
              <a:rPr sz="1400" b="1"/>
              <a:t>以上任一条违反，本次任务按课程标准「安全规范一票否决」条款记 0 分并中止实训。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本任务六步法导航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六步法：资讯 → 计划 → 决策 → 实施 → 检查 → 评估</a:t>
            </a:r>
          </a:p>
          <a:p>
            <a:pPr>
              <a:spcAft>
                <a:spcPts val="1000"/>
              </a:spcAft>
            </a:pPr>
            <a:r>
              <a:rPr sz="1800"/>
              <a:t>本讲对应工单：《Python程序设计-项目实战》分层任务工单</a:t>
            </a:r>
          </a:p>
          <a:p>
            <a:pPr>
              <a:spcAft>
                <a:spcPts val="1000"/>
              </a:spcAft>
            </a:pPr>
            <a:r>
              <a:rPr sz="1800"/>
              <a:t>课堂产出：工单第六节实施记录须当堂填写，含操作前安全打勾与学生本人签字。</a:t>
            </a:r>
          </a:p>
          <a:p>
            <a:pPr>
              <a:spcAft>
                <a:spcPts val="1000"/>
              </a:spcAft>
            </a:pPr>
            <a:r>
              <a:rPr sz="1800"/>
              <a:t>课后交付：班组长／操作员／教师三方联签后交回，缺签视为未交付。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/>
              <a:t>本讲与岗位任务单的衔接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28655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/>
              <a:t>本讲在工作过程系统化课程中承担的任务环节：任务实施</a:t>
            </a:r>
          </a:p>
          <a:p>
            <a:pPr>
              <a:spcAft>
                <a:spcPts val="1000"/>
              </a:spcAft>
            </a:pPr>
            <a:r>
              <a:rPr sz="1800"/>
              <a:t>考核对齐：过程性成绩取自本讲工单第六节各模块得分合计（满分 100）。</a:t>
            </a:r>
          </a:p>
          <a:p>
            <a:pPr>
              <a:spcAft>
                <a:spcPts val="1000"/>
              </a:spcAft>
            </a:pPr>
            <a:r>
              <a:rPr sz="1800"/>
              <a:t>达标线：综合成绩≥60 分，且无安全红线一票否决记录</a:t>
            </a:r>
          </a:p>
          <a:p>
            <a:pPr>
              <a:spcAft>
                <a:spcPts val="1000"/>
              </a:spcAft>
            </a:pPr>
            <a:r>
              <a:rPr sz="1800"/>
              <a:t>无效工单判定：未打安全勾、无本人签字、无三方联签。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产线驾驶舱：5个KPI一屏掌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